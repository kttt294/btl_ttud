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cf38ca1227470d" /><Relationship Type="http://schemas.openxmlformats.org/officeDocument/2006/relationships/extended-properties" Target="/docProps/app.xml" Id="Rb2ff8ee446be4dce" /><Relationship Type="http://schemas.openxmlformats.org/officeDocument/2006/relationships/officeDocument" Target="/ppt/presentation.xml" Id="R36c3e4d023f54087" /></Relationships>
</file>

<file path=ppt/presentation.xml><?xml version="1.0" encoding="utf-8"?>
<p:presentation xmlns:p="http://schemas.openxmlformats.org/presentationml/2006/main">
  <p:sldMasterIdLst>
    <p:sldMasterId xmlns:r="http://schemas.openxmlformats.org/officeDocument/2006/relationships" id="2147483648" r:id="Rec59fd141f514fea"/>
  </p:sldMasterIdLst>
  <p:notesMasterIdLst>
    <p:notesMasterId xmlns:r="http://schemas.openxmlformats.org/officeDocument/2006/relationships" r:id="Rfb454f5a6d3b49cf"/>
  </p:notesMasterIdLst>
  <p:sldIdLst>
    <p:sldId xmlns:r="http://schemas.openxmlformats.org/officeDocument/2006/relationships" id="256" r:id="R3ad419c8925e4853"/>
    <p:sldId xmlns:r="http://schemas.openxmlformats.org/officeDocument/2006/relationships" id="257" r:id="R18544db885674a29"/>
    <p:sldId xmlns:r="http://schemas.openxmlformats.org/officeDocument/2006/relationships" id="258" r:id="R97c6a81e900b457a"/>
    <p:sldId xmlns:r="http://schemas.openxmlformats.org/officeDocument/2006/relationships" id="259" r:id="R875cc18bf85b4e9a"/>
    <p:sldId xmlns:r="http://schemas.openxmlformats.org/officeDocument/2006/relationships" id="260" r:id="Ra0008c5a440d44a9"/>
    <p:sldId xmlns:r="http://schemas.openxmlformats.org/officeDocument/2006/relationships" id="261" r:id="R10081741927b4f5c"/>
    <p:sldId xmlns:r="http://schemas.openxmlformats.org/officeDocument/2006/relationships" id="262" r:id="R2e08c2f4753f4b02"/>
    <p:sldId xmlns:r="http://schemas.openxmlformats.org/officeDocument/2006/relationships" id="263" r:id="R725e905b18004947"/>
    <p:sldId xmlns:r="http://schemas.openxmlformats.org/officeDocument/2006/relationships" id="264" r:id="Rca0bdf4ffb784a89"/>
    <p:sldId xmlns:r="http://schemas.openxmlformats.org/officeDocument/2006/relationships" id="265" r:id="R76ab51640c394443"/>
    <p:sldId xmlns:r="http://schemas.openxmlformats.org/officeDocument/2006/relationships" id="266" r:id="R2769fabe17354690"/>
    <p:sldId xmlns:r="http://schemas.openxmlformats.org/officeDocument/2006/relationships" id="267" r:id="R827d1a5631dc4ead"/>
    <p:sldId xmlns:r="http://schemas.openxmlformats.org/officeDocument/2006/relationships" id="268" r:id="Rffda676b0ac04109"/>
    <p:sldId xmlns:r="http://schemas.openxmlformats.org/officeDocument/2006/relationships" id="269" r:id="Rd3ebd559928f427a"/>
    <p:sldId xmlns:r="http://schemas.openxmlformats.org/officeDocument/2006/relationships" id="270" r:id="R5de5fabc725b4aad"/>
    <p:sldId xmlns:r="http://schemas.openxmlformats.org/officeDocument/2006/relationships" id="271" r:id="Rfdaa285fea0040dc"/>
    <p:sldId xmlns:r="http://schemas.openxmlformats.org/officeDocument/2006/relationships" id="272" r:id="Rc97bdcce6d5c438d"/>
    <p:sldId xmlns:r="http://schemas.openxmlformats.org/officeDocument/2006/relationships" id="273" r:id="Rbe98ee42709e46c9"/>
    <p:sldId xmlns:r="http://schemas.openxmlformats.org/officeDocument/2006/relationships" id="274" r:id="Rfc6721e32f474899"/>
    <p:sldId xmlns:r="http://schemas.openxmlformats.org/officeDocument/2006/relationships" id="275" r:id="R4655438a6f5e4b21"/>
    <p:sldId xmlns:r="http://schemas.openxmlformats.org/officeDocument/2006/relationships" id="276" r:id="R73953526c34c427e"/>
    <p:sldId xmlns:r="http://schemas.openxmlformats.org/officeDocument/2006/relationships" id="277" r:id="R1e72d65b90fa49b0"/>
    <p:sldId xmlns:r="http://schemas.openxmlformats.org/officeDocument/2006/relationships" id="278" r:id="Radf8756e17a541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406bf53f9b482f" /><Relationship Type="http://schemas.openxmlformats.org/officeDocument/2006/relationships/slideMaster" Target="/ppt/slideMasters/slideMaster1.xml" Id="Rec59fd141f514fea" /><Relationship Type="http://schemas.openxmlformats.org/officeDocument/2006/relationships/notesMaster" Target="/ppt/notesMasters/notesMaster1.xml" Id="Rfb454f5a6d3b49cf" /><Relationship Type="http://schemas.openxmlformats.org/officeDocument/2006/relationships/presProps" Target="/ppt/presProps.xml" Id="R3bb5e8da638f480f" /><Relationship Type="http://schemas.openxmlformats.org/officeDocument/2006/relationships/tableStyles" Target="/ppt/tableStyles.xml" Id="Re8a08b2a219440c3" /><Relationship Type="http://schemas.openxmlformats.org/officeDocument/2006/relationships/slide" Target="/ppt/slides/slide1.xml" Id="R3ad419c8925e4853" /><Relationship Type="http://schemas.openxmlformats.org/officeDocument/2006/relationships/slide" Target="/ppt/slides/slide2.xml" Id="R18544db885674a29" /><Relationship Type="http://schemas.openxmlformats.org/officeDocument/2006/relationships/slide" Target="/ppt/slides/slide3.xml" Id="R97c6a81e900b457a" /><Relationship Type="http://schemas.openxmlformats.org/officeDocument/2006/relationships/slide" Target="/ppt/slides/slide4.xml" Id="R875cc18bf85b4e9a" /><Relationship Type="http://schemas.openxmlformats.org/officeDocument/2006/relationships/slide" Target="/ppt/slides/slide5.xml" Id="Ra0008c5a440d44a9" /><Relationship Type="http://schemas.openxmlformats.org/officeDocument/2006/relationships/slide" Target="/ppt/slides/slide6.xml" Id="R10081741927b4f5c" /><Relationship Type="http://schemas.openxmlformats.org/officeDocument/2006/relationships/slide" Target="/ppt/slides/slide7.xml" Id="R2e08c2f4753f4b02" /><Relationship Type="http://schemas.openxmlformats.org/officeDocument/2006/relationships/slide" Target="/ppt/slides/slide8.xml" Id="R725e905b18004947" /><Relationship Type="http://schemas.openxmlformats.org/officeDocument/2006/relationships/slide" Target="/ppt/slides/slide9.xml" Id="Rca0bdf4ffb784a89" /><Relationship Type="http://schemas.openxmlformats.org/officeDocument/2006/relationships/slide" Target="/ppt/slides/slide10.xml" Id="R76ab51640c394443" /><Relationship Type="http://schemas.openxmlformats.org/officeDocument/2006/relationships/slide" Target="/ppt/slides/slide11.xml" Id="R2769fabe17354690" /><Relationship Type="http://schemas.openxmlformats.org/officeDocument/2006/relationships/slide" Target="/ppt/slides/slide12.xml" Id="R827d1a5631dc4ead" /><Relationship Type="http://schemas.openxmlformats.org/officeDocument/2006/relationships/slide" Target="/ppt/slides/slide13.xml" Id="Rffda676b0ac04109" /><Relationship Type="http://schemas.openxmlformats.org/officeDocument/2006/relationships/slide" Target="/ppt/slides/slide14.xml" Id="Rd3ebd559928f427a" /><Relationship Type="http://schemas.openxmlformats.org/officeDocument/2006/relationships/slide" Target="/ppt/slides/slide15.xml" Id="R5de5fabc725b4aad" /><Relationship Type="http://schemas.openxmlformats.org/officeDocument/2006/relationships/slide" Target="/ppt/slides/slide16.xml" Id="Rfdaa285fea0040dc" /><Relationship Type="http://schemas.openxmlformats.org/officeDocument/2006/relationships/slide" Target="/ppt/slides/slide17.xml" Id="Rc97bdcce6d5c438d" /><Relationship Type="http://schemas.openxmlformats.org/officeDocument/2006/relationships/slide" Target="/ppt/slides/slide18.xml" Id="Rbe98ee42709e46c9" /><Relationship Type="http://schemas.openxmlformats.org/officeDocument/2006/relationships/slide" Target="/ppt/slides/slide19.xml" Id="Rfc6721e32f474899" /><Relationship Type="http://schemas.openxmlformats.org/officeDocument/2006/relationships/slide" Target="/ppt/slides/slide20.xml" Id="R4655438a6f5e4b21" /><Relationship Type="http://schemas.openxmlformats.org/officeDocument/2006/relationships/slide" Target="/ppt/slides/slide21.xml" Id="R73953526c34c427e" /><Relationship Type="http://schemas.openxmlformats.org/officeDocument/2006/relationships/slide" Target="/ppt/slides/slide22.xml" Id="R1e72d65b90fa49b0" /><Relationship Type="http://schemas.openxmlformats.org/officeDocument/2006/relationships/slide" Target="/ppt/slides/slide23.xml" Id="Radf8756e17a541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0d7b36904448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ff1cdfde794993" /><Relationship Type="http://schemas.openxmlformats.org/officeDocument/2006/relationships/notesMaster" Target="/ppt/notesMasters/notesMaster1.xml" Id="Rb4a40411b9f143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f911850c7e4d0e" /><Relationship Type="http://schemas.openxmlformats.org/officeDocument/2006/relationships/notesMaster" Target="/ppt/notesMasters/notesMaster1.xml" Id="R01776c9e0cd149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a581c3d7bd4243" /><Relationship Type="http://schemas.openxmlformats.org/officeDocument/2006/relationships/notesMaster" Target="/ppt/notesMasters/notesMaster1.xml" Id="Rf43dfcd14a7f4f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ae0e30da194f0e" /><Relationship Type="http://schemas.openxmlformats.org/officeDocument/2006/relationships/notesMaster" Target="/ppt/notesMasters/notesMaster1.xml" Id="R0bf50206680a42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f5ca01543d435a" /><Relationship Type="http://schemas.openxmlformats.org/officeDocument/2006/relationships/notesMaster" Target="/ppt/notesMasters/notesMaster1.xml" Id="Rc260dccb56af47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6d290fd6674f0d" /><Relationship Type="http://schemas.openxmlformats.org/officeDocument/2006/relationships/notesMaster" Target="/ppt/notesMasters/notesMaster1.xml" Id="R5b1c9810f69d48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b7d85eb88c4b46" /><Relationship Type="http://schemas.openxmlformats.org/officeDocument/2006/relationships/notesMaster" Target="/ppt/notesMasters/notesMaster1.xml" Id="R38a0ae2a50c647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a7b6c76e904996" /><Relationship Type="http://schemas.openxmlformats.org/officeDocument/2006/relationships/notesMaster" Target="/ppt/notesMasters/notesMaster1.xml" Id="R8ff3bad304494b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32c36176204369" /><Relationship Type="http://schemas.openxmlformats.org/officeDocument/2006/relationships/notesMaster" Target="/ppt/notesMasters/notesMaster1.xml" Id="Rebad0486e6de40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0b44b11b9f4cad" /><Relationship Type="http://schemas.openxmlformats.org/officeDocument/2006/relationships/notesMaster" Target="/ppt/notesMasters/notesMaster1.xml" Id="R83f785b619e148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7203d42e5b4f4a" /><Relationship Type="http://schemas.openxmlformats.org/officeDocument/2006/relationships/notesMaster" Target="/ppt/notesMasters/notesMaster1.xml" Id="R18bd68a832fc42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76ff1e77a47ad" /><Relationship Type="http://schemas.openxmlformats.org/officeDocument/2006/relationships/notesMaster" Target="/ppt/notesMasters/notesMaster1.xml" Id="R30f72bb2a7aa47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4d6c3cf8084c9e" /><Relationship Type="http://schemas.openxmlformats.org/officeDocument/2006/relationships/notesMaster" Target="/ppt/notesMasters/notesMaster1.xml" Id="R25b928bb815340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8bdedd387945ce" /><Relationship Type="http://schemas.openxmlformats.org/officeDocument/2006/relationships/notesMaster" Target="/ppt/notesMasters/notesMaster1.xml" Id="R409629fc95fb44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6b87241b3040db" /><Relationship Type="http://schemas.openxmlformats.org/officeDocument/2006/relationships/notesMaster" Target="/ppt/notesMasters/notesMaster1.xml" Id="R19d75d1c113348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492ad27e7b4a2c" /><Relationship Type="http://schemas.openxmlformats.org/officeDocument/2006/relationships/notesMaster" Target="/ppt/notesMasters/notesMaster1.xml" Id="R0b56a806fa504e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d393d3ba6f4723" /><Relationship Type="http://schemas.openxmlformats.org/officeDocument/2006/relationships/notesMaster" Target="/ppt/notesMasters/notesMaster1.xml" Id="R522bfc64ece246d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e9b06b85f84c85" /><Relationship Type="http://schemas.openxmlformats.org/officeDocument/2006/relationships/notesMaster" Target="/ppt/notesMasters/notesMaster1.xml" Id="R9956d91031104b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2176d8c2064378" /><Relationship Type="http://schemas.openxmlformats.org/officeDocument/2006/relationships/notesMaster" Target="/ppt/notesMasters/notesMaster1.xml" Id="R8f1c38d7d918496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965dc59963f42a0" /><Relationship Type="http://schemas.openxmlformats.org/officeDocument/2006/relationships/notesMaster" Target="/ppt/notesMasters/notesMaster1.xml" Id="Rf2e2b112636443b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9fbd3405254560" /><Relationship Type="http://schemas.openxmlformats.org/officeDocument/2006/relationships/notesMaster" Target="/ppt/notesMasters/notesMaster1.xml" Id="Rd6b28702b010465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beb1ea29874f9e" /><Relationship Type="http://schemas.openxmlformats.org/officeDocument/2006/relationships/notesMaster" Target="/ppt/notesMasters/notesMaster1.xml" Id="R41d0083f160f438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33701a20304f4c" /><Relationship Type="http://schemas.openxmlformats.org/officeDocument/2006/relationships/notesMaster" Target="/ppt/notesMasters/notesMaster1.xml" Id="Rf6d24762e8ac41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bài/2026_Procon_Problem VI.pdf; bao_cao_hexudon.docx, mục 1–2.</a:t>
            </a:r>
          </a:p>
          <a:p xmlns:a="http://schemas.openxmlformats.org/drawingml/2006/main">
            <a:r>
              <a:t>Phương pháp tour dùng thuật toán truyền thống. Bộ slide tập trung giới thiệu bài toán, cơ chế và bằng chứng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bài/2026_Procon_Problem VI.pdf; bao_cao_hexudon.docx, mục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bài/2026_Procon_Problem VI.pdf; bao_cao_hexudon.docx, mục 1–2.</a:t>
            </a:r>
          </a:p>
          <a:p xmlns:a="http://schemas.openxmlformats.org/drawingml/2006/main">
            <a:r>
              <a:t>Theo thứ tự ưu tiên của đề: U; D; Q; tổng thời gian phản hồi lũy kế của câu trả lời hợp lệ cuối mỗi ngày; tung xúc xắc hoặc hòa.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bài/2026_Procon_Problem VI.pdf; bao_cao_hexudon.docx, mục 1–2.</a:t>
            </a:r>
          </a:p>
          <a:p xmlns:a="http://schemas.openxmlformats.org/drawingml/2006/main">
            <a:r>
              <a:t>src/hexudon/model.py; src/hexudon/simulator.py; src/hexudon/team_selection.py.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src/hexudon/model.py; src/hexudon/simulator.py; src/hexudon/team_selection.py.</a:t>
            </a:r>
          </a:p>
          <a:p xmlns:a="http://schemas.openxmlformats.org/drawingml/2006/main">
            <a:r>
              <a:t>src/hexudon/live.py; src/hexudon/planner.py.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Bộ tạo chặng một nhãn/ô tối ưu tổng trọng số. Bộ lập tuyến kiểm tra step, nhiên liệu, tiếp tế khi ghép chặng. Khác find_path đa nhãn trong 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experiments/data/path_reuse/manifest.json, results.json, summary.json, audit.json. 30 input, hai trạng thái đường xác định trước, ba trọng số, ba tác vụ, ba lần đo, 1.080 lượt. Không đo điểm toàn trận. Script: experiments/benchmark/path_reuse.py.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experiments/data/results/pathfinding.csv; bao_cao_hexudon.docx, mục 3 và 6.1.1. 90 truy vấn, 78 truy vấn chung thành công.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car_insertions xét các điểm bán chưa ghé, ước lượng chi phí rồi kiểm tra tối đa ba vị trí chèn hứa hẹn cho mỗi điểm trên tuyến một xe. insert_greedy ưu tiên lợi ích loại trước, rồi suất và chi phí tăng.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Hình 5 trong bao_cao_hexudon.docx; experiments/data/tour_study/illustration.json. Ví dụ minh họa 8×8, 3 xe tuần tra, xe thứ ba chờ. Hai kế hoạch cùng thu 4 loại và 4 suất. Chi phí 22 và 12 là tổng step di chuyển, không phải thời gian kết thúc đồng thời của cả đội.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improve: ngẫu nhiên đổi kiểu đường, bỏ 1–4 điểm hoặc một đoạn tuyến, chèn lại có nhiễu. Chỉ nhận phương án không kém theo điểm đánh giá nội bộ. Không phải mô phỏng máy chủ ở mọi phép thử.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DayProblem.reserve, refuel_hub, run; hub_candidates. Ví dụ số liệu minh họa, không phải replay của một bài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allowances với alpha=1 mặc định: floor(fuel × step_today/sum(step_remaining)). Ngày cuối được dùng lượng còn lại. Đây là hạn mức heuristic, không phải luật đề.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coverage_from dựng thử ngày sau với giao thông hiện tại. Đây là ước lượng, không phải tối ưu chính xác. find_anchors chỉ kích hoạt khi dự báo thiếu loại, có hạn thời gian. Đối chứng ô neo chưa cho lợi ích ổn định trên mọi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src/hexudon/model.py; src/hexudon/simulator.py; src/hexudon/team_selection.py.</a:t>
            </a:r>
          </a:p>
          <a:p xmlns:a="http://schemas.openxmlformats.org/drawingml/2006/main">
            <a:r>
              <a:t>select_types_parallel thử tập ứng viên có giới hạn, ưu tiên đánh giá lượt mô phỏng đủ ngày, có bước xử lý lượt dở trong hạn giờ. Không đổi vị trí xuất phát và không chứng minh tối ưu vai trò.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src/hexudon/live.py; src/hexudon/planner.py.</a:t>
            </a:r>
          </a:p>
          <a:p xmlns:a="http://schemas.openxmlformats.org/drawingml/2006/main">
            <a:r>
              <a:t>src/hexudon/model.py; src/hexudon/simulator.py; src/hexudon/team_selection.py.</a:t>
            </a:r>
          </a:p>
          <a:p xmlns:a="http://schemas.openxmlformats.org/drawingml/2006/main">
            <a:r>
              <a:t>Ví dụ minh họa 8 step, 3 xe, mỗi lần di chuyển rời đồng bằng. Tính hợp lệ còn phụ thuộc ô đích, nhiên liệu và tiếp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experiments/data/tour_api_evidence/summary.json. Tám lượt tour đã lưu, ngân sách 5 giây/ngày, 80 kế hoạch ngày được chấp nhận; 12.155 frame và 188.902 giá trị kiểm tra. Đây là bằng chứng lịch sử riêng, không gán thời gian/đội hình/replay này cho điểm tài khoản ngày 23/10.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experiments/data/shared_leaderboard/2026-10-23/snapshot.json và summary.json. GET /manager/api/match/11; GET /manager/api/question?limit=100; GET /api/game/practice/score và /api/game/practice/peer với game_id={question_id}:{team_id}. Chỉ dùng token đội 62. Đọc 21:53:57–22:01:32 UTC+7 ngày 23/10/2026. Chỉ so lượt đủ 10 ngày, submitted=true mỗi ngày, tổng D/Q khớp điểm. Không cộng các bài thành thứ hạng chung. Q05 không nằm trong danh sách 9 bài đã đọc. Q01 và Q02 trùng cấu hình, là hai lượt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experiments/data/shared_leaderboard/2026-10-23/snapshot.json và summary.json. GET /manager/api/match/11; GET /manager/api/question?limit=100; GET /api/game/practice/score và /api/game/practice/peer với game_id={question_id}:{team_id}. Chỉ dùng token đội 62. Đọc 21:53:57–22:01:32 UTC+7 ngày 23/10/2026. Chỉ so lượt đủ 10 ngày, submitted=true mỗi ngày, tổng D/Q khớp điểm. Không cộng các bài thành thứ hạng chung. Q05 không nằm trong danh sách 9 bài đã đọc. Q01 và Q02 trùng cấu hình, là hai lượt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experiments/data/shared_leaderboard/2026-10-23/snapshot.json và summary.json. GET /manager/api/match/11; GET /manager/api/question?limit=100; GET /api/game/practice/score và /api/game/practice/peer với game_id={question_id}:{team_id}. Chỉ dùng token đội 62. Đọc 21:53:57–22:01:32 UTC+7 ngày 23/10/2026. Chỉ so lượt đủ 10 ngày, submitted=true mỗi ngày, tổng D/Q khớp điểm. Không cộng các bài thành thứ hạng chung. Q05 không nằm trong danh sách 9 bài đã đọc. Q01 và Q02 trùng cấu hình, là hai lượt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experiments/data/tour_robustness/manifest.json, results.json, summary.json, audit.json. 30 bản đồ, cùng đội hình và ngân sách yêu cầu 1 giây/ngày, ba lượt/input. Greedy là planner đối chứng cũ, khác Greedy Best-First tìm đường.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src/hexudon/tour.py: Legs, DayProblem, car_insertions, insert_greedy, improve, find_anchors, plan_tour. Mã nguồn main tại thời điểm tạo slide.</a:t>
            </a:r>
          </a:p>
          <a:p xmlns:a="http://schemas.openxmlformats.org/drawingml/2006/main">
            <a:r>
              <a:t>experiments/data/shared_leaderboard/2026-10-23/snapshot.json và summary.json. GET /manager/api/match/11; GET /manager/api/question?limit=100; GET /api/game/practice/score và /api/game/practice/peer với game_id={question_id}:{team_id}. Chỉ dùng token đội 62. Đọc 21:53:57–22:01:32 UTC+7 ngày 23/10/2026. Chỉ so lượt đủ 10 ngày, submitted=true mỗi ngày, tổng D/Q khớp điểm. Không cộng các bài thành thứ hạng chung. Q05 không nằm trong danh sách 9 bài đã đọc. Q01 và Q02 trùng cấu hình, là hai lượt riêng.</a:t>
            </a:r>
          </a:p>
          <a:p xmlns:a="http://schemas.openxmlformats.org/drawingml/2006/main">
            <a:r>
              <a:t>experiments/data/path_reuse/manifest.json, results.json, summary.json, audit.json. 30 input, hai trạng thái đường xác định trước, ba trọng số, ba tác vụ, ba lần đo, 1.080 lượt. Không đo điểm toàn trận. Script: experiments/benchmark/path_reuse.py.</a:t>
            </a:r>
          </a:p>
          <a:p xmlns:a="http://schemas.openxmlformats.org/drawingml/2006/main">
            <a:r>
              <a:t>experiments/data/tour_robustness/manifest.json, results.json, summary.json, audit.json. 30 bản đồ, cùng đội hình và ngân sách yêu cầu 1 giây/ngày, ba lượt/input. Greedy là planner đối chứng cũ, khác Greedy Best-First tìm đường.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bài/2026_Procon_Problem VI.pdf; bao_cao_hexudon.docx, mục 1–2.</a:t>
            </a:r>
          </a:p>
          <a:p xmlns:a="http://schemas.openxmlformats.org/drawingml/2006/main">
            <a:r>
              <a:t/>
            </a:r>
          </a:p>
          <a:p xmlns:a="http://schemas.openxmlformats.org/drawingml/2006/main">
            <a:r>
              <a:t>src/hexudon/tour.py: Legs, DayProblem, car_insertions, insert_greedy, improve, find_anchors, plan_tour. Mã nguồn main tại thời điểm tạo slide.</a:t>
            </a:r>
          </a:p>
          <a:p xmlns:a="http://schemas.openxmlformats.org/drawingml/2006/main">
            <a:r>
              <a:t/>
            </a:r>
          </a:p>
          <a:p xmlns:a="http://schemas.openxmlformats.org/drawingml/2006/main">
            <a:r>
              <a:t>experiments/data/shared_leaderboard/2026-10-23/snapshot.json và summary.json. GET /manager/api/match/11; GET /manager/api/question?limit=100; GET /api/game/practice/score và /api/game/practice/peer với game_id={question_id}:{team_id}. Chỉ dùng token đội 62. Đọc 21:53:57–22:01:32 UTC+7 ngày 23/10/2026. Chỉ so lượt đủ 10 ngày, submitted=true mỗi ngày, tổng D/Q khớp điểm. Không cộng các bài thành thứ hạng chung. Q05 không nằm trong danh sách 9 bài đã đọc. Q01 và Q02 trùng cấu hình, là hai lượt riêng.</a:t>
            </a:r>
          </a:p>
          <a:p xmlns:a="http://schemas.openxmlformats.org/drawingml/2006/main">
            <a:r>
              <a:t/>
            </a:r>
          </a:p>
          <a:p xmlns:a="http://schemas.openxmlformats.org/drawingml/2006/main">
            <a:r>
              <a:t>experiments/data/path_reuse/manifest.json, results.json, summary.json, audit.json. 30 input, hai trạng thái đường xác định trước, ba trọng số, ba tác vụ, ba lần đo, 1.080 lượt. Không đo điểm toàn trận. Script: experiments/benchmark/path_reuse.py.</a:t>
            </a:r>
          </a:p>
          <a:p xmlns:a="http://schemas.openxmlformats.org/drawingml/2006/main">
            <a:r>
              <a:t/>
            </a:r>
          </a:p>
          <a:p xmlns:a="http://schemas.openxmlformats.org/drawingml/2006/main">
            <a:r>
              <a:t>experiments/data/tour_robustness/manifest.json, results.json, summary.json, audit.json. 30 bản đồ, cùng đội hình và ngân sách yêu cầu 1 giây/ngày, ba lượt/input. Greedy là planner đối chứng cũ, khác Greedy Best-First tìm đường.</a:t>
            </a:r>
          </a:p>
          <a:p xmlns:a="http://schemas.openxmlformats.org/drawingml/2006/main">
            <a:r>
              <a:t/>
            </a:r>
          </a:p>
          <a:p xmlns:a="http://schemas.openxmlformats.org/drawingml/2006/main">
            <a:r>
              <a:t>experiments/data/tour_api_evidence/summary.json. Tám lượt tour đã lưu, ngân sách 5 giây/ngày, 80 kế hoạch ngày được chấp nhận; 12.155 frame và 188.902 giá trị kiểm tra. Đây là bằng chứng lịch sử riêng, không gán thời gian/đội hình/replay này cho điểm tài khoản ngày 23/10.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0adf73e38e4f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4b8641909e49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0d1391fcf443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6fbba1a70247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731e48395c46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2184e46fff4c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F1674C-C1E8-4D81-B543-F8A346006D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A34964-7166-4F19-9916-5DCCBBF6D0A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147195-1DEA-425F-BADE-6942C0E61A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099846-5CAC-45FF-8B13-FC63326605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C132013-B2D4-46A2-A7D6-53A83812D1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DA4839C-45E8-48CA-97FD-E96C88D424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4F1201-E24B-4606-932F-C82E1E9619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27D066-525F-46EF-8719-D1A52231EE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8A8E33-F336-4329-9822-38D63B1D58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8614A6-5AE7-4F1C-B6F2-3D43A73DA7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0851e22bf841c4" /><Relationship Type="http://schemas.openxmlformats.org/officeDocument/2006/relationships/slideLayout" Target="/ppt/slideLayouts/slideLayout1.xml" Id="Rcd94ed4f048f4d1b" /><Relationship Type="http://schemas.openxmlformats.org/officeDocument/2006/relationships/slideLayout" Target="/ppt/slideLayouts/slideLayout2.xml" Id="R8c2cb22475984a02" /><Relationship Type="http://schemas.openxmlformats.org/officeDocument/2006/relationships/slideLayout" Target="/ppt/slideLayouts/slideLayout3.xml" Id="Rbfb2f45b209f4dbb" /><Relationship Type="http://schemas.openxmlformats.org/officeDocument/2006/relationships/slideLayout" Target="/ppt/slideLayouts/slideLayout4.xml" Id="Rd0ec059872d948ee" /><Relationship Type="http://schemas.openxmlformats.org/officeDocument/2006/relationships/slideLayout" Target="/ppt/slideLayouts/slideLayout5.xml" Id="R0673dcf3bfd84cb4" /><Relationship Type="http://schemas.openxmlformats.org/officeDocument/2006/relationships/slideLayout" Target="/ppt/slideLayouts/slideLayout6.xml" Id="Re68c9512a1fb44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94ed4f048f4d1b"/>
    <p:sldLayoutId xmlns:r="http://schemas.openxmlformats.org/officeDocument/2006/relationships" id="2147483650" r:id="R8c2cb22475984a02"/>
    <p:sldLayoutId xmlns:r="http://schemas.openxmlformats.org/officeDocument/2006/relationships" id="2147483651" r:id="Rbfb2f45b209f4dbb"/>
    <p:sldLayoutId xmlns:r="http://schemas.openxmlformats.org/officeDocument/2006/relationships" id="2147483652" r:id="Rd0ec059872d948ee"/>
    <p:sldLayoutId xmlns:r="http://schemas.openxmlformats.org/officeDocument/2006/relationships" id="2147483653" r:id="R0673dcf3bfd84cb4"/>
    <p:sldLayoutId xmlns:r="http://schemas.openxmlformats.org/officeDocument/2006/relationships" id="2147483654" r:id="Re68c9512a1fb44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d05d78663448f9" /><Relationship Type="http://schemas.openxmlformats.org/officeDocument/2006/relationships/notesSlide" Target="/ppt/notesSlides/notesSlide1.xml" Id="R0af38124bf8347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6fc999accf4276" /><Relationship Type="http://schemas.openxmlformats.org/officeDocument/2006/relationships/image" Target="/ppt/media/image.png" Id="R674fb972b2d243be" /><Relationship Type="http://schemas.openxmlformats.org/officeDocument/2006/relationships/notesSlide" Target="/ppt/notesSlides/notesSlide2.xml" Id="Rcfa37227c562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d81bcab2604dd4" /><Relationship Type="http://schemas.openxmlformats.org/officeDocument/2006/relationships/notesSlide" Target="/ppt/notesSlides/notesSlide3.xml" Id="R4dcc9562e17343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a9ea469fe2450c" /><Relationship Type="http://schemas.openxmlformats.org/officeDocument/2006/relationships/notesSlide" Target="/ppt/notesSlides/notesSlide4.xml" Id="Re39fc1b7687e4b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99c78b242148d2" /><Relationship Type="http://schemas.openxmlformats.org/officeDocument/2006/relationships/notesSlide" Target="/ppt/notesSlides/notesSlide5.xml" Id="Ra2764ceaa69246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6a90ed35ec4394" /><Relationship Type="http://schemas.openxmlformats.org/officeDocument/2006/relationships/notesSlide" Target="/ppt/notesSlides/notesSlide6.xml" Id="R22f1fe45b6694b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77384ce6a547af" /><Relationship Type="http://schemas.openxmlformats.org/officeDocument/2006/relationships/notesSlide" Target="/ppt/notesSlides/notesSlide7.xml" Id="Rcf544ca973b64b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35fe7830c14a66" /><Relationship Type="http://schemas.openxmlformats.org/officeDocument/2006/relationships/notesSlide" Target="/ppt/notesSlides/notesSlide8.xml" Id="Rdfd0caa07d6643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c20ac8093646c1" /><Relationship Type="http://schemas.openxmlformats.org/officeDocument/2006/relationships/notesSlide" Target="/ppt/notesSlides/notesSlide9.xml" Id="R3e4b63c9cc344e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bca412814b4083" /><Relationship Type="http://schemas.openxmlformats.org/officeDocument/2006/relationships/image" Target="/ppt/media/image2.png" Id="Recf694acc00e43f9" /><Relationship Type="http://schemas.openxmlformats.org/officeDocument/2006/relationships/notesSlide" Target="/ppt/notesSlides/notesSlide10.xml" Id="Rd8c4d7e3624649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680771aba5744b1" /><Relationship Type="http://schemas.openxmlformats.org/officeDocument/2006/relationships/notesSlide" Target="/ppt/notesSlides/notesSlide11.xml" Id="R6e9f07aeea6b47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e5b681adcde40fd" /><Relationship Type="http://schemas.openxmlformats.org/officeDocument/2006/relationships/notesSlide" Target="/ppt/notesSlides/notesSlide12.xml" Id="R4b8cff9cedff4e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14a9d69e7bc42e7" /><Relationship Type="http://schemas.openxmlformats.org/officeDocument/2006/relationships/notesSlide" Target="/ppt/notesSlides/notesSlide13.xml" Id="R94076677c6b84d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15e969359ed45f3" /><Relationship Type="http://schemas.openxmlformats.org/officeDocument/2006/relationships/notesSlide" Target="/ppt/notesSlides/notesSlide14.xml" Id="Rceefba6c57da45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d0dfc2ac6024adc" /><Relationship Type="http://schemas.openxmlformats.org/officeDocument/2006/relationships/notesSlide" Target="/ppt/notesSlides/notesSlide15.xml" Id="R074c378b6dd04e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3fd006919da434c" /><Relationship Type="http://schemas.openxmlformats.org/officeDocument/2006/relationships/notesSlide" Target="/ppt/notesSlides/notesSlide16.xml" Id="R8701061364104e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e82256000b94b2a" /><Relationship Type="http://schemas.openxmlformats.org/officeDocument/2006/relationships/notesSlide" Target="/ppt/notesSlides/notesSlide17.xml" Id="Rf48329cdd68044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2510262722041b7" /><Relationship Type="http://schemas.openxmlformats.org/officeDocument/2006/relationships/notesSlide" Target="/ppt/notesSlides/notesSlide18.xml" Id="Rcb3e659e34f345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164a7a6c11f4b44" /><Relationship Type="http://schemas.openxmlformats.org/officeDocument/2006/relationships/notesSlide" Target="/ppt/notesSlides/notesSlide19.xml" Id="R2723dfa91d534d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3aa5f4245144704" /><Relationship Type="http://schemas.openxmlformats.org/officeDocument/2006/relationships/notesSlide" Target="/ppt/notesSlides/notesSlide20.xml" Id="Re71223b4d666429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770fb9630504195" /><Relationship Type="http://schemas.openxmlformats.org/officeDocument/2006/relationships/notesSlide" Target="/ppt/notesSlides/notesSlide21.xml" Id="Rf1bd83cffd5f496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4b54f6a8a3a4dba" /><Relationship Type="http://schemas.openxmlformats.org/officeDocument/2006/relationships/notesSlide" Target="/ppt/notesSlides/notesSlide22.xml" Id="R7d7197304e8142d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deb7953c8d9475f" /><Relationship Type="http://schemas.openxmlformats.org/officeDocument/2006/relationships/notesSlide" Target="/ppt/notesSlides/notesSlide23.xml" Id="Ref4d20879c80498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4417C15D-8826-479B-8FBA-DCE9E7A6E218}"/>
              </a:ext>
            </a:extLst>
          </p:cNvPr>
          <p:cNvSpPr>
            <a:spLocks xmlns:a="http://schemas.openxmlformats.org/drawingml/2006/main" noGrp="1"/>
          </p:cNvSpPr>
          <p:nvPr/>
        </p:nvSpPr>
        <p:spPr>
          <a:xfrm xmlns:a="http://schemas.openxmlformats.org/drawingml/2006/main">
            <a:off x="609600" y="685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4EA6"/>
                </a:solidFill>
                <a:latin typeface="Arial"/>
                <a:ea typeface="Arial"/>
                <a:cs typeface="Arial"/>
              </a:defRPr>
            </a:defPPr>
            <a:lvl1pPr algn="l">
              <a:defRPr sz="1800" b="1">
                <a:solidFill>
                  <a:srgbClr val="174EA6"/>
                </a:solidFill>
                <a:latin typeface="Arial"/>
                <a:ea typeface="Arial"/>
                <a:cs typeface="Arial"/>
              </a:defRPr>
            </a:lvl1pPr>
            <a:lvl2pPr algn="l">
              <a:defRPr sz="1800" b="1">
                <a:solidFill>
                  <a:srgbClr val="174EA6"/>
                </a:solidFill>
                <a:latin typeface="Arial"/>
                <a:ea typeface="Arial"/>
                <a:cs typeface="Arial"/>
              </a:defRPr>
            </a:lvl2pPr>
            <a:lvl3pPr algn="l">
              <a:defRPr sz="1800" b="1">
                <a:solidFill>
                  <a:srgbClr val="174EA6"/>
                </a:solidFill>
                <a:latin typeface="Arial"/>
                <a:ea typeface="Arial"/>
                <a:cs typeface="Arial"/>
              </a:defRPr>
            </a:lvl3pPr>
            <a:lvl4pPr algn="l">
              <a:defRPr sz="1800" b="1">
                <a:solidFill>
                  <a:srgbClr val="174EA6"/>
                </a:solidFill>
                <a:latin typeface="Arial"/>
                <a:ea typeface="Arial"/>
                <a:cs typeface="Arial"/>
              </a:defRPr>
            </a:lvl4pPr>
            <a:lvl5pPr algn="l">
              <a:defRPr sz="1800" b="1">
                <a:solidFill>
                  <a:srgbClr val="174EA6"/>
                </a:solidFill>
                <a:latin typeface="Arial"/>
                <a:ea typeface="Arial"/>
                <a:cs typeface="Arial"/>
              </a:defRPr>
            </a:lvl5pPr>
            <a:lvl6pPr algn="l">
              <a:defRPr sz="1800" b="1">
                <a:solidFill>
                  <a:srgbClr val="174EA6"/>
                </a:solidFill>
                <a:latin typeface="Arial"/>
                <a:ea typeface="Arial"/>
                <a:cs typeface="Arial"/>
              </a:defRPr>
            </a:lvl6pPr>
            <a:lvl7pPr algn="l">
              <a:defRPr sz="1800" b="1">
                <a:solidFill>
                  <a:srgbClr val="174EA6"/>
                </a:solidFill>
                <a:latin typeface="Arial"/>
                <a:ea typeface="Arial"/>
                <a:cs typeface="Arial"/>
              </a:defRPr>
            </a:lvl7pPr>
            <a:lvl8pPr algn="l">
              <a:defRPr sz="1800" b="1">
                <a:solidFill>
                  <a:srgbClr val="174EA6"/>
                </a:solidFill>
                <a:latin typeface="Arial"/>
                <a:ea typeface="Arial"/>
                <a:cs typeface="Arial"/>
              </a:defRPr>
            </a:lvl8pPr>
            <a:lvl9pPr algn="l">
              <a:defRPr sz="1800" b="1">
                <a:solidFill>
                  <a:srgbClr val="174EA6"/>
                </a:solidFill>
                <a:latin typeface="Arial"/>
                <a:ea typeface="Arial"/>
                <a:cs typeface="Arial"/>
              </a:defRPr>
            </a:lvl9pPr>
          </a:lstStyle>
          <a:p xmlns:a="http://schemas.openxmlformats.org/drawingml/2006/main">
            <a:pPr algn="l">
              <a:defRPr sz="1800" b="1">
                <a:solidFill>
                  <a:srgbClr val="174EA6"/>
                </a:solidFill>
                <a:latin typeface="Arial"/>
                <a:ea typeface="Arial"/>
                <a:cs typeface="Arial"/>
              </a:defRPr>
            </a:pPr>
            <a:r>
              <a:rPr sz="1800" b="1">
                <a:solidFill>
                  <a:srgbClr val="174EA6"/>
                </a:solidFill>
                <a:latin typeface="Arial"/>
                <a:ea typeface="Arial"/>
                <a:cs typeface="Arial"/>
              </a:rPr>
              <a:t>THUẬT TOÁN ỨNG DỤNG</a:t>
            </a:r>
          </a:p>
        </p:txBody>
      </p:sp>
      <p:sp>
        <p:nvSpPr>
          <p:cNvPr id="3" name="text-2">
            <a:extLst xmlns:a="http://schemas.openxmlformats.org/drawingml/2006/main">
              <a:ext uri="{FF2B5EF4-FFF2-40B4-BE49-F238E27FC236}">
                <a16:creationId xmlns:a16="http://schemas.microsoft.com/office/drawing/2014/main" id="{9F43A722-D719-4625-B0A0-6F4BF27276B1}"/>
              </a:ext>
            </a:extLst>
          </p:cNvPr>
          <p:cNvSpPr>
            <a:spLocks xmlns:a="http://schemas.openxmlformats.org/drawingml/2006/main" noGrp="1"/>
          </p:cNvSpPr>
          <p:nvPr/>
        </p:nvSpPr>
        <p:spPr>
          <a:xfrm xmlns:a="http://schemas.openxmlformats.org/drawingml/2006/main">
            <a:off x="609600" y="1714500"/>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17212B"/>
                </a:solidFill>
                <a:latin typeface="Arial"/>
                <a:ea typeface="Arial"/>
                <a:cs typeface="Arial"/>
              </a:defRPr>
            </a:defPPr>
            <a:lvl1pPr algn="l">
              <a:defRPr sz="4725" b="1">
                <a:solidFill>
                  <a:srgbClr val="17212B"/>
                </a:solidFill>
                <a:latin typeface="Arial"/>
                <a:ea typeface="Arial"/>
                <a:cs typeface="Arial"/>
              </a:defRPr>
            </a:lvl1pPr>
            <a:lvl2pPr algn="l">
              <a:defRPr sz="4725" b="1">
                <a:solidFill>
                  <a:srgbClr val="17212B"/>
                </a:solidFill>
                <a:latin typeface="Arial"/>
                <a:ea typeface="Arial"/>
                <a:cs typeface="Arial"/>
              </a:defRPr>
            </a:lvl2pPr>
            <a:lvl3pPr algn="l">
              <a:defRPr sz="4725" b="1">
                <a:solidFill>
                  <a:srgbClr val="17212B"/>
                </a:solidFill>
                <a:latin typeface="Arial"/>
                <a:ea typeface="Arial"/>
                <a:cs typeface="Arial"/>
              </a:defRPr>
            </a:lvl3pPr>
            <a:lvl4pPr algn="l">
              <a:defRPr sz="4725" b="1">
                <a:solidFill>
                  <a:srgbClr val="17212B"/>
                </a:solidFill>
                <a:latin typeface="Arial"/>
                <a:ea typeface="Arial"/>
                <a:cs typeface="Arial"/>
              </a:defRPr>
            </a:lvl4pPr>
            <a:lvl5pPr algn="l">
              <a:defRPr sz="4725" b="1">
                <a:solidFill>
                  <a:srgbClr val="17212B"/>
                </a:solidFill>
                <a:latin typeface="Arial"/>
                <a:ea typeface="Arial"/>
                <a:cs typeface="Arial"/>
              </a:defRPr>
            </a:lvl5pPr>
            <a:lvl6pPr algn="l">
              <a:defRPr sz="4725" b="1">
                <a:solidFill>
                  <a:srgbClr val="17212B"/>
                </a:solidFill>
                <a:latin typeface="Arial"/>
                <a:ea typeface="Arial"/>
                <a:cs typeface="Arial"/>
              </a:defRPr>
            </a:lvl6pPr>
            <a:lvl7pPr algn="l">
              <a:defRPr sz="4725" b="1">
                <a:solidFill>
                  <a:srgbClr val="17212B"/>
                </a:solidFill>
                <a:latin typeface="Arial"/>
                <a:ea typeface="Arial"/>
                <a:cs typeface="Arial"/>
              </a:defRPr>
            </a:lvl7pPr>
            <a:lvl8pPr algn="l">
              <a:defRPr sz="4725" b="1">
                <a:solidFill>
                  <a:srgbClr val="17212B"/>
                </a:solidFill>
                <a:latin typeface="Arial"/>
                <a:ea typeface="Arial"/>
                <a:cs typeface="Arial"/>
              </a:defRPr>
            </a:lvl8pPr>
            <a:lvl9pPr algn="l">
              <a:defRPr sz="4725" b="1">
                <a:solidFill>
                  <a:srgbClr val="17212B"/>
                </a:solidFill>
                <a:latin typeface="Arial"/>
                <a:ea typeface="Arial"/>
                <a:cs typeface="Arial"/>
              </a:defRPr>
            </a:lvl9pPr>
          </a:lstStyle>
          <a:p xmlns:a="http://schemas.openxmlformats.org/drawingml/2006/main">
            <a:pPr algn="l">
              <a:defRPr sz="4725" b="1">
                <a:solidFill>
                  <a:srgbClr val="17212B"/>
                </a:solidFill>
                <a:latin typeface="Arial"/>
                <a:ea typeface="Arial"/>
                <a:cs typeface="Arial"/>
              </a:defRPr>
            </a:pPr>
            <a:r>
              <a:rPr sz="4725" b="1">
                <a:solidFill>
                  <a:srgbClr val="17212B"/>
                </a:solidFill>
                <a:latin typeface="Arial"/>
                <a:ea typeface="Arial"/>
                <a:cs typeface="Arial"/>
              </a:rPr>
              <a:t>Lập tuyến cho đội xe</a:t>
            </a:r>
          </a:p>
          <a:p xmlns:a="http://schemas.openxmlformats.org/drawingml/2006/main">
            <a:pPr algn="l">
              <a:defRPr sz="4725" b="1">
                <a:solidFill>
                  <a:srgbClr val="17212B"/>
                </a:solidFill>
                <a:latin typeface="Arial"/>
                <a:ea typeface="Arial"/>
                <a:cs typeface="Arial"/>
              </a:defRPr>
            </a:pPr>
            <a:r>
              <a:rPr sz="4725" b="1">
                <a:solidFill>
                  <a:srgbClr val="17212B"/>
                </a:solidFill>
                <a:latin typeface="Arial"/>
                <a:ea typeface="Arial"/>
                <a:cs typeface="Arial"/>
              </a:rPr>
              <a:t>trong bài toán HEXUDON</a:t>
            </a:r>
          </a:p>
        </p:txBody>
      </p:sp>
      <p:sp>
        <p:nvSpPr>
          <p:cNvPr id="4" name="text-3">
            <a:extLst xmlns:a="http://schemas.openxmlformats.org/drawingml/2006/main">
              <a:ext uri="{FF2B5EF4-FFF2-40B4-BE49-F238E27FC236}">
                <a16:creationId xmlns:a16="http://schemas.microsoft.com/office/drawing/2014/main" id="{0A5BA7DA-6277-49F5-B94D-E430109CA7E3}"/>
              </a:ext>
            </a:extLst>
          </p:cNvPr>
          <p:cNvSpPr>
            <a:spLocks xmlns:a="http://schemas.openxmlformats.org/drawingml/2006/main" noGrp="1"/>
          </p:cNvSpPr>
          <p:nvPr/>
        </p:nvSpPr>
        <p:spPr>
          <a:xfrm xmlns:a="http://schemas.openxmlformats.org/drawingml/2006/main">
            <a:off x="609600" y="3857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Đề bài Procon Việt Nam 2026</a:t>
            </a:r>
          </a:p>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Dijkstra, chèn tham lam và tìm kiếm cục bộ</a:t>
            </a:r>
          </a:p>
        </p:txBody>
      </p:sp>
      <p:sp>
        <p:nvSpPr>
          <p:cNvPr id="5" name="text-4">
            <a:extLst xmlns:a="http://schemas.openxmlformats.org/drawingml/2006/main">
              <a:ext uri="{FF2B5EF4-FFF2-40B4-BE49-F238E27FC236}">
                <a16:creationId xmlns:a16="http://schemas.microsoft.com/office/drawing/2014/main" id="{8AFC2DA5-28CC-4DB7-ABB1-8717797D245D}"/>
              </a:ext>
            </a:extLst>
          </p:cNvPr>
          <p:cNvSpPr>
            <a:spLocks xmlns:a="http://schemas.openxmlformats.org/drawingml/2006/main" noGrp="1"/>
          </p:cNvSpPr>
          <p:nvPr/>
        </p:nvSpPr>
        <p:spPr>
          <a:xfrm xmlns:a="http://schemas.openxmlformats.org/drawingml/2006/main">
            <a:off x="609600" y="5572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573"/>
                </a:solidFill>
                <a:latin typeface="Arial"/>
                <a:ea typeface="Arial"/>
                <a:cs typeface="Arial"/>
              </a:defRPr>
            </a:defPPr>
            <a:lvl1pPr algn="l">
              <a:defRPr sz="1725" b="0">
                <a:solidFill>
                  <a:srgbClr val="586573"/>
                </a:solidFill>
                <a:latin typeface="Arial"/>
                <a:ea typeface="Arial"/>
                <a:cs typeface="Arial"/>
              </a:defRPr>
            </a:lvl1pPr>
            <a:lvl2pPr algn="l">
              <a:defRPr sz="1725" b="0">
                <a:solidFill>
                  <a:srgbClr val="586573"/>
                </a:solidFill>
                <a:latin typeface="Arial"/>
                <a:ea typeface="Arial"/>
                <a:cs typeface="Arial"/>
              </a:defRPr>
            </a:lvl2pPr>
            <a:lvl3pPr algn="l">
              <a:defRPr sz="1725" b="0">
                <a:solidFill>
                  <a:srgbClr val="586573"/>
                </a:solidFill>
                <a:latin typeface="Arial"/>
                <a:ea typeface="Arial"/>
                <a:cs typeface="Arial"/>
              </a:defRPr>
            </a:lvl3pPr>
            <a:lvl4pPr algn="l">
              <a:defRPr sz="1725" b="0">
                <a:solidFill>
                  <a:srgbClr val="586573"/>
                </a:solidFill>
                <a:latin typeface="Arial"/>
                <a:ea typeface="Arial"/>
                <a:cs typeface="Arial"/>
              </a:defRPr>
            </a:lvl4pPr>
            <a:lvl5pPr algn="l">
              <a:defRPr sz="1725" b="0">
                <a:solidFill>
                  <a:srgbClr val="586573"/>
                </a:solidFill>
                <a:latin typeface="Arial"/>
                <a:ea typeface="Arial"/>
                <a:cs typeface="Arial"/>
              </a:defRPr>
            </a:lvl5pPr>
            <a:lvl6pPr algn="l">
              <a:defRPr sz="1725" b="0">
                <a:solidFill>
                  <a:srgbClr val="586573"/>
                </a:solidFill>
                <a:latin typeface="Arial"/>
                <a:ea typeface="Arial"/>
                <a:cs typeface="Arial"/>
              </a:defRPr>
            </a:lvl6pPr>
            <a:lvl7pPr algn="l">
              <a:defRPr sz="1725" b="0">
                <a:solidFill>
                  <a:srgbClr val="586573"/>
                </a:solidFill>
                <a:latin typeface="Arial"/>
                <a:ea typeface="Arial"/>
                <a:cs typeface="Arial"/>
              </a:defRPr>
            </a:lvl7pPr>
            <a:lvl8pPr algn="l">
              <a:defRPr sz="1725" b="0">
                <a:solidFill>
                  <a:srgbClr val="586573"/>
                </a:solidFill>
                <a:latin typeface="Arial"/>
                <a:ea typeface="Arial"/>
                <a:cs typeface="Arial"/>
              </a:defRPr>
            </a:lvl8pPr>
            <a:lvl9pPr algn="l">
              <a:defRPr sz="1725" b="0">
                <a:solidFill>
                  <a:srgbClr val="586573"/>
                </a:solidFill>
                <a:latin typeface="Arial"/>
                <a:ea typeface="Arial"/>
                <a:cs typeface="Arial"/>
              </a:defRPr>
            </a:lvl9pPr>
          </a:lstStyle>
          <a:p xmlns:a="http://schemas.openxmlformats.org/drawingml/2006/main">
            <a:pPr algn="l">
              <a:defRPr sz="1725" b="0">
                <a:solidFill>
                  <a:srgbClr val="586573"/>
                </a:solidFill>
                <a:latin typeface="Arial"/>
                <a:ea typeface="Arial"/>
                <a:cs typeface="Arial"/>
              </a:defRPr>
            </a:pPr>
            <a:r>
              <a:rPr sz="1725" b="0">
                <a:solidFill>
                  <a:srgbClr val="586573"/>
                </a:solidFill>
                <a:latin typeface="Arial"/>
                <a:ea typeface="Arial"/>
                <a:cs typeface="Arial"/>
              </a:rPr>
              <a:t>Kiều Thị Thu Trang · Trần Minh Sang</a:t>
            </a:r>
          </a:p>
          <a:p xmlns:a="http://schemas.openxmlformats.org/drawingml/2006/main">
            <a:pPr algn="l">
              <a:defRPr sz="1725" b="0">
                <a:solidFill>
                  <a:srgbClr val="586573"/>
                </a:solidFill>
                <a:latin typeface="Arial"/>
                <a:ea typeface="Arial"/>
                <a:cs typeface="Arial"/>
              </a:defRPr>
            </a:pPr>
            <a:r>
              <a:rPr sz="1725" b="0">
                <a:solidFill>
                  <a:srgbClr val="586573"/>
                </a:solidFill>
                <a:latin typeface="Arial"/>
                <a:ea typeface="Arial"/>
                <a:cs typeface="Arial"/>
              </a:rPr>
              <a:t>Giảng viên hướng dẫn: TS. Trần Đình Tân</a:t>
            </a:r>
          </a:p>
        </p:txBody>
      </p:sp>
    </p:spTree>
    <p:extLst>
      <p:ext uri="{BB962C8B-B14F-4D97-AF65-F5344CB8AC3E}">
        <p14:creationId xmlns:p14="http://schemas.microsoft.com/office/powerpoint/2010/main" val="5428091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C73437BA-57F8-4886-AE5D-9F5A9EC0DA9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Bài toán HEXUDON</a:t>
            </a:r>
          </a:p>
        </p:txBody>
      </p:sp>
      <p:sp>
        <p:nvSpPr>
          <p:cNvPr id="3" name="text-2">
            <a:extLst xmlns:a="http://schemas.openxmlformats.org/drawingml/2006/main">
              <a:ext uri="{FF2B5EF4-FFF2-40B4-BE49-F238E27FC236}">
                <a16:creationId xmlns:a16="http://schemas.microsoft.com/office/drawing/2014/main" id="{BCCBE8C8-5C1E-4422-9116-69F847ED3582}"/>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D25381A2-2DD3-4108-A871-C52AE5C3095F}"/>
              </a:ext>
            </a:extLst>
          </p:cNvPr>
          <p:cNvSpPr>
            <a:spLocks xmlns:a="http://schemas.openxmlformats.org/drawingml/2006/main" noGrp="1"/>
          </p:cNvSpPr>
          <p:nvPr/>
        </p:nvSpPr>
        <p:spPr>
          <a:xfrm xmlns:a="http://schemas.openxmlformats.org/drawingml/2006/main">
            <a:off x="609600" y="6210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573"/>
                </a:solidFill>
                <a:latin typeface="Arial"/>
                <a:ea typeface="Arial"/>
                <a:cs typeface="Arial"/>
              </a:defRPr>
            </a:defPPr>
            <a:lvl1pPr algn="l">
              <a:defRPr sz="1200" b="0">
                <a:solidFill>
                  <a:srgbClr val="586573"/>
                </a:solidFill>
                <a:latin typeface="Arial"/>
                <a:ea typeface="Arial"/>
                <a:cs typeface="Arial"/>
              </a:defRPr>
            </a:lvl1pPr>
            <a:lvl2pPr algn="l">
              <a:defRPr sz="1200" b="0">
                <a:solidFill>
                  <a:srgbClr val="586573"/>
                </a:solidFill>
                <a:latin typeface="Arial"/>
                <a:ea typeface="Arial"/>
                <a:cs typeface="Arial"/>
              </a:defRPr>
            </a:lvl2pPr>
            <a:lvl3pPr algn="l">
              <a:defRPr sz="1200" b="0">
                <a:solidFill>
                  <a:srgbClr val="586573"/>
                </a:solidFill>
                <a:latin typeface="Arial"/>
                <a:ea typeface="Arial"/>
                <a:cs typeface="Arial"/>
              </a:defRPr>
            </a:lvl3pPr>
            <a:lvl4pPr algn="l">
              <a:defRPr sz="1200" b="0">
                <a:solidFill>
                  <a:srgbClr val="586573"/>
                </a:solidFill>
                <a:latin typeface="Arial"/>
                <a:ea typeface="Arial"/>
                <a:cs typeface="Arial"/>
              </a:defRPr>
            </a:lvl4pPr>
            <a:lvl5pPr algn="l">
              <a:defRPr sz="1200" b="0">
                <a:solidFill>
                  <a:srgbClr val="586573"/>
                </a:solidFill>
                <a:latin typeface="Arial"/>
                <a:ea typeface="Arial"/>
                <a:cs typeface="Arial"/>
              </a:defRPr>
            </a:lvl5pPr>
            <a:lvl6pPr algn="l">
              <a:defRPr sz="1200" b="0">
                <a:solidFill>
                  <a:srgbClr val="586573"/>
                </a:solidFill>
                <a:latin typeface="Arial"/>
                <a:ea typeface="Arial"/>
                <a:cs typeface="Arial"/>
              </a:defRPr>
            </a:lvl6pPr>
            <a:lvl7pPr algn="l">
              <a:defRPr sz="1200" b="0">
                <a:solidFill>
                  <a:srgbClr val="586573"/>
                </a:solidFill>
                <a:latin typeface="Arial"/>
                <a:ea typeface="Arial"/>
                <a:cs typeface="Arial"/>
              </a:defRPr>
            </a:lvl7pPr>
            <a:lvl8pPr algn="l">
              <a:defRPr sz="1200" b="0">
                <a:solidFill>
                  <a:srgbClr val="586573"/>
                </a:solidFill>
                <a:latin typeface="Arial"/>
                <a:ea typeface="Arial"/>
                <a:cs typeface="Arial"/>
              </a:defRPr>
            </a:lvl8pPr>
            <a:lvl9pPr algn="l">
              <a:defRPr sz="1200" b="0">
                <a:solidFill>
                  <a:srgbClr val="586573"/>
                </a:solidFill>
                <a:latin typeface="Arial"/>
                <a:ea typeface="Arial"/>
                <a:cs typeface="Arial"/>
              </a:defRPr>
            </a:lvl9pPr>
          </a:lstStyle>
          <a:p xmlns:a="http://schemas.openxmlformats.org/drawingml/2006/main">
            <a:pPr algn="l">
              <a:defRPr sz="1200" b="0">
                <a:solidFill>
                  <a:srgbClr val="586573"/>
                </a:solidFill>
                <a:latin typeface="Arial"/>
                <a:ea typeface="Arial"/>
                <a:cs typeface="Arial"/>
              </a:defRPr>
            </a:pPr>
            <a:r>
              <a:rPr sz="1200" b="0">
                <a:solidFill>
                  <a:srgbClr val="586573"/>
                </a:solidFill>
                <a:latin typeface="Arial"/>
                <a:ea typeface="Arial"/>
                <a:cs typeface="Arial"/>
              </a:rPr>
              <a:t>Hình bản đồ trích đề chính thức Procon Việt Nam 2026, trang 1</a:t>
            </a:r>
          </a:p>
        </p:txBody>
      </p:sp>
      <p:sp>
        <p:nvSpPr>
          <p:cNvPr id="5" name="text-4">
            <a:extLst xmlns:a="http://schemas.openxmlformats.org/drawingml/2006/main">
              <a:ext uri="{FF2B5EF4-FFF2-40B4-BE49-F238E27FC236}">
                <a16:creationId xmlns:a16="http://schemas.microsoft.com/office/drawing/2014/main" id="{0B950DEF-48D1-43E1-AB52-B31B25DED27B}"/>
              </a:ext>
            </a:extLst>
          </p:cNvPr>
          <p:cNvSpPr>
            <a:spLocks xmlns:a="http://schemas.openxmlformats.org/drawingml/2006/main" noGrp="1"/>
          </p:cNvSpPr>
          <p:nvPr/>
        </p:nvSpPr>
        <p:spPr>
          <a:xfrm xmlns:a="http://schemas.openxmlformats.org/drawingml/2006/main">
            <a:off x="609600" y="16192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4EA6"/>
                </a:solidFill>
                <a:latin typeface="Arial"/>
                <a:ea typeface="Arial"/>
                <a:cs typeface="Arial"/>
              </a:defRPr>
            </a:defPPr>
            <a:lvl1pPr algn="l">
              <a:defRPr sz="2100" b="1">
                <a:solidFill>
                  <a:srgbClr val="174EA6"/>
                </a:solidFill>
                <a:latin typeface="Arial"/>
                <a:ea typeface="Arial"/>
                <a:cs typeface="Arial"/>
              </a:defRPr>
            </a:lvl1pPr>
            <a:lvl2pPr algn="l">
              <a:defRPr sz="2100" b="1">
                <a:solidFill>
                  <a:srgbClr val="174EA6"/>
                </a:solidFill>
                <a:latin typeface="Arial"/>
                <a:ea typeface="Arial"/>
                <a:cs typeface="Arial"/>
              </a:defRPr>
            </a:lvl2pPr>
            <a:lvl3pPr algn="l">
              <a:defRPr sz="2100" b="1">
                <a:solidFill>
                  <a:srgbClr val="174EA6"/>
                </a:solidFill>
                <a:latin typeface="Arial"/>
                <a:ea typeface="Arial"/>
                <a:cs typeface="Arial"/>
              </a:defRPr>
            </a:lvl3pPr>
            <a:lvl4pPr algn="l">
              <a:defRPr sz="2100" b="1">
                <a:solidFill>
                  <a:srgbClr val="174EA6"/>
                </a:solidFill>
                <a:latin typeface="Arial"/>
                <a:ea typeface="Arial"/>
                <a:cs typeface="Arial"/>
              </a:defRPr>
            </a:lvl4pPr>
            <a:lvl5pPr algn="l">
              <a:defRPr sz="2100" b="1">
                <a:solidFill>
                  <a:srgbClr val="174EA6"/>
                </a:solidFill>
                <a:latin typeface="Arial"/>
                <a:ea typeface="Arial"/>
                <a:cs typeface="Arial"/>
              </a:defRPr>
            </a:lvl5pPr>
            <a:lvl6pPr algn="l">
              <a:defRPr sz="2100" b="1">
                <a:solidFill>
                  <a:srgbClr val="174EA6"/>
                </a:solidFill>
                <a:latin typeface="Arial"/>
                <a:ea typeface="Arial"/>
                <a:cs typeface="Arial"/>
              </a:defRPr>
            </a:lvl6pPr>
            <a:lvl7pPr algn="l">
              <a:defRPr sz="2100" b="1">
                <a:solidFill>
                  <a:srgbClr val="174EA6"/>
                </a:solidFill>
                <a:latin typeface="Arial"/>
                <a:ea typeface="Arial"/>
                <a:cs typeface="Arial"/>
              </a:defRPr>
            </a:lvl7pPr>
            <a:lvl8pPr algn="l">
              <a:defRPr sz="2100" b="1">
                <a:solidFill>
                  <a:srgbClr val="174EA6"/>
                </a:solidFill>
                <a:latin typeface="Arial"/>
                <a:ea typeface="Arial"/>
                <a:cs typeface="Arial"/>
              </a:defRPr>
            </a:lvl8pPr>
            <a:lvl9pPr algn="l">
              <a:defRPr sz="2100" b="1">
                <a:solidFill>
                  <a:srgbClr val="174EA6"/>
                </a:solidFill>
                <a:latin typeface="Arial"/>
                <a:ea typeface="Arial"/>
                <a:cs typeface="Arial"/>
              </a:defRPr>
            </a:lvl9pPr>
          </a:lstStyle>
          <a:p xmlns:a="http://schemas.openxmlformats.org/drawingml/2006/main">
            <a:pPr algn="l">
              <a:defRPr sz="2100" b="1">
                <a:solidFill>
                  <a:srgbClr val="174EA6"/>
                </a:solidFill>
                <a:latin typeface="Arial"/>
                <a:ea typeface="Arial"/>
                <a:cs typeface="Arial"/>
              </a:defRPr>
            </a:pPr>
            <a:r>
              <a:rPr sz="2100" b="1">
                <a:solidFill>
                  <a:srgbClr val="174EA6"/>
                </a:solidFill>
                <a:latin typeface="Arial"/>
                <a:ea typeface="Arial"/>
                <a:cs typeface="Arial"/>
              </a:rPr>
              <a:t>Đội xe trên bản đồ lục giác</a:t>
            </a:r>
          </a:p>
        </p:txBody>
      </p:sp>
      <p:sp>
        <p:nvSpPr>
          <p:cNvPr id="6" name="text-5">
            <a:extLst xmlns:a="http://schemas.openxmlformats.org/drawingml/2006/main">
              <a:ext uri="{FF2B5EF4-FFF2-40B4-BE49-F238E27FC236}">
                <a16:creationId xmlns:a16="http://schemas.microsoft.com/office/drawing/2014/main" id="{D8DFD968-0918-4490-899A-7CF58F5F4446}"/>
              </a:ext>
            </a:extLst>
          </p:cNvPr>
          <p:cNvSpPr>
            <a:spLocks xmlns:a="http://schemas.openxmlformats.org/drawingml/2006/main" noGrp="1"/>
          </p:cNvSpPr>
          <p:nvPr/>
        </p:nvSpPr>
        <p:spPr>
          <a:xfrm xmlns:a="http://schemas.openxmlformats.org/drawingml/2006/main">
            <a:off x="609600" y="2028825"/>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Mỗi đội điều khiển 3–8 xe trên bản đồ có kích thước từ 8 đến 32 ô mỗi chiều.</a:t>
            </a:r>
          </a:p>
        </p:txBody>
      </p:sp>
      <p:sp>
        <p:nvSpPr>
          <p:cNvPr id="7" name="text-6">
            <a:extLst xmlns:a="http://schemas.openxmlformats.org/drawingml/2006/main">
              <a:ext uri="{FF2B5EF4-FFF2-40B4-BE49-F238E27FC236}">
                <a16:creationId xmlns:a16="http://schemas.microsoft.com/office/drawing/2014/main" id="{7F7386E3-F779-45A5-A04D-C5B1AAD0866E}"/>
              </a:ext>
            </a:extLst>
          </p:cNvPr>
          <p:cNvSpPr>
            <a:spLocks xmlns:a="http://schemas.openxmlformats.org/drawingml/2006/main" noGrp="1"/>
          </p:cNvSpPr>
          <p:nvPr/>
        </p:nvSpPr>
        <p:spPr>
          <a:xfrm xmlns:a="http://schemas.openxmlformats.org/drawingml/2006/main">
            <a:off x="609600" y="32385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4EA6"/>
                </a:solidFill>
                <a:latin typeface="Arial"/>
                <a:ea typeface="Arial"/>
                <a:cs typeface="Arial"/>
              </a:defRPr>
            </a:defPPr>
            <a:lvl1pPr algn="l">
              <a:defRPr sz="2100" b="1">
                <a:solidFill>
                  <a:srgbClr val="174EA6"/>
                </a:solidFill>
                <a:latin typeface="Arial"/>
                <a:ea typeface="Arial"/>
                <a:cs typeface="Arial"/>
              </a:defRPr>
            </a:lvl1pPr>
            <a:lvl2pPr algn="l">
              <a:defRPr sz="2100" b="1">
                <a:solidFill>
                  <a:srgbClr val="174EA6"/>
                </a:solidFill>
                <a:latin typeface="Arial"/>
                <a:ea typeface="Arial"/>
                <a:cs typeface="Arial"/>
              </a:defRPr>
            </a:lvl2pPr>
            <a:lvl3pPr algn="l">
              <a:defRPr sz="2100" b="1">
                <a:solidFill>
                  <a:srgbClr val="174EA6"/>
                </a:solidFill>
                <a:latin typeface="Arial"/>
                <a:ea typeface="Arial"/>
                <a:cs typeface="Arial"/>
              </a:defRPr>
            </a:lvl3pPr>
            <a:lvl4pPr algn="l">
              <a:defRPr sz="2100" b="1">
                <a:solidFill>
                  <a:srgbClr val="174EA6"/>
                </a:solidFill>
                <a:latin typeface="Arial"/>
                <a:ea typeface="Arial"/>
                <a:cs typeface="Arial"/>
              </a:defRPr>
            </a:lvl4pPr>
            <a:lvl5pPr algn="l">
              <a:defRPr sz="2100" b="1">
                <a:solidFill>
                  <a:srgbClr val="174EA6"/>
                </a:solidFill>
                <a:latin typeface="Arial"/>
                <a:ea typeface="Arial"/>
                <a:cs typeface="Arial"/>
              </a:defRPr>
            </a:lvl5pPr>
            <a:lvl6pPr algn="l">
              <a:defRPr sz="2100" b="1">
                <a:solidFill>
                  <a:srgbClr val="174EA6"/>
                </a:solidFill>
                <a:latin typeface="Arial"/>
                <a:ea typeface="Arial"/>
                <a:cs typeface="Arial"/>
              </a:defRPr>
            </a:lvl6pPr>
            <a:lvl7pPr algn="l">
              <a:defRPr sz="2100" b="1">
                <a:solidFill>
                  <a:srgbClr val="174EA6"/>
                </a:solidFill>
                <a:latin typeface="Arial"/>
                <a:ea typeface="Arial"/>
                <a:cs typeface="Arial"/>
              </a:defRPr>
            </a:lvl7pPr>
            <a:lvl8pPr algn="l">
              <a:defRPr sz="2100" b="1">
                <a:solidFill>
                  <a:srgbClr val="174EA6"/>
                </a:solidFill>
                <a:latin typeface="Arial"/>
                <a:ea typeface="Arial"/>
                <a:cs typeface="Arial"/>
              </a:defRPr>
            </a:lvl8pPr>
            <a:lvl9pPr algn="l">
              <a:defRPr sz="2100" b="1">
                <a:solidFill>
                  <a:srgbClr val="174EA6"/>
                </a:solidFill>
                <a:latin typeface="Arial"/>
                <a:ea typeface="Arial"/>
                <a:cs typeface="Arial"/>
              </a:defRPr>
            </a:lvl9pPr>
          </a:lstStyle>
          <a:p xmlns:a="http://schemas.openxmlformats.org/drawingml/2006/main">
            <a:pPr algn="l">
              <a:defRPr sz="2100" b="1">
                <a:solidFill>
                  <a:srgbClr val="174EA6"/>
                </a:solidFill>
                <a:latin typeface="Arial"/>
                <a:ea typeface="Arial"/>
                <a:cs typeface="Arial"/>
              </a:defRPr>
            </a:pPr>
            <a:r>
              <a:rPr sz="2100" b="1">
                <a:solidFill>
                  <a:srgbClr val="174EA6"/>
                </a:solidFill>
                <a:latin typeface="Arial"/>
                <a:ea typeface="Arial"/>
                <a:cs typeface="Arial"/>
              </a:rPr>
              <a:t>Nhiệm vụ thu thập udon</a:t>
            </a:r>
          </a:p>
        </p:txBody>
      </p:sp>
      <p:sp>
        <p:nvSpPr>
          <p:cNvPr id="8" name="text-7">
            <a:extLst xmlns:a="http://schemas.openxmlformats.org/drawingml/2006/main">
              <a:ext uri="{FF2B5EF4-FFF2-40B4-BE49-F238E27FC236}">
                <a16:creationId xmlns:a16="http://schemas.microsoft.com/office/drawing/2014/main" id="{EBD7C873-4FB8-4426-AE1F-45B27D8A0EF8}"/>
              </a:ext>
            </a:extLst>
          </p:cNvPr>
          <p:cNvSpPr>
            <a:spLocks xmlns:a="http://schemas.openxmlformats.org/drawingml/2006/main" noGrp="1"/>
          </p:cNvSpPr>
          <p:nvPr/>
        </p:nvSpPr>
        <p:spPr>
          <a:xfrm xmlns:a="http://schemas.openxmlformats.org/drawingml/2006/main">
            <a:off x="609600" y="3648075"/>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Một điểm bán cung cấp một loại udon. Nhiều điểm có thể bán cùng loại.</a:t>
            </a:r>
          </a:p>
        </p:txBody>
      </p:sp>
      <p:pic>
        <p:nvPicPr>
          <p:cNvPr id="9" name="">
            <a:extLst xmlns:a="http://schemas.openxmlformats.org/drawingml/2006/main">
              <a:ext uri="{FF2B5EF4-FFF2-40B4-BE49-F238E27FC236}">
                <a16:creationId xmlns:a16="http://schemas.microsoft.com/office/drawing/2014/main" id="{E74BC066-DC07-47DC-804B-61085265A59B}"/>
              </a:ext>
            </a:extLst>
          </p:cNvPr>
          <p:cNvPicPr>
            <a:picLocks xmlns:a="http://schemas.openxmlformats.org/drawingml/2006/main" noChangeAspect="1"/>
          </p:cNvPicPr>
          <p:nvPr/>
        </p:nvPicPr>
        <p:blipFill>
          <a:blip xmlns:r="http://schemas.openxmlformats.org/officeDocument/2006/relationships" xmlns:a="http://schemas.openxmlformats.org/drawingml/2006/main" r:embed="R674fb972b2d243be"/>
          <a:stretch xmlns:a="http://schemas.openxmlformats.org/drawingml/2006/main"/>
        </p:blipFill>
        <p:spPr>
          <a:xfrm xmlns:a="http://schemas.openxmlformats.org/drawingml/2006/main">
            <a:off x="6286500" y="1955312"/>
            <a:ext cx="5286375" cy="2280626"/>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88B4A6B1-90E1-4A49-A601-91CD1F8E216D}"/>
              </a:ext>
            </a:extLst>
          </p:cNvPr>
          <p:cNvSpPr>
            <a:spLocks xmlns:a="http://schemas.openxmlformats.org/drawingml/2006/main" noGrp="1"/>
          </p:cNvSpPr>
          <p:nvPr/>
        </p:nvSpPr>
        <p:spPr>
          <a:xfrm xmlns:a="http://schemas.openxmlformats.org/drawingml/2006/main">
            <a:off x="609600" y="51911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Arial"/>
                <a:ea typeface="Arial"/>
                <a:cs typeface="Arial"/>
              </a:defRPr>
            </a:defPPr>
            <a:lvl1pPr algn="l">
              <a:defRPr sz="2100" b="1">
                <a:solidFill>
                  <a:srgbClr val="17212B"/>
                </a:solidFill>
                <a:latin typeface="Arial"/>
                <a:ea typeface="Arial"/>
                <a:cs typeface="Arial"/>
              </a:defRPr>
            </a:lvl1pPr>
            <a:lvl2pPr algn="l">
              <a:defRPr sz="2100" b="1">
                <a:solidFill>
                  <a:srgbClr val="17212B"/>
                </a:solidFill>
                <a:latin typeface="Arial"/>
                <a:ea typeface="Arial"/>
                <a:cs typeface="Arial"/>
              </a:defRPr>
            </a:lvl2pPr>
            <a:lvl3pPr algn="l">
              <a:defRPr sz="2100" b="1">
                <a:solidFill>
                  <a:srgbClr val="17212B"/>
                </a:solidFill>
                <a:latin typeface="Arial"/>
                <a:ea typeface="Arial"/>
                <a:cs typeface="Arial"/>
              </a:defRPr>
            </a:lvl3pPr>
            <a:lvl4pPr algn="l">
              <a:defRPr sz="2100" b="1">
                <a:solidFill>
                  <a:srgbClr val="17212B"/>
                </a:solidFill>
                <a:latin typeface="Arial"/>
                <a:ea typeface="Arial"/>
                <a:cs typeface="Arial"/>
              </a:defRPr>
            </a:lvl4pPr>
            <a:lvl5pPr algn="l">
              <a:defRPr sz="2100" b="1">
                <a:solidFill>
                  <a:srgbClr val="17212B"/>
                </a:solidFill>
                <a:latin typeface="Arial"/>
                <a:ea typeface="Arial"/>
                <a:cs typeface="Arial"/>
              </a:defRPr>
            </a:lvl5pPr>
            <a:lvl6pPr algn="l">
              <a:defRPr sz="2100" b="1">
                <a:solidFill>
                  <a:srgbClr val="17212B"/>
                </a:solidFill>
                <a:latin typeface="Arial"/>
                <a:ea typeface="Arial"/>
                <a:cs typeface="Arial"/>
              </a:defRPr>
            </a:lvl6pPr>
            <a:lvl7pPr algn="l">
              <a:defRPr sz="2100" b="1">
                <a:solidFill>
                  <a:srgbClr val="17212B"/>
                </a:solidFill>
                <a:latin typeface="Arial"/>
                <a:ea typeface="Arial"/>
                <a:cs typeface="Arial"/>
              </a:defRPr>
            </a:lvl7pPr>
            <a:lvl8pPr algn="l">
              <a:defRPr sz="2100" b="1">
                <a:solidFill>
                  <a:srgbClr val="17212B"/>
                </a:solidFill>
                <a:latin typeface="Arial"/>
                <a:ea typeface="Arial"/>
                <a:cs typeface="Arial"/>
              </a:defRPr>
            </a:lvl8pPr>
            <a:lvl9pPr algn="l">
              <a:defRPr sz="2100" b="1">
                <a:solidFill>
                  <a:srgbClr val="17212B"/>
                </a:solidFill>
                <a:latin typeface="Arial"/>
                <a:ea typeface="Arial"/>
                <a:cs typeface="Arial"/>
              </a:defRPr>
            </a:lvl9pPr>
          </a:lstStyle>
          <a:p xmlns:a="http://schemas.openxmlformats.org/drawingml/2006/main">
            <a:pPr algn="l">
              <a:defRPr sz="2100" b="1">
                <a:solidFill>
                  <a:srgbClr val="17212B"/>
                </a:solidFill>
                <a:latin typeface="Arial"/>
                <a:ea typeface="Arial"/>
                <a:cs typeface="Arial"/>
              </a:defRPr>
            </a:pPr>
            <a:r>
              <a:rPr sz="2100" b="1">
                <a:solidFill>
                  <a:srgbClr val="17212B"/>
                </a:solidFill>
                <a:latin typeface="Arial"/>
                <a:ea typeface="Arial"/>
                <a:cs typeface="Arial"/>
              </a:rPr>
              <a:t>Một trận kéo dài tối đa 10 ngày. Nhóm phải xuất kế hoạch di chuyển cho từng xe trong mỗi ngày.</a:t>
            </a:r>
          </a:p>
        </p:txBody>
      </p:sp>
    </p:spTree>
    <p:extLst>
      <p:ext uri="{BB962C8B-B14F-4D97-AF65-F5344CB8AC3E}">
        <p14:creationId xmlns:p14="http://schemas.microsoft.com/office/powerpoint/2010/main" val="21297954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37ECD6B8-2E9B-42ED-862F-B512783685E3}"/>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Tiêu chí xác định đội thắng</a:t>
            </a:r>
          </a:p>
        </p:txBody>
      </p:sp>
      <p:sp>
        <p:nvSpPr>
          <p:cNvPr id="3" name="text-2">
            <a:extLst xmlns:a="http://schemas.openxmlformats.org/drawingml/2006/main">
              <a:ext uri="{FF2B5EF4-FFF2-40B4-BE49-F238E27FC236}">
                <a16:creationId xmlns:a16="http://schemas.microsoft.com/office/drawing/2014/main" id="{569D870D-A6A8-4879-884A-4F0079B2F2D0}"/>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43ACE145-4DF6-466D-8497-4AC186D79571}"/>
              </a:ext>
            </a:extLst>
          </p:cNvPr>
          <p:cNvSpPr>
            <a:spLocks xmlns:a="http://schemas.openxmlformats.org/drawingml/2006/main" noGrp="1"/>
          </p:cNvSpPr>
          <p:nvPr/>
        </p:nvSpPr>
        <p:spPr>
          <a:xfrm xmlns:a="http://schemas.openxmlformats.org/drawingml/2006/main">
            <a:off x="609600" y="6210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573"/>
                </a:solidFill>
                <a:latin typeface="Arial"/>
                <a:ea typeface="Arial"/>
                <a:cs typeface="Arial"/>
              </a:defRPr>
            </a:defPPr>
            <a:lvl1pPr algn="l">
              <a:defRPr sz="1200" b="0">
                <a:solidFill>
                  <a:srgbClr val="586573"/>
                </a:solidFill>
                <a:latin typeface="Arial"/>
                <a:ea typeface="Arial"/>
                <a:cs typeface="Arial"/>
              </a:defRPr>
            </a:lvl1pPr>
            <a:lvl2pPr algn="l">
              <a:defRPr sz="1200" b="0">
                <a:solidFill>
                  <a:srgbClr val="586573"/>
                </a:solidFill>
                <a:latin typeface="Arial"/>
                <a:ea typeface="Arial"/>
                <a:cs typeface="Arial"/>
              </a:defRPr>
            </a:lvl2pPr>
            <a:lvl3pPr algn="l">
              <a:defRPr sz="1200" b="0">
                <a:solidFill>
                  <a:srgbClr val="586573"/>
                </a:solidFill>
                <a:latin typeface="Arial"/>
                <a:ea typeface="Arial"/>
                <a:cs typeface="Arial"/>
              </a:defRPr>
            </a:lvl3pPr>
            <a:lvl4pPr algn="l">
              <a:defRPr sz="1200" b="0">
                <a:solidFill>
                  <a:srgbClr val="586573"/>
                </a:solidFill>
                <a:latin typeface="Arial"/>
                <a:ea typeface="Arial"/>
                <a:cs typeface="Arial"/>
              </a:defRPr>
            </a:lvl4pPr>
            <a:lvl5pPr algn="l">
              <a:defRPr sz="1200" b="0">
                <a:solidFill>
                  <a:srgbClr val="586573"/>
                </a:solidFill>
                <a:latin typeface="Arial"/>
                <a:ea typeface="Arial"/>
                <a:cs typeface="Arial"/>
              </a:defRPr>
            </a:lvl5pPr>
            <a:lvl6pPr algn="l">
              <a:defRPr sz="1200" b="0">
                <a:solidFill>
                  <a:srgbClr val="586573"/>
                </a:solidFill>
                <a:latin typeface="Arial"/>
                <a:ea typeface="Arial"/>
                <a:cs typeface="Arial"/>
              </a:defRPr>
            </a:lvl6pPr>
            <a:lvl7pPr algn="l">
              <a:defRPr sz="1200" b="0">
                <a:solidFill>
                  <a:srgbClr val="586573"/>
                </a:solidFill>
                <a:latin typeface="Arial"/>
                <a:ea typeface="Arial"/>
                <a:cs typeface="Arial"/>
              </a:defRPr>
            </a:lvl7pPr>
            <a:lvl8pPr algn="l">
              <a:defRPr sz="1200" b="0">
                <a:solidFill>
                  <a:srgbClr val="586573"/>
                </a:solidFill>
                <a:latin typeface="Arial"/>
                <a:ea typeface="Arial"/>
                <a:cs typeface="Arial"/>
              </a:defRPr>
            </a:lvl8pPr>
            <a:lvl9pPr algn="l">
              <a:defRPr sz="1200" b="0">
                <a:solidFill>
                  <a:srgbClr val="586573"/>
                </a:solidFill>
                <a:latin typeface="Arial"/>
                <a:ea typeface="Arial"/>
                <a:cs typeface="Arial"/>
              </a:defRPr>
            </a:lvl9pPr>
          </a:lstStyle>
          <a:p xmlns:a="http://schemas.openxmlformats.org/drawingml/2006/main">
            <a:pPr algn="l">
              <a:defRPr sz="1200" b="0">
                <a:solidFill>
                  <a:srgbClr val="586573"/>
                </a:solidFill>
                <a:latin typeface="Arial"/>
                <a:ea typeface="Arial"/>
                <a:cs typeface="Arial"/>
              </a:defRPr>
            </a:pPr>
            <a:r>
              <a:rPr sz="1200" b="0">
                <a:solidFill>
                  <a:srgbClr val="586573"/>
                </a:solidFill>
                <a:latin typeface="Arial"/>
                <a:ea typeface="Arial"/>
                <a:cs typeface="Arial"/>
              </a:rPr>
              <a:t>Chỉ xét tiêu chí tiếp theo khi mọi tiêu chí trước bằng nhau</a:t>
            </a:r>
          </a:p>
        </p:txBody>
      </p:sp>
      <p:graphicFrame>
        <p:nvGraphicFramePr>
          <p:cNvPr id="5" name="">
            <a:extLst xmlns:a="http://schemas.openxmlformats.org/drawingml/2006/main">
              <a:ext uri="{FF2B5EF4-FFF2-40B4-BE49-F238E27FC236}">
                <a16:creationId xmlns:a16="http://schemas.microsoft.com/office/drawing/2014/main" id="{6B4971C2-E3EC-4AE2-86D6-F2E018D88AA9}"/>
              </a:ext>
            </a:extLst>
          </p:cNvPr>
          <p:cNvGraphicFramePr/>
          <p:nvPr/>
        </p:nvGraphicFramePr>
        <p:xfrm>
          <a:off xmlns:a="http://schemas.openxmlformats.org/drawingml/2006/main" x="609600" y="1619250"/>
          <a:ext xmlns:a="http://schemas.openxmlformats.org/drawingml/2006/main" cx="10972800" cy="3143250"/>
        </p:xfrm>
        <a:graphic xmlns:a="http://schemas.openxmlformats.org/drawingml/2006/main">
          <a:graphicData uri="http://schemas.openxmlformats.org/drawingml/2006/table">
            <a:tbl>
              <a:tblPr/>
              <a:tblGrid>
                <a:gridCol w="1190625"/>
                <a:gridCol w="1714500"/>
                <a:gridCol w="8067675"/>
              </a:tblGrid>
              <a:tr h="628650">
                <a:tc>
                  <a:txBody>
                    <a:bodyPr wrap="square" lIns="104775" tIns="66675" rIns="104775" bIns="66675">
                      <a:noAutofit/>
                    </a:bodyPr>
                    <a:lstStyle/>
                    <a:p>
                      <a:pPr algn="l"/>
                      <a:r>
                        <a:rPr sz="1875" b="1">
                          <a:solidFill>
                            <a:srgbClr val="17212B"/>
                          </a:solidFill>
                          <a:latin typeface="Arial"/>
                          <a:ea typeface="Arial"/>
                          <a:cs typeface="Arial"/>
                        </a:rPr>
                        <a:t>Ưu tiên</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75" b="1">
                          <a:solidFill>
                            <a:srgbClr val="17212B"/>
                          </a:solidFill>
                          <a:latin typeface="Arial"/>
                          <a:ea typeface="Arial"/>
                          <a:cs typeface="Arial"/>
                        </a:rPr>
                        <a:t>Chỉ số</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75" b="1">
                          <a:solidFill>
                            <a:srgbClr val="17212B"/>
                          </a:solidFill>
                          <a:latin typeface="Arial"/>
                          <a:ea typeface="Arial"/>
                          <a:cs typeface="Arial"/>
                        </a:rPr>
                        <a:t>Ý nghĩa</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628650">
                <a:tc>
                  <a:txBody>
                    <a:bodyPr wrap="square" lIns="104775" tIns="66675" rIns="104775" bIns="66675">
                      <a:noAutofit/>
                    </a:bodyPr>
                    <a:lstStyle/>
                    <a:p>
                      <a:pPr algn="l"/>
                      <a:r>
                        <a:rPr sz="1950" b="0">
                          <a:solidFill>
                            <a:srgbClr val="17212B"/>
                          </a:solidFill>
                          <a:latin typeface="Arial"/>
                          <a:ea typeface="Arial"/>
                          <a:cs typeface="Arial"/>
                        </a:rPr>
                        <a:t>1</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U</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Số loại udon khác nhau thu được trong cả trận</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28650">
                <a:tc>
                  <a:txBody>
                    <a:bodyPr wrap="square" lIns="104775" tIns="66675" rIns="104775" bIns="66675">
                      <a:noAutofit/>
                    </a:bodyPr>
                    <a:lstStyle/>
                    <a:p>
                      <a:pPr algn="l"/>
                      <a:r>
                        <a:rPr sz="1950" b="0">
                          <a:solidFill>
                            <a:srgbClr val="17212B"/>
                          </a:solidFill>
                          <a:latin typeface="Arial"/>
                          <a:ea typeface="Arial"/>
                          <a:cs typeface="Arial"/>
                        </a:rPr>
                        <a:t>2</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D</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Tổng số loại khác nhau thu được theo từng ngày</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28650">
                <a:tc>
                  <a:txBody>
                    <a:bodyPr wrap="square" lIns="104775" tIns="66675" rIns="104775" bIns="66675">
                      <a:noAutofit/>
                    </a:bodyPr>
                    <a:lstStyle/>
                    <a:p>
                      <a:pPr algn="l"/>
                      <a:r>
                        <a:rPr sz="1950" b="0">
                          <a:solidFill>
                            <a:srgbClr val="17212B"/>
                          </a:solidFill>
                          <a:latin typeface="Arial"/>
                          <a:ea typeface="Arial"/>
                          <a:cs typeface="Arial"/>
                        </a:rPr>
                        <a:t>3</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Q</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Tổng số suất udon thu được trong cả trận</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28650">
                <a:tc>
                  <a:txBody>
                    <a:bodyPr wrap="square" lIns="104775" tIns="66675" rIns="104775" bIns="66675">
                      <a:noAutofit/>
                    </a:bodyPr>
                    <a:lstStyle/>
                    <a:p>
                      <a:pPr algn="l"/>
                      <a:r>
                        <a:rPr sz="1950" b="0">
                          <a:solidFill>
                            <a:srgbClr val="17212B"/>
                          </a:solidFill>
                          <a:latin typeface="Arial"/>
                          <a:ea typeface="Arial"/>
                          <a:cs typeface="Arial"/>
                        </a:rPr>
                        <a:t>4</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Thời gian</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Tổng thời gian phản hồi lũy kế thấp hơn</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5EDA7A82-E5A9-4AB6-991A-8DB173EC68AA}"/>
              </a:ext>
            </a:extLst>
          </p:cNvPr>
          <p:cNvSpPr>
            <a:spLocks xmlns:a="http://schemas.openxmlformats.org/drawingml/2006/main" noGrp="1"/>
          </p:cNvSpPr>
          <p:nvPr/>
        </p:nvSpPr>
        <p:spPr>
          <a:xfrm xmlns:a="http://schemas.openxmlformats.org/drawingml/2006/main">
            <a:off x="609600" y="5095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4EA6"/>
                </a:solidFill>
                <a:latin typeface="Arial"/>
                <a:ea typeface="Arial"/>
                <a:cs typeface="Arial"/>
              </a:defRPr>
            </a:defPPr>
            <a:lvl1pPr algn="l">
              <a:defRPr sz="2325" b="1">
                <a:solidFill>
                  <a:srgbClr val="174EA6"/>
                </a:solidFill>
                <a:latin typeface="Arial"/>
                <a:ea typeface="Arial"/>
                <a:cs typeface="Arial"/>
              </a:defRPr>
            </a:lvl1pPr>
            <a:lvl2pPr algn="l">
              <a:defRPr sz="2325" b="1">
                <a:solidFill>
                  <a:srgbClr val="174EA6"/>
                </a:solidFill>
                <a:latin typeface="Arial"/>
                <a:ea typeface="Arial"/>
                <a:cs typeface="Arial"/>
              </a:defRPr>
            </a:lvl2pPr>
            <a:lvl3pPr algn="l">
              <a:defRPr sz="2325" b="1">
                <a:solidFill>
                  <a:srgbClr val="174EA6"/>
                </a:solidFill>
                <a:latin typeface="Arial"/>
                <a:ea typeface="Arial"/>
                <a:cs typeface="Arial"/>
              </a:defRPr>
            </a:lvl3pPr>
            <a:lvl4pPr algn="l">
              <a:defRPr sz="2325" b="1">
                <a:solidFill>
                  <a:srgbClr val="174EA6"/>
                </a:solidFill>
                <a:latin typeface="Arial"/>
                <a:ea typeface="Arial"/>
                <a:cs typeface="Arial"/>
              </a:defRPr>
            </a:lvl4pPr>
            <a:lvl5pPr algn="l">
              <a:defRPr sz="2325" b="1">
                <a:solidFill>
                  <a:srgbClr val="174EA6"/>
                </a:solidFill>
                <a:latin typeface="Arial"/>
                <a:ea typeface="Arial"/>
                <a:cs typeface="Arial"/>
              </a:defRPr>
            </a:lvl5pPr>
            <a:lvl6pPr algn="l">
              <a:defRPr sz="2325" b="1">
                <a:solidFill>
                  <a:srgbClr val="174EA6"/>
                </a:solidFill>
                <a:latin typeface="Arial"/>
                <a:ea typeface="Arial"/>
                <a:cs typeface="Arial"/>
              </a:defRPr>
            </a:lvl6pPr>
            <a:lvl7pPr algn="l">
              <a:defRPr sz="2325" b="1">
                <a:solidFill>
                  <a:srgbClr val="174EA6"/>
                </a:solidFill>
                <a:latin typeface="Arial"/>
                <a:ea typeface="Arial"/>
                <a:cs typeface="Arial"/>
              </a:defRPr>
            </a:lvl7pPr>
            <a:lvl8pPr algn="l">
              <a:defRPr sz="2325" b="1">
                <a:solidFill>
                  <a:srgbClr val="174EA6"/>
                </a:solidFill>
                <a:latin typeface="Arial"/>
                <a:ea typeface="Arial"/>
                <a:cs typeface="Arial"/>
              </a:defRPr>
            </a:lvl8pPr>
            <a:lvl9pPr algn="l">
              <a:defRPr sz="2325" b="1">
                <a:solidFill>
                  <a:srgbClr val="174EA6"/>
                </a:solidFill>
                <a:latin typeface="Arial"/>
                <a:ea typeface="Arial"/>
                <a:cs typeface="Arial"/>
              </a:defRPr>
            </a:lvl9pPr>
          </a:lstStyle>
          <a:p xmlns:a="http://schemas.openxmlformats.org/drawingml/2006/main">
            <a:pPr algn="l">
              <a:defRPr sz="2325" b="1">
                <a:solidFill>
                  <a:srgbClr val="174EA6"/>
                </a:solidFill>
                <a:latin typeface="Arial"/>
                <a:ea typeface="Arial"/>
                <a:cs typeface="Arial"/>
              </a:defRPr>
            </a:pPr>
            <a:r>
              <a:rPr sz="2325" b="1">
                <a:solidFill>
                  <a:srgbClr val="174EA6"/>
                </a:solidFill>
                <a:latin typeface="Arial"/>
                <a:ea typeface="Arial"/>
                <a:cs typeface="Arial"/>
              </a:rPr>
              <a:t>Ví dụ: (20, 200, 600) tốt hơn (20, 199, 900).</a:t>
            </a:r>
          </a:p>
        </p:txBody>
      </p:sp>
      <p:sp>
        <p:nvSpPr>
          <p:cNvPr id="7" name="text-5">
            <a:extLst xmlns:a="http://schemas.openxmlformats.org/drawingml/2006/main">
              <a:ext uri="{FF2B5EF4-FFF2-40B4-BE49-F238E27FC236}">
                <a16:creationId xmlns:a16="http://schemas.microsoft.com/office/drawing/2014/main" id="{057095E0-9296-466D-9E53-2456734F4AE1}"/>
              </a:ext>
            </a:extLst>
          </p:cNvPr>
          <p:cNvSpPr>
            <a:spLocks xmlns:a="http://schemas.openxmlformats.org/drawingml/2006/main" noGrp="1"/>
          </p:cNvSpPr>
          <p:nvPr/>
        </p:nvSpPr>
        <p:spPr>
          <a:xfrm xmlns:a="http://schemas.openxmlformats.org/drawingml/2006/main">
            <a:off x="609600" y="5619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12B"/>
                </a:solidFill>
                <a:latin typeface="Arial"/>
                <a:ea typeface="Arial"/>
                <a:cs typeface="Arial"/>
              </a:defRPr>
            </a:defPPr>
            <a:lvl1pPr algn="l">
              <a:defRPr sz="1875" b="0">
                <a:solidFill>
                  <a:srgbClr val="17212B"/>
                </a:solidFill>
                <a:latin typeface="Arial"/>
                <a:ea typeface="Arial"/>
                <a:cs typeface="Arial"/>
              </a:defRPr>
            </a:lvl1pPr>
            <a:lvl2pPr algn="l">
              <a:defRPr sz="1875" b="0">
                <a:solidFill>
                  <a:srgbClr val="17212B"/>
                </a:solidFill>
                <a:latin typeface="Arial"/>
                <a:ea typeface="Arial"/>
                <a:cs typeface="Arial"/>
              </a:defRPr>
            </a:lvl2pPr>
            <a:lvl3pPr algn="l">
              <a:defRPr sz="1875" b="0">
                <a:solidFill>
                  <a:srgbClr val="17212B"/>
                </a:solidFill>
                <a:latin typeface="Arial"/>
                <a:ea typeface="Arial"/>
                <a:cs typeface="Arial"/>
              </a:defRPr>
            </a:lvl3pPr>
            <a:lvl4pPr algn="l">
              <a:defRPr sz="1875" b="0">
                <a:solidFill>
                  <a:srgbClr val="17212B"/>
                </a:solidFill>
                <a:latin typeface="Arial"/>
                <a:ea typeface="Arial"/>
                <a:cs typeface="Arial"/>
              </a:defRPr>
            </a:lvl4pPr>
            <a:lvl5pPr algn="l">
              <a:defRPr sz="1875" b="0">
                <a:solidFill>
                  <a:srgbClr val="17212B"/>
                </a:solidFill>
                <a:latin typeface="Arial"/>
                <a:ea typeface="Arial"/>
                <a:cs typeface="Arial"/>
              </a:defRPr>
            </a:lvl5pPr>
            <a:lvl6pPr algn="l">
              <a:defRPr sz="1875" b="0">
                <a:solidFill>
                  <a:srgbClr val="17212B"/>
                </a:solidFill>
                <a:latin typeface="Arial"/>
                <a:ea typeface="Arial"/>
                <a:cs typeface="Arial"/>
              </a:defRPr>
            </a:lvl6pPr>
            <a:lvl7pPr algn="l">
              <a:defRPr sz="1875" b="0">
                <a:solidFill>
                  <a:srgbClr val="17212B"/>
                </a:solidFill>
                <a:latin typeface="Arial"/>
                <a:ea typeface="Arial"/>
                <a:cs typeface="Arial"/>
              </a:defRPr>
            </a:lvl7pPr>
            <a:lvl8pPr algn="l">
              <a:defRPr sz="1875" b="0">
                <a:solidFill>
                  <a:srgbClr val="17212B"/>
                </a:solidFill>
                <a:latin typeface="Arial"/>
                <a:ea typeface="Arial"/>
                <a:cs typeface="Arial"/>
              </a:defRPr>
            </a:lvl8pPr>
            <a:lvl9pPr algn="l">
              <a:defRPr sz="1875" b="0">
                <a:solidFill>
                  <a:srgbClr val="17212B"/>
                </a:solidFill>
                <a:latin typeface="Arial"/>
                <a:ea typeface="Arial"/>
                <a:cs typeface="Arial"/>
              </a:defRPr>
            </a:lvl9pPr>
          </a:lstStyle>
          <a:p xmlns:a="http://schemas.openxmlformats.org/drawingml/2006/main">
            <a:pPr algn="l">
              <a:defRPr sz="1875" b="0">
                <a:solidFill>
                  <a:srgbClr val="17212B"/>
                </a:solidFill>
                <a:latin typeface="Arial"/>
                <a:ea typeface="Arial"/>
                <a:cs typeface="Arial"/>
              </a:defRPr>
            </a:pPr>
            <a:r>
              <a:rPr sz="1875" b="0">
                <a:solidFill>
                  <a:srgbClr val="17212B"/>
                </a:solidFill>
                <a:latin typeface="Arial"/>
                <a:ea typeface="Arial"/>
                <a:cs typeface="Arial"/>
              </a:rPr>
              <a:t>Nếu vẫn bằng nhau, đề quy định tung xúc xắc hoặc tuyên bố hòa.</a:t>
            </a:r>
          </a:p>
        </p:txBody>
      </p:sp>
    </p:spTree>
    <p:extLst>
      <p:ext uri="{BB962C8B-B14F-4D97-AF65-F5344CB8AC3E}">
        <p14:creationId xmlns:p14="http://schemas.microsoft.com/office/powerpoint/2010/main" val="19156747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C8E345BE-7EF5-4261-B152-9D5290002B7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Hai loại xe và giới hạn tài nguyên</a:t>
            </a:r>
          </a:p>
        </p:txBody>
      </p:sp>
      <p:sp>
        <p:nvSpPr>
          <p:cNvPr id="3" name="text-2">
            <a:extLst xmlns:a="http://schemas.openxmlformats.org/drawingml/2006/main">
              <a:ext uri="{FF2B5EF4-FFF2-40B4-BE49-F238E27FC236}">
                <a16:creationId xmlns:a16="http://schemas.microsoft.com/office/drawing/2014/main" id="{7F089713-E00B-4926-BB25-ED45332B4714}"/>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214FB1C1-62DB-49A2-8618-AD78DBA29950}"/>
              </a:ext>
            </a:extLst>
          </p:cNvPr>
          <p:cNvGraphicFramePr/>
          <p:nvPr/>
        </p:nvGraphicFramePr>
        <p:xfrm>
          <a:off xmlns:a="http://schemas.openxmlformats.org/drawingml/2006/main" x="609600" y="1571625"/>
          <a:ext xmlns:a="http://schemas.openxmlformats.org/drawingml/2006/main" cx="10972800" cy="3190875"/>
        </p:xfrm>
        <a:graphic xmlns:a="http://schemas.openxmlformats.org/drawingml/2006/main">
          <a:graphicData uri="http://schemas.openxmlformats.org/drawingml/2006/table">
            <a:tbl>
              <a:tblPr/>
              <a:tblGrid>
                <a:gridCol w="3733800"/>
                <a:gridCol w="3619500"/>
                <a:gridCol w="3619500"/>
              </a:tblGrid>
              <a:tr h="638175">
                <a:tc>
                  <a:txBody>
                    <a:bodyPr wrap="square" lIns="104775" tIns="66675" rIns="104775" bIns="66675">
                      <a:noAutofit/>
                    </a:bodyPr>
                    <a:lstStyle/>
                    <a:p>
                      <a:pPr algn="l"/>
                      <a:r>
                        <a:rPr sz="1875" b="1">
                          <a:solidFill>
                            <a:srgbClr val="17212B"/>
                          </a:solidFill>
                          <a:latin typeface="Arial"/>
                          <a:ea typeface="Arial"/>
                          <a:cs typeface="Arial"/>
                        </a:rPr>
                        <a:t>Đặc điểm</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75" b="1">
                          <a:solidFill>
                            <a:srgbClr val="17212B"/>
                          </a:solidFill>
                          <a:latin typeface="Arial"/>
                          <a:ea typeface="Arial"/>
                          <a:cs typeface="Arial"/>
                        </a:rPr>
                        <a:t>Xe tuần tra</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75" b="1">
                          <a:solidFill>
                            <a:srgbClr val="17212B"/>
                          </a:solidFill>
                          <a:latin typeface="Arial"/>
                          <a:ea typeface="Arial"/>
                          <a:cs typeface="Arial"/>
                        </a:rPr>
                        <a:t>Xe tiếp tế</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638175">
                <a:tc>
                  <a:txBody>
                    <a:bodyPr wrap="square" lIns="104775" tIns="66675" rIns="104775" bIns="66675">
                      <a:noAutofit/>
                    </a:bodyPr>
                    <a:lstStyle/>
                    <a:p>
                      <a:pPr algn="l"/>
                      <a:r>
                        <a:rPr sz="1950" b="0">
                          <a:solidFill>
                            <a:srgbClr val="17212B"/>
                          </a:solidFill>
                          <a:latin typeface="Arial"/>
                          <a:ea typeface="Arial"/>
                          <a:cs typeface="Arial"/>
                        </a:rPr>
                        <a:t>Thu thập udon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Có</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Không</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38175">
                <a:tc>
                  <a:txBody>
                    <a:bodyPr wrap="square" lIns="104775" tIns="66675" rIns="104775" bIns="66675">
                      <a:noAutofit/>
                    </a:bodyPr>
                    <a:lstStyle/>
                    <a:p>
                      <a:pPr algn="l"/>
                      <a:r>
                        <a:rPr sz="1950" b="0">
                          <a:solidFill>
                            <a:srgbClr val="17212B"/>
                          </a:solidFill>
                          <a:latin typeface="Arial"/>
                          <a:ea typeface="Arial"/>
                          <a:cs typeface="Arial"/>
                        </a:rPr>
                        <a:t>Tiêu hao nhiên liệu khi đi</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Có, theo ô rời đi</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Không</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38175">
                <a:tc>
                  <a:txBody>
                    <a:bodyPr wrap="square" lIns="104775" tIns="66675" rIns="104775" bIns="66675">
                      <a:noAutofit/>
                    </a:bodyPr>
                    <a:lstStyle/>
                    <a:p>
                      <a:pPr algn="l"/>
                      <a:r>
                        <a:rPr sz="1950" b="0">
                          <a:solidFill>
                            <a:srgbClr val="17212B"/>
                          </a:solidFill>
                          <a:latin typeface="Arial"/>
                          <a:ea typeface="Arial"/>
                          <a:cs typeface="Arial"/>
                        </a:rPr>
                        <a:t>Thời gian di chuyển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Tính theo địa hình và đường</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Vẫn phải trả đủ step</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38175">
                <a:tc>
                  <a:txBody>
                    <a:bodyPr wrap="square" lIns="104775" tIns="66675" rIns="104775" bIns="66675">
                      <a:noAutofit/>
                    </a:bodyPr>
                    <a:lstStyle/>
                    <a:p>
                      <a:pPr algn="l"/>
                      <a:r>
                        <a:rPr sz="1950" b="0">
                          <a:solidFill>
                            <a:srgbClr val="17212B"/>
                          </a:solidFill>
                          <a:latin typeface="Arial"/>
                          <a:ea typeface="Arial"/>
                          <a:cs typeface="Arial"/>
                        </a:rPr>
                        <a:t>Gặp nhau tại cùng ô</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Được nạp đầy nhiên liệu</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Nạp cho xe tuần tra cùng đội</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32D43A5-B104-4314-AFE8-CA0DAF3D6360}"/>
              </a:ext>
            </a:extLst>
          </p:cNvPr>
          <p:cNvSpPr>
            <a:spLocks xmlns:a="http://schemas.openxmlformats.org/drawingml/2006/main" noGrp="1"/>
          </p:cNvSpPr>
          <p:nvPr/>
        </p:nvSpPr>
        <p:spPr>
          <a:xfrm xmlns:a="http://schemas.openxmlformats.org/drawingml/2006/main">
            <a:off x="609600" y="5095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Mỗi xe có riêng quỹ step của ngày và hoạt động đồng thời.</a:t>
            </a:r>
          </a:p>
        </p:txBody>
      </p:sp>
      <p:sp>
        <p:nvSpPr>
          <p:cNvPr id="6" name="text-4">
            <a:extLst xmlns:a="http://schemas.openxmlformats.org/drawingml/2006/main">
              <a:ext uri="{FF2B5EF4-FFF2-40B4-BE49-F238E27FC236}">
                <a16:creationId xmlns:a16="http://schemas.microsoft.com/office/drawing/2014/main" id="{CD3013B6-2CC0-44AB-BFB6-B2047772064E}"/>
              </a:ext>
            </a:extLst>
          </p:cNvPr>
          <p:cNvSpPr>
            <a:spLocks xmlns:a="http://schemas.openxmlformats.org/drawingml/2006/main" noGrp="1"/>
          </p:cNvSpPr>
          <p:nvPr/>
        </p:nvSpPr>
        <p:spPr>
          <a:xfrm xmlns:a="http://schemas.openxmlformats.org/drawingml/2006/main">
            <a:off x="609600" y="56483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12B"/>
                </a:solidFill>
                <a:latin typeface="Arial"/>
                <a:ea typeface="Arial"/>
                <a:cs typeface="Arial"/>
              </a:defRPr>
            </a:defPPr>
            <a:lvl1pPr algn="l">
              <a:defRPr sz="1875" b="0">
                <a:solidFill>
                  <a:srgbClr val="17212B"/>
                </a:solidFill>
                <a:latin typeface="Arial"/>
                <a:ea typeface="Arial"/>
                <a:cs typeface="Arial"/>
              </a:defRPr>
            </a:lvl1pPr>
            <a:lvl2pPr algn="l">
              <a:defRPr sz="1875" b="0">
                <a:solidFill>
                  <a:srgbClr val="17212B"/>
                </a:solidFill>
                <a:latin typeface="Arial"/>
                <a:ea typeface="Arial"/>
                <a:cs typeface="Arial"/>
              </a:defRPr>
            </a:lvl2pPr>
            <a:lvl3pPr algn="l">
              <a:defRPr sz="1875" b="0">
                <a:solidFill>
                  <a:srgbClr val="17212B"/>
                </a:solidFill>
                <a:latin typeface="Arial"/>
                <a:ea typeface="Arial"/>
                <a:cs typeface="Arial"/>
              </a:defRPr>
            </a:lvl3pPr>
            <a:lvl4pPr algn="l">
              <a:defRPr sz="1875" b="0">
                <a:solidFill>
                  <a:srgbClr val="17212B"/>
                </a:solidFill>
                <a:latin typeface="Arial"/>
                <a:ea typeface="Arial"/>
                <a:cs typeface="Arial"/>
              </a:defRPr>
            </a:lvl4pPr>
            <a:lvl5pPr algn="l">
              <a:defRPr sz="1875" b="0">
                <a:solidFill>
                  <a:srgbClr val="17212B"/>
                </a:solidFill>
                <a:latin typeface="Arial"/>
                <a:ea typeface="Arial"/>
                <a:cs typeface="Arial"/>
              </a:defRPr>
            </a:lvl5pPr>
            <a:lvl6pPr algn="l">
              <a:defRPr sz="1875" b="0">
                <a:solidFill>
                  <a:srgbClr val="17212B"/>
                </a:solidFill>
                <a:latin typeface="Arial"/>
                <a:ea typeface="Arial"/>
                <a:cs typeface="Arial"/>
              </a:defRPr>
            </a:lvl6pPr>
            <a:lvl7pPr algn="l">
              <a:defRPr sz="1875" b="0">
                <a:solidFill>
                  <a:srgbClr val="17212B"/>
                </a:solidFill>
                <a:latin typeface="Arial"/>
                <a:ea typeface="Arial"/>
                <a:cs typeface="Arial"/>
              </a:defRPr>
            </a:lvl7pPr>
            <a:lvl8pPr algn="l">
              <a:defRPr sz="1875" b="0">
                <a:solidFill>
                  <a:srgbClr val="17212B"/>
                </a:solidFill>
                <a:latin typeface="Arial"/>
                <a:ea typeface="Arial"/>
                <a:cs typeface="Arial"/>
              </a:defRPr>
            </a:lvl8pPr>
            <a:lvl9pPr algn="l">
              <a:defRPr sz="1875" b="0">
                <a:solidFill>
                  <a:srgbClr val="17212B"/>
                </a:solidFill>
                <a:latin typeface="Arial"/>
                <a:ea typeface="Arial"/>
                <a:cs typeface="Arial"/>
              </a:defRPr>
            </a:lvl9pPr>
          </a:lstStyle>
          <a:p xmlns:a="http://schemas.openxmlformats.org/drawingml/2006/main">
            <a:pPr algn="l">
              <a:defRPr sz="1875" b="0">
                <a:solidFill>
                  <a:srgbClr val="17212B"/>
                </a:solidFill>
                <a:latin typeface="Arial"/>
                <a:ea typeface="Arial"/>
                <a:cs typeface="Arial"/>
              </a:defRPr>
            </a:pPr>
            <a:r>
              <a:rPr sz="1875" b="0">
                <a:solidFill>
                  <a:srgbClr val="17212B"/>
                </a:solidFill>
                <a:latin typeface="Arial"/>
                <a:ea typeface="Arial"/>
                <a:cs typeface="Arial"/>
              </a:rPr>
              <a:t>Nhiên liệu còn lại được giữ sang ngày sau. Mỗi xe lấy tối đa một suất tại mỗi điểm bán trong ngày, nếu kho đội còn hàng.</a:t>
            </a:r>
          </a:p>
        </p:txBody>
      </p:sp>
    </p:spTree>
    <p:extLst>
      <p:ext uri="{BB962C8B-B14F-4D97-AF65-F5344CB8AC3E}">
        <p14:creationId xmlns:p14="http://schemas.microsoft.com/office/powerpoint/2010/main" val="13854097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960F5713-2ED0-489A-B3DD-FBFF11326E0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Quy trình lập kế hoạch của tour</a:t>
            </a:r>
          </a:p>
        </p:txBody>
      </p:sp>
      <p:sp>
        <p:nvSpPr>
          <p:cNvPr id="3" name="text-2">
            <a:extLst xmlns:a="http://schemas.openxmlformats.org/drawingml/2006/main">
              <a:ext uri="{FF2B5EF4-FFF2-40B4-BE49-F238E27FC236}">
                <a16:creationId xmlns:a16="http://schemas.microsoft.com/office/drawing/2014/main" id="{86816B8E-DE3F-4BC7-8A3B-C7859DECD2A3}"/>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B406C9E8-9B98-4CE0-84CE-6CAD361598B9}"/>
              </a:ext>
            </a:extLst>
          </p:cNvPr>
          <p:cNvGraphicFramePr/>
          <p:nvPr/>
        </p:nvGraphicFramePr>
        <p:xfrm>
          <a:off xmlns:a="http://schemas.openxmlformats.org/drawingml/2006/main" x="609600" y="1571625"/>
          <a:ext xmlns:a="http://schemas.openxmlformats.org/drawingml/2006/main" cx="10972800" cy="3714750"/>
        </p:xfrm>
        <a:graphic xmlns:a="http://schemas.openxmlformats.org/drawingml/2006/main">
          <a:graphicData uri="http://schemas.openxmlformats.org/drawingml/2006/table">
            <a:tbl>
              <a:tblPr/>
              <a:tblGrid>
                <a:gridCol w="2571750"/>
                <a:gridCol w="8401050"/>
              </a:tblGrid>
              <a:tr h="619125">
                <a:tc>
                  <a:txBody>
                    <a:bodyPr wrap="square" lIns="104775" tIns="66675" rIns="104775" bIns="66675">
                      <a:noAutofit/>
                    </a:bodyPr>
                    <a:lstStyle/>
                    <a:p>
                      <a:pPr algn="l"/>
                      <a:r>
                        <a:rPr sz="1950" b="1">
                          <a:solidFill>
                            <a:srgbClr val="17212B"/>
                          </a:solidFill>
                          <a:latin typeface="Arial"/>
                          <a:ea typeface="Arial"/>
                          <a:cs typeface="Arial"/>
                        </a:rPr>
                        <a:t>Giai đoạn</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950" b="1">
                          <a:solidFill>
                            <a:srgbClr val="17212B"/>
                          </a:solidFill>
                          <a:latin typeface="Arial"/>
                          <a:ea typeface="Arial"/>
                          <a:cs typeface="Arial"/>
                        </a:rPr>
                        <a:t>Chương trình quyết định điều gì?</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619125">
                <a:tc>
                  <a:txBody>
                    <a:bodyPr wrap="square" lIns="104775" tIns="66675" rIns="104775" bIns="66675">
                      <a:noAutofit/>
                    </a:bodyPr>
                    <a:lstStyle/>
                    <a:p>
                      <a:pPr algn="l"/>
                      <a:r>
                        <a:rPr sz="2025" b="0">
                          <a:solidFill>
                            <a:srgbClr val="17212B"/>
                          </a:solidFill>
                          <a:latin typeface="Arial"/>
                          <a:ea typeface="Arial"/>
                          <a:cs typeface="Arial"/>
                        </a:rPr>
                        <a:t>Trước trận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Chọn vai trò tuần tra hoặc tiếp tế tại các vị trí xuất phát</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19125">
                <a:tc>
                  <a:txBody>
                    <a:bodyPr wrap="square" lIns="104775" tIns="66675" rIns="104775" bIns="66675">
                      <a:noAutofit/>
                    </a:bodyPr>
                    <a:lstStyle/>
                    <a:p>
                      <a:pPr algn="l"/>
                      <a:r>
                        <a:rPr sz="2025" b="0">
                          <a:solidFill>
                            <a:srgbClr val="17212B"/>
                          </a:solidFill>
                          <a:latin typeface="Arial"/>
                          <a:ea typeface="Arial"/>
                          <a:cs typeface="Arial"/>
                        </a:rPr>
                        <a:t>Đầu ngày</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Đọc vị trí, nhiên liệu, đường hiện tại và quỹ step</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19125">
                <a:tc>
                  <a:txBody>
                    <a:bodyPr wrap="square" lIns="104775" tIns="66675" rIns="104775" bIns="66675">
                      <a:noAutofit/>
                    </a:bodyPr>
                    <a:lstStyle/>
                    <a:p>
                      <a:pPr algn="l"/>
                      <a:r>
                        <a:rPr sz="2025" b="0">
                          <a:solidFill>
                            <a:srgbClr val="17212B"/>
                          </a:solidFill>
                          <a:latin typeface="Arial"/>
                          <a:ea typeface="Arial"/>
                          <a:cs typeface="Arial"/>
                        </a:rPr>
                        <a:t>Dựng tuyến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Chọn điểm hẹn, tạo chặng đi và phân công điểm ghé</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19125">
                <a:tc>
                  <a:txBody>
                    <a:bodyPr wrap="square" lIns="104775" tIns="66675" rIns="104775" bIns="66675">
                      <a:noAutofit/>
                    </a:bodyPr>
                    <a:lstStyle/>
                    <a:p>
                      <a:pPr algn="l"/>
                      <a:r>
                        <a:rPr sz="2025" b="0">
                          <a:solidFill>
                            <a:srgbClr val="17212B"/>
                          </a:solidFill>
                          <a:latin typeface="Arial"/>
                          <a:ea typeface="Arial"/>
                          <a:cs typeface="Arial"/>
                        </a:rPr>
                        <a:t>Cải thiện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Bỏ vài điểm rồi chèn lại để sửa tuyến của cả đội</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19125">
                <a:tc>
                  <a:txBody>
                    <a:bodyPr wrap="square" lIns="104775" tIns="66675" rIns="104775" bIns="66675">
                      <a:noAutofit/>
                    </a:bodyPr>
                    <a:lstStyle/>
                    <a:p>
                      <a:pPr algn="l"/>
                      <a:r>
                        <a:rPr sz="2025" b="0">
                          <a:solidFill>
                            <a:srgbClr val="17212B"/>
                          </a:solidFill>
                          <a:latin typeface="Arial"/>
                          <a:ea typeface="Arial"/>
                          <a:cs typeface="Arial"/>
                        </a:rPr>
                        <a:t>Trước khi nộp</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Mô phỏng các xe, kiểm tra lệnh và xuất kế hoạch</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BFD21157-0577-4450-8CBF-7ED4540FD02C}"/>
              </a:ext>
            </a:extLst>
          </p:cNvPr>
          <p:cNvSpPr>
            <a:spLocks xmlns:a="http://schemas.openxmlformats.org/drawingml/2006/main" noGrp="1"/>
          </p:cNvSpPr>
          <p:nvPr/>
        </p:nvSpPr>
        <p:spPr>
          <a:xfrm xmlns:a="http://schemas.openxmlformats.org/drawingml/2006/main">
            <a:off x="609600" y="56673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Mỗi ngày, planner lập lại kế hoạch từ trạng thái thực của máy chủ.</a:t>
            </a:r>
          </a:p>
        </p:txBody>
      </p:sp>
    </p:spTree>
    <p:extLst>
      <p:ext uri="{BB962C8B-B14F-4D97-AF65-F5344CB8AC3E}">
        <p14:creationId xmlns:p14="http://schemas.microsoft.com/office/powerpoint/2010/main" val="10440118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4079799E-65D4-476F-8B16-BA7D32198D1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Dijkstra tạo các chặng đi</a:t>
            </a:r>
          </a:p>
        </p:txBody>
      </p:sp>
      <p:sp>
        <p:nvSpPr>
          <p:cNvPr id="3" name="text-2">
            <a:extLst xmlns:a="http://schemas.openxmlformats.org/drawingml/2006/main">
              <a:ext uri="{FF2B5EF4-FFF2-40B4-BE49-F238E27FC236}">
                <a16:creationId xmlns:a16="http://schemas.microsoft.com/office/drawing/2014/main" id="{0EA286A0-EC2E-4F09-87E6-DAB500341A47}"/>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4E17FA71-49B1-4F80-A995-4CE97480D21A}"/>
              </a:ext>
            </a:extLst>
          </p:cNvPr>
          <p:cNvGraphicFramePr/>
          <p:nvPr/>
        </p:nvGraphicFramePr>
        <p:xfrm>
          <a:off xmlns:a="http://schemas.openxmlformats.org/drawingml/2006/main" x="609600" y="1666875"/>
          <a:ext xmlns:a="http://schemas.openxmlformats.org/drawingml/2006/main" cx="10972800" cy="2476500"/>
        </p:xfrm>
        <a:graphic xmlns:a="http://schemas.openxmlformats.org/drawingml/2006/main">
          <a:graphicData uri="http://schemas.openxmlformats.org/drawingml/2006/table">
            <a:tbl>
              <a:tblPr/>
              <a:tblGrid>
                <a:gridCol w="4333875"/>
                <a:gridCol w="6638925"/>
              </a:tblGrid>
              <a:tr h="619125">
                <a:tc>
                  <a:txBody>
                    <a:bodyPr wrap="square" lIns="104775" tIns="66675" rIns="104775" bIns="66675">
                      <a:noAutofit/>
                    </a:bodyPr>
                    <a:lstStyle/>
                    <a:p>
                      <a:pPr algn="l"/>
                      <a:r>
                        <a:rPr sz="2100" b="1">
                          <a:solidFill>
                            <a:srgbClr val="17212B"/>
                          </a:solidFill>
                          <a:latin typeface="Arial"/>
                          <a:ea typeface="Arial"/>
                          <a:cs typeface="Arial"/>
                        </a:rPr>
                        <a:t>Kiểu đường</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100" b="1">
                          <a:solidFill>
                            <a:srgbClr val="17212B"/>
                          </a:solidFill>
                          <a:latin typeface="Arial"/>
                          <a:ea typeface="Arial"/>
                          <a:cs typeface="Arial"/>
                        </a:rPr>
                        <a:t>Chi phí dùng để tìm đường</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619125">
                <a:tc>
                  <a:txBody>
                    <a:bodyPr wrap="square" lIns="104775" tIns="66675" rIns="104775" bIns="66675">
                      <a:noAutofit/>
                    </a:bodyPr>
                    <a:lstStyle/>
                    <a:p>
                      <a:pPr algn="l"/>
                      <a:r>
                        <a:rPr sz="2175" b="0">
                          <a:solidFill>
                            <a:srgbClr val="17212B"/>
                          </a:solidFill>
                          <a:latin typeface="Arial"/>
                          <a:ea typeface="Arial"/>
                          <a:cs typeface="Arial"/>
                        </a:rPr>
                        <a:t>Ưu tiên nhanh</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step + 0,001 × nhiên liệu</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19125">
                <a:tc>
                  <a:txBody>
                    <a:bodyPr wrap="square" lIns="104775" tIns="66675" rIns="104775" bIns="66675">
                      <a:noAutofit/>
                    </a:bodyPr>
                    <a:lstStyle/>
                    <a:p>
                      <a:pPr algn="l"/>
                      <a:r>
                        <a:rPr sz="2175" b="0">
                          <a:solidFill>
                            <a:srgbClr val="17212B"/>
                          </a:solidFill>
                          <a:latin typeface="Arial"/>
                          <a:ea typeface="Arial"/>
                          <a:cs typeface="Arial"/>
                        </a:rPr>
                        <a:t>Cân bằng</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step + nhiên liệu</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19125">
                <a:tc>
                  <a:txBody>
                    <a:bodyPr wrap="square" lIns="104775" tIns="66675" rIns="104775" bIns="66675">
                      <a:noAutofit/>
                    </a:bodyPr>
                    <a:lstStyle/>
                    <a:p>
                      <a:pPr algn="l"/>
                      <a:r>
                        <a:rPr sz="2175" b="0">
                          <a:solidFill>
                            <a:srgbClr val="17212B"/>
                          </a:solidFill>
                          <a:latin typeface="Arial"/>
                          <a:ea typeface="Arial"/>
                          <a:cs typeface="Arial"/>
                        </a:rPr>
                        <a:t>Ưu tiên tiết kiệm</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0,001 × step + nhiên liệu</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ED08EAE-3709-4BCD-8701-6D41CA038C82}"/>
              </a:ext>
            </a:extLst>
          </p:cNvPr>
          <p:cNvSpPr>
            <a:spLocks xmlns:a="http://schemas.openxmlformats.org/drawingml/2006/main" noGrp="1"/>
          </p:cNvSpPr>
          <p:nvPr/>
        </p:nvSpPr>
        <p:spPr>
          <a:xfrm xmlns:a="http://schemas.openxmlformats.org/drawingml/2006/main">
            <a:off x="609600" y="4572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4EA6"/>
                </a:solidFill>
                <a:latin typeface="Arial"/>
                <a:ea typeface="Arial"/>
                <a:cs typeface="Arial"/>
              </a:defRPr>
            </a:defPPr>
            <a:lvl1pPr algn="l">
              <a:defRPr sz="2100" b="1">
                <a:solidFill>
                  <a:srgbClr val="174EA6"/>
                </a:solidFill>
                <a:latin typeface="Arial"/>
                <a:ea typeface="Arial"/>
                <a:cs typeface="Arial"/>
              </a:defRPr>
            </a:lvl1pPr>
            <a:lvl2pPr algn="l">
              <a:defRPr sz="2100" b="1">
                <a:solidFill>
                  <a:srgbClr val="174EA6"/>
                </a:solidFill>
                <a:latin typeface="Arial"/>
                <a:ea typeface="Arial"/>
                <a:cs typeface="Arial"/>
              </a:defRPr>
            </a:lvl2pPr>
            <a:lvl3pPr algn="l">
              <a:defRPr sz="2100" b="1">
                <a:solidFill>
                  <a:srgbClr val="174EA6"/>
                </a:solidFill>
                <a:latin typeface="Arial"/>
                <a:ea typeface="Arial"/>
                <a:cs typeface="Arial"/>
              </a:defRPr>
            </a:lvl3pPr>
            <a:lvl4pPr algn="l">
              <a:defRPr sz="2100" b="1">
                <a:solidFill>
                  <a:srgbClr val="174EA6"/>
                </a:solidFill>
                <a:latin typeface="Arial"/>
                <a:ea typeface="Arial"/>
                <a:cs typeface="Arial"/>
              </a:defRPr>
            </a:lvl4pPr>
            <a:lvl5pPr algn="l">
              <a:defRPr sz="2100" b="1">
                <a:solidFill>
                  <a:srgbClr val="174EA6"/>
                </a:solidFill>
                <a:latin typeface="Arial"/>
                <a:ea typeface="Arial"/>
                <a:cs typeface="Arial"/>
              </a:defRPr>
            </a:lvl5pPr>
            <a:lvl6pPr algn="l">
              <a:defRPr sz="2100" b="1">
                <a:solidFill>
                  <a:srgbClr val="174EA6"/>
                </a:solidFill>
                <a:latin typeface="Arial"/>
                <a:ea typeface="Arial"/>
                <a:cs typeface="Arial"/>
              </a:defRPr>
            </a:lvl6pPr>
            <a:lvl7pPr algn="l">
              <a:defRPr sz="2100" b="1">
                <a:solidFill>
                  <a:srgbClr val="174EA6"/>
                </a:solidFill>
                <a:latin typeface="Arial"/>
                <a:ea typeface="Arial"/>
                <a:cs typeface="Arial"/>
              </a:defRPr>
            </a:lvl7pPr>
            <a:lvl8pPr algn="l">
              <a:defRPr sz="2100" b="1">
                <a:solidFill>
                  <a:srgbClr val="174EA6"/>
                </a:solidFill>
                <a:latin typeface="Arial"/>
                <a:ea typeface="Arial"/>
                <a:cs typeface="Arial"/>
              </a:defRPr>
            </a:lvl8pPr>
            <a:lvl9pPr algn="l">
              <a:defRPr sz="2100" b="1">
                <a:solidFill>
                  <a:srgbClr val="174EA6"/>
                </a:solidFill>
                <a:latin typeface="Arial"/>
                <a:ea typeface="Arial"/>
                <a:cs typeface="Arial"/>
              </a:defRPr>
            </a:lvl9pPr>
          </a:lstStyle>
          <a:p xmlns:a="http://schemas.openxmlformats.org/drawingml/2006/main">
            <a:pPr algn="l">
              <a:defRPr sz="2100" b="1">
                <a:solidFill>
                  <a:srgbClr val="174EA6"/>
                </a:solidFill>
                <a:latin typeface="Arial"/>
                <a:ea typeface="Arial"/>
                <a:cs typeface="Arial"/>
              </a:defRPr>
            </a:pPr>
            <a:r>
              <a:rPr sz="2100" b="1">
                <a:solidFill>
                  <a:srgbClr val="174EA6"/>
                </a:solidFill>
                <a:latin typeface="Arial"/>
                <a:ea typeface="Arial"/>
                <a:cs typeface="Arial"/>
              </a:rPr>
              <a:t>Một nguồn có thể phục vụ nhiều đích</a:t>
            </a:r>
          </a:p>
        </p:txBody>
      </p:sp>
      <p:sp>
        <p:nvSpPr>
          <p:cNvPr id="6" name="text-4">
            <a:extLst xmlns:a="http://schemas.openxmlformats.org/drawingml/2006/main">
              <a:ext uri="{FF2B5EF4-FFF2-40B4-BE49-F238E27FC236}">
                <a16:creationId xmlns:a16="http://schemas.microsoft.com/office/drawing/2014/main" id="{22335311-6780-4CB7-88FF-E58953FD9520}"/>
              </a:ext>
            </a:extLst>
          </p:cNvPr>
          <p:cNvSpPr>
            <a:spLocks xmlns:a="http://schemas.openxmlformats.org/drawingml/2006/main" noGrp="1"/>
          </p:cNvSpPr>
          <p:nvPr/>
        </p:nvSpPr>
        <p:spPr>
          <a:xfrm xmlns:a="http://schemas.openxmlformats.org/drawingml/2006/main">
            <a:off x="609600" y="49815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Planner thường cần đường từ A tới nhiều cửa hàng. Dijkstra tạo cây từ A và lưu lại để tra nhiều lần.</a:t>
            </a:r>
          </a:p>
        </p:txBody>
      </p:sp>
      <p:sp>
        <p:nvSpPr>
          <p:cNvPr id="7" name="text-5">
            <a:extLst xmlns:a="http://schemas.openxmlformats.org/drawingml/2006/main">
              <a:ext uri="{FF2B5EF4-FFF2-40B4-BE49-F238E27FC236}">
                <a16:creationId xmlns:a16="http://schemas.microsoft.com/office/drawing/2014/main" id="{487CD369-FF4B-41AC-B8FA-3667F26011C1}"/>
              </a:ext>
            </a:extLst>
          </p:cNvPr>
          <p:cNvSpPr>
            <a:spLocks xmlns:a="http://schemas.openxmlformats.org/drawingml/2006/main" noGrp="1"/>
          </p:cNvSpPr>
          <p:nvPr/>
        </p:nvSpPr>
        <p:spPr>
          <a:xfrm xmlns:a="http://schemas.openxmlformats.org/drawingml/2006/main">
            <a:off x="609600" y="5810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12B"/>
                </a:solidFill>
                <a:latin typeface="Arial"/>
                <a:ea typeface="Arial"/>
                <a:cs typeface="Arial"/>
              </a:defRPr>
            </a:defPPr>
            <a:lvl1pPr algn="l">
              <a:defRPr sz="1875" b="1">
                <a:solidFill>
                  <a:srgbClr val="17212B"/>
                </a:solidFill>
                <a:latin typeface="Arial"/>
                <a:ea typeface="Arial"/>
                <a:cs typeface="Arial"/>
              </a:defRPr>
            </a:lvl1pPr>
            <a:lvl2pPr algn="l">
              <a:defRPr sz="1875" b="1">
                <a:solidFill>
                  <a:srgbClr val="17212B"/>
                </a:solidFill>
                <a:latin typeface="Arial"/>
                <a:ea typeface="Arial"/>
                <a:cs typeface="Arial"/>
              </a:defRPr>
            </a:lvl2pPr>
            <a:lvl3pPr algn="l">
              <a:defRPr sz="1875" b="1">
                <a:solidFill>
                  <a:srgbClr val="17212B"/>
                </a:solidFill>
                <a:latin typeface="Arial"/>
                <a:ea typeface="Arial"/>
                <a:cs typeface="Arial"/>
              </a:defRPr>
            </a:lvl3pPr>
            <a:lvl4pPr algn="l">
              <a:defRPr sz="1875" b="1">
                <a:solidFill>
                  <a:srgbClr val="17212B"/>
                </a:solidFill>
                <a:latin typeface="Arial"/>
                <a:ea typeface="Arial"/>
                <a:cs typeface="Arial"/>
              </a:defRPr>
            </a:lvl4pPr>
            <a:lvl5pPr algn="l">
              <a:defRPr sz="1875" b="1">
                <a:solidFill>
                  <a:srgbClr val="17212B"/>
                </a:solidFill>
                <a:latin typeface="Arial"/>
                <a:ea typeface="Arial"/>
                <a:cs typeface="Arial"/>
              </a:defRPr>
            </a:lvl5pPr>
            <a:lvl6pPr algn="l">
              <a:defRPr sz="1875" b="1">
                <a:solidFill>
                  <a:srgbClr val="17212B"/>
                </a:solidFill>
                <a:latin typeface="Arial"/>
                <a:ea typeface="Arial"/>
                <a:cs typeface="Arial"/>
              </a:defRPr>
            </a:lvl6pPr>
            <a:lvl7pPr algn="l">
              <a:defRPr sz="1875" b="1">
                <a:solidFill>
                  <a:srgbClr val="17212B"/>
                </a:solidFill>
                <a:latin typeface="Arial"/>
                <a:ea typeface="Arial"/>
                <a:cs typeface="Arial"/>
              </a:defRPr>
            </a:lvl7pPr>
            <a:lvl8pPr algn="l">
              <a:defRPr sz="1875" b="1">
                <a:solidFill>
                  <a:srgbClr val="17212B"/>
                </a:solidFill>
                <a:latin typeface="Arial"/>
                <a:ea typeface="Arial"/>
                <a:cs typeface="Arial"/>
              </a:defRPr>
            </a:lvl8pPr>
            <a:lvl9pPr algn="l">
              <a:defRPr sz="1875" b="1">
                <a:solidFill>
                  <a:srgbClr val="17212B"/>
                </a:solidFill>
                <a:latin typeface="Arial"/>
                <a:ea typeface="Arial"/>
                <a:cs typeface="Arial"/>
              </a:defRPr>
            </a:lvl9pPr>
          </a:lstStyle>
          <a:p xmlns:a="http://schemas.openxmlformats.org/drawingml/2006/main">
            <a:pPr algn="l">
              <a:defRPr sz="1875" b="1">
                <a:solidFill>
                  <a:srgbClr val="17212B"/>
                </a:solidFill>
                <a:latin typeface="Arial"/>
                <a:ea typeface="Arial"/>
                <a:cs typeface="Arial"/>
              </a:defRPr>
            </a:pPr>
            <a:r>
              <a:rPr sz="1875" b="1">
                <a:solidFill>
                  <a:srgbClr val="17212B"/>
                </a:solidFill>
                <a:latin typeface="Arial"/>
                <a:ea typeface="Arial"/>
                <a:cs typeface="Arial"/>
              </a:rPr>
              <a:t>Planner kiểm tra lại tài nguyên khi ghép các chặng thành tuyến.</a:t>
            </a:r>
          </a:p>
        </p:txBody>
      </p:sp>
    </p:spTree>
    <p:extLst>
      <p:ext uri="{BB962C8B-B14F-4D97-AF65-F5344CB8AC3E}">
        <p14:creationId xmlns:p14="http://schemas.microsoft.com/office/powerpoint/2010/main" val="14250824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8D00EA2D-132C-40AC-B8D4-E38AA3E1827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Lý do chọn Dijkstra lưu cây</a:t>
            </a:r>
          </a:p>
        </p:txBody>
      </p:sp>
      <p:sp>
        <p:nvSpPr>
          <p:cNvPr id="3" name="text-2">
            <a:extLst xmlns:a="http://schemas.openxmlformats.org/drawingml/2006/main">
              <a:ext uri="{FF2B5EF4-FFF2-40B4-BE49-F238E27FC236}">
                <a16:creationId xmlns:a16="http://schemas.microsoft.com/office/drawing/2014/main" id="{FEA36B4A-5173-48ED-953B-10E8B894602D}"/>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82AF2CEB-A6DC-4915-B19E-9FE1D14FDAA1}"/>
              </a:ext>
            </a:extLst>
          </p:cNvPr>
          <p:cNvSpPr>
            <a:spLocks xmlns:a="http://schemas.openxmlformats.org/drawingml/2006/main" noGrp="1"/>
          </p:cNvSpPr>
          <p:nvPr/>
        </p:nvSpPr>
        <p:spPr>
          <a:xfrm xmlns:a="http://schemas.openxmlformats.org/drawingml/2006/main">
            <a:off x="609600" y="6210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573"/>
                </a:solidFill>
                <a:latin typeface="Arial"/>
                <a:ea typeface="Arial"/>
                <a:cs typeface="Arial"/>
              </a:defRPr>
            </a:defPPr>
            <a:lvl1pPr algn="l">
              <a:defRPr sz="1200" b="0">
                <a:solidFill>
                  <a:srgbClr val="586573"/>
                </a:solidFill>
                <a:latin typeface="Arial"/>
                <a:ea typeface="Arial"/>
                <a:cs typeface="Arial"/>
              </a:defRPr>
            </a:lvl1pPr>
            <a:lvl2pPr algn="l">
              <a:defRPr sz="1200" b="0">
                <a:solidFill>
                  <a:srgbClr val="586573"/>
                </a:solidFill>
                <a:latin typeface="Arial"/>
                <a:ea typeface="Arial"/>
                <a:cs typeface="Arial"/>
              </a:defRPr>
            </a:lvl2pPr>
            <a:lvl3pPr algn="l">
              <a:defRPr sz="1200" b="0">
                <a:solidFill>
                  <a:srgbClr val="586573"/>
                </a:solidFill>
                <a:latin typeface="Arial"/>
                <a:ea typeface="Arial"/>
                <a:cs typeface="Arial"/>
              </a:defRPr>
            </a:lvl3pPr>
            <a:lvl4pPr algn="l">
              <a:defRPr sz="1200" b="0">
                <a:solidFill>
                  <a:srgbClr val="586573"/>
                </a:solidFill>
                <a:latin typeface="Arial"/>
                <a:ea typeface="Arial"/>
                <a:cs typeface="Arial"/>
              </a:defRPr>
            </a:lvl4pPr>
            <a:lvl5pPr algn="l">
              <a:defRPr sz="1200" b="0">
                <a:solidFill>
                  <a:srgbClr val="586573"/>
                </a:solidFill>
                <a:latin typeface="Arial"/>
                <a:ea typeface="Arial"/>
                <a:cs typeface="Arial"/>
              </a:defRPr>
            </a:lvl5pPr>
            <a:lvl6pPr algn="l">
              <a:defRPr sz="1200" b="0">
                <a:solidFill>
                  <a:srgbClr val="586573"/>
                </a:solidFill>
                <a:latin typeface="Arial"/>
                <a:ea typeface="Arial"/>
                <a:cs typeface="Arial"/>
              </a:defRPr>
            </a:lvl6pPr>
            <a:lvl7pPr algn="l">
              <a:defRPr sz="1200" b="0">
                <a:solidFill>
                  <a:srgbClr val="586573"/>
                </a:solidFill>
                <a:latin typeface="Arial"/>
                <a:ea typeface="Arial"/>
                <a:cs typeface="Arial"/>
              </a:defRPr>
            </a:lvl7pPr>
            <a:lvl8pPr algn="l">
              <a:defRPr sz="1200" b="0">
                <a:solidFill>
                  <a:srgbClr val="586573"/>
                </a:solidFill>
                <a:latin typeface="Arial"/>
                <a:ea typeface="Arial"/>
                <a:cs typeface="Arial"/>
              </a:defRPr>
            </a:lvl8pPr>
            <a:lvl9pPr algn="l">
              <a:defRPr sz="1200" b="0">
                <a:solidFill>
                  <a:srgbClr val="586573"/>
                </a:solidFill>
                <a:latin typeface="Arial"/>
                <a:ea typeface="Arial"/>
                <a:cs typeface="Arial"/>
              </a:defRPr>
            </a:lvl9pPr>
          </a:lstStyle>
          <a:p xmlns:a="http://schemas.openxmlformats.org/drawingml/2006/main">
            <a:pPr algn="l">
              <a:defRPr sz="1200" b="0">
                <a:solidFill>
                  <a:srgbClr val="586573"/>
                </a:solidFill>
                <a:latin typeface="Arial"/>
                <a:ea typeface="Arial"/>
                <a:cs typeface="Arial"/>
              </a:defRPr>
            </a:pPr>
            <a:r>
              <a:rPr sz="1200" b="0">
                <a:solidFill>
                  <a:srgbClr val="586573"/>
                </a:solidFill>
                <a:latin typeface="Arial"/>
                <a:ea typeface="Arial"/>
                <a:cs typeface="Arial"/>
              </a:rPr>
              <a:t>Thời gian trung bình trên cỡ 32×32, hai trạng thái đường và ba lần đo</a:t>
            </a:r>
          </a:p>
        </p:txBody>
      </p:sp>
      <p:graphicFrame>
        <p:nvGraphicFramePr>
          <p:cNvPr id="5" name="">
            <a:extLst xmlns:a="http://schemas.openxmlformats.org/drawingml/2006/main">
              <a:ext uri="{FF2B5EF4-FFF2-40B4-BE49-F238E27FC236}">
                <a16:creationId xmlns:a16="http://schemas.microsoft.com/office/drawing/2014/main" id="{4D18B66A-49C0-44F7-8258-D2D002797DC6}"/>
              </a:ext>
            </a:extLst>
          </p:cNvPr>
          <p:cNvGraphicFramePr/>
          <p:nvPr/>
        </p:nvGraphicFramePr>
        <p:xfrm>
          <a:off xmlns:a="http://schemas.openxmlformats.org/drawingml/2006/main" x="609600" y="1714500"/>
          <a:ext xmlns:a="http://schemas.openxmlformats.org/drawingml/2006/main" cx="10972800" cy="2190750"/>
        </p:xfrm>
        <a:graphic xmlns:a="http://schemas.openxmlformats.org/drawingml/2006/main">
          <a:graphicData uri="http://schemas.openxmlformats.org/drawingml/2006/table">
            <a:tbl>
              <a:tblPr/>
              <a:tblGrid>
                <a:gridCol w="4857750"/>
                <a:gridCol w="3057525"/>
                <a:gridCol w="3057525"/>
              </a:tblGrid>
              <a:tr h="730250">
                <a:tc>
                  <a:txBody>
                    <a:bodyPr wrap="square" lIns="104775" tIns="66675" rIns="104775" bIns="66675">
                      <a:noAutofit/>
                    </a:bodyPr>
                    <a:lstStyle/>
                    <a:p>
                      <a:pPr algn="l"/>
                      <a:r>
                        <a:rPr sz="2100" b="1">
                          <a:solidFill>
                            <a:srgbClr val="17212B"/>
                          </a:solidFill>
                          <a:latin typeface="Arial"/>
                          <a:ea typeface="Arial"/>
                          <a:cs typeface="Arial"/>
                        </a:rPr>
                        <a:t>Tác vụ</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100" b="1">
                          <a:solidFill>
                            <a:srgbClr val="17212B"/>
                          </a:solidFill>
                          <a:latin typeface="Arial"/>
                          <a:ea typeface="Arial"/>
                          <a:cs typeface="Arial"/>
                        </a:rPr>
                        <a:t>Dijkstra lưu cây</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100" b="1">
                          <a:solidFill>
                            <a:srgbClr val="17212B"/>
                          </a:solidFill>
                          <a:latin typeface="Arial"/>
                          <a:ea typeface="Arial"/>
                          <a:cs typeface="Arial"/>
                        </a:rPr>
                        <a:t>A* lưu từng cặp</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730250">
                <a:tc>
                  <a:txBody>
                    <a:bodyPr wrap="square" lIns="104775" tIns="66675" rIns="104775" bIns="66675">
                      <a:noAutofit/>
                    </a:bodyPr>
                    <a:lstStyle/>
                    <a:p>
                      <a:pPr algn="l"/>
                      <a:r>
                        <a:rPr sz="2175" b="0">
                          <a:solidFill>
                            <a:srgbClr val="17212B"/>
                          </a:solidFill>
                          <a:latin typeface="Arial"/>
                          <a:ea typeface="Arial"/>
                          <a:cs typeface="Arial"/>
                        </a:rPr>
                        <a:t>Một đích cho mỗi nguồn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21.085 ms</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11.929 ms</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730250">
                <a:tc>
                  <a:txBody>
                    <a:bodyPr wrap="square" lIns="104775" tIns="66675" rIns="104775" bIns="66675">
                      <a:noAutofit/>
                    </a:bodyPr>
                    <a:lstStyle/>
                    <a:p>
                      <a:pPr algn="l"/>
                      <a:r>
                        <a:rPr sz="2175" b="0">
                          <a:solidFill>
                            <a:srgbClr val="17212B"/>
                          </a:solidFill>
                          <a:latin typeface="Arial"/>
                          <a:ea typeface="Arial"/>
                          <a:cs typeface="Arial"/>
                        </a:rPr>
                        <a:t>Mọi đích từ các nguồn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22.190 ms</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174.572 ms</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42EC7E43-3816-4B98-8EF2-C9D246AB045C}"/>
              </a:ext>
            </a:extLst>
          </p:cNvPr>
          <p:cNvSpPr>
            <a:spLocks xmlns:a="http://schemas.openxmlformats.org/drawingml/2006/main" noGrp="1"/>
          </p:cNvSpPr>
          <p:nvPr/>
        </p:nvSpPr>
        <p:spPr>
          <a:xfrm xmlns:a="http://schemas.openxmlformats.org/drawingml/2006/main">
            <a:off x="609600" y="43338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A* có lợi thế ở nhiều truy vấn một đích</a:t>
            </a:r>
          </a:p>
        </p:txBody>
      </p:sp>
      <p:sp>
        <p:nvSpPr>
          <p:cNvPr id="7" name="text-5">
            <a:extLst xmlns:a="http://schemas.openxmlformats.org/drawingml/2006/main">
              <a:ext uri="{FF2B5EF4-FFF2-40B4-BE49-F238E27FC236}">
                <a16:creationId xmlns:a16="http://schemas.microsoft.com/office/drawing/2014/main" id="{07CB9687-ED81-4304-83F6-0C881D945152}"/>
              </a:ext>
            </a:extLst>
          </p:cNvPr>
          <p:cNvSpPr>
            <a:spLocks xmlns:a="http://schemas.openxmlformats.org/drawingml/2006/main" noGrp="1"/>
          </p:cNvSpPr>
          <p:nvPr/>
        </p:nvSpPr>
        <p:spPr>
          <a:xfrm xmlns:a="http://schemas.openxmlformats.org/drawingml/2006/main">
            <a:off x="609600" y="47434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Với tác vụ nhiều đích đã đo, Dijkstra lưu cây nhanh hơn 6,27–8,26 lần tùy kích thước.</a:t>
            </a:r>
          </a:p>
        </p:txBody>
      </p:sp>
      <p:sp>
        <p:nvSpPr>
          <p:cNvPr id="8" name="text-6">
            <a:extLst xmlns:a="http://schemas.openxmlformats.org/drawingml/2006/main">
              <a:ext uri="{FF2B5EF4-FFF2-40B4-BE49-F238E27FC236}">
                <a16:creationId xmlns:a16="http://schemas.microsoft.com/office/drawing/2014/main" id="{793831BC-30B9-4004-8899-099DC0BD7FB7}"/>
              </a:ext>
            </a:extLst>
          </p:cNvPr>
          <p:cNvSpPr>
            <a:spLocks xmlns:a="http://schemas.openxmlformats.org/drawingml/2006/main" noGrp="1"/>
          </p:cNvSpPr>
          <p:nvPr/>
        </p:nvSpPr>
        <p:spPr>
          <a:xfrm xmlns:a="http://schemas.openxmlformats.org/drawingml/2006/main">
            <a:off x="609600" y="55245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12B"/>
                </a:solidFill>
                <a:latin typeface="Arial"/>
                <a:ea typeface="Arial"/>
                <a:cs typeface="Arial"/>
              </a:defRPr>
            </a:defPPr>
            <a:lvl1pPr algn="l">
              <a:defRPr sz="1875" b="0">
                <a:solidFill>
                  <a:srgbClr val="17212B"/>
                </a:solidFill>
                <a:latin typeface="Arial"/>
                <a:ea typeface="Arial"/>
                <a:cs typeface="Arial"/>
              </a:defRPr>
            </a:lvl1pPr>
            <a:lvl2pPr algn="l">
              <a:defRPr sz="1875" b="0">
                <a:solidFill>
                  <a:srgbClr val="17212B"/>
                </a:solidFill>
                <a:latin typeface="Arial"/>
                <a:ea typeface="Arial"/>
                <a:cs typeface="Arial"/>
              </a:defRPr>
            </a:lvl2pPr>
            <a:lvl3pPr algn="l">
              <a:defRPr sz="1875" b="0">
                <a:solidFill>
                  <a:srgbClr val="17212B"/>
                </a:solidFill>
                <a:latin typeface="Arial"/>
                <a:ea typeface="Arial"/>
                <a:cs typeface="Arial"/>
              </a:defRPr>
            </a:lvl3pPr>
            <a:lvl4pPr algn="l">
              <a:defRPr sz="1875" b="0">
                <a:solidFill>
                  <a:srgbClr val="17212B"/>
                </a:solidFill>
                <a:latin typeface="Arial"/>
                <a:ea typeface="Arial"/>
                <a:cs typeface="Arial"/>
              </a:defRPr>
            </a:lvl4pPr>
            <a:lvl5pPr algn="l">
              <a:defRPr sz="1875" b="0">
                <a:solidFill>
                  <a:srgbClr val="17212B"/>
                </a:solidFill>
                <a:latin typeface="Arial"/>
                <a:ea typeface="Arial"/>
                <a:cs typeface="Arial"/>
              </a:defRPr>
            </a:lvl5pPr>
            <a:lvl6pPr algn="l">
              <a:defRPr sz="1875" b="0">
                <a:solidFill>
                  <a:srgbClr val="17212B"/>
                </a:solidFill>
                <a:latin typeface="Arial"/>
                <a:ea typeface="Arial"/>
                <a:cs typeface="Arial"/>
              </a:defRPr>
            </a:lvl6pPr>
            <a:lvl7pPr algn="l">
              <a:defRPr sz="1875" b="0">
                <a:solidFill>
                  <a:srgbClr val="17212B"/>
                </a:solidFill>
                <a:latin typeface="Arial"/>
                <a:ea typeface="Arial"/>
                <a:cs typeface="Arial"/>
              </a:defRPr>
            </a:lvl7pPr>
            <a:lvl8pPr algn="l">
              <a:defRPr sz="1875" b="0">
                <a:solidFill>
                  <a:srgbClr val="17212B"/>
                </a:solidFill>
                <a:latin typeface="Arial"/>
                <a:ea typeface="Arial"/>
                <a:cs typeface="Arial"/>
              </a:defRPr>
            </a:lvl8pPr>
            <a:lvl9pPr algn="l">
              <a:defRPr sz="1875" b="0">
                <a:solidFill>
                  <a:srgbClr val="17212B"/>
                </a:solidFill>
                <a:latin typeface="Arial"/>
                <a:ea typeface="Arial"/>
                <a:cs typeface="Arial"/>
              </a:defRPr>
            </a:lvl9pPr>
          </a:lstStyle>
          <a:p xmlns:a="http://schemas.openxmlformats.org/drawingml/2006/main">
            <a:pPr algn="l">
              <a:defRPr sz="1875" b="0">
                <a:solidFill>
                  <a:srgbClr val="17212B"/>
                </a:solidFill>
                <a:latin typeface="Arial"/>
                <a:ea typeface="Arial"/>
                <a:cs typeface="Arial"/>
              </a:defRPr>
            </a:pPr>
            <a:r>
              <a:rPr sz="1875" b="0">
                <a:solidFill>
                  <a:srgbClr val="17212B"/>
                </a:solidFill>
                <a:latin typeface="Arial"/>
                <a:ea typeface="Arial"/>
                <a:cs typeface="Arial"/>
              </a:rPr>
              <a:t>Đây là cơ sở chọn bộ tạo chặng cho tour. Phép đo chưa kết luận phương pháp nào cho điểm toàn trận tốt nhất.</a:t>
            </a:r>
          </a:p>
        </p:txBody>
      </p:sp>
    </p:spTree>
    <p:extLst>
      <p:ext uri="{BB962C8B-B14F-4D97-AF65-F5344CB8AC3E}">
        <p14:creationId xmlns:p14="http://schemas.microsoft.com/office/powerpoint/2010/main" val="12276793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89F94774-6CD0-4E65-9DA6-96591517199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Vai trò của năm thuật toán tìm đường</a:t>
            </a:r>
          </a:p>
        </p:txBody>
      </p:sp>
      <p:sp>
        <p:nvSpPr>
          <p:cNvPr id="3" name="text-2">
            <a:extLst xmlns:a="http://schemas.openxmlformats.org/drawingml/2006/main">
              <a:ext uri="{FF2B5EF4-FFF2-40B4-BE49-F238E27FC236}">
                <a16:creationId xmlns:a16="http://schemas.microsoft.com/office/drawing/2014/main" id="{486BEC35-A5CE-4D08-8798-13D3CE8639DA}"/>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08</a:t>
            </a:r>
          </a:p>
        </p:txBody>
      </p:sp>
      <p:sp>
        <p:nvSpPr>
          <p:cNvPr id="4" name="text-3">
            <a:extLst xmlns:a="http://schemas.openxmlformats.org/drawingml/2006/main">
              <a:ext uri="{FF2B5EF4-FFF2-40B4-BE49-F238E27FC236}">
                <a16:creationId xmlns:a16="http://schemas.microsoft.com/office/drawing/2014/main" id="{B6024FD7-B9D9-40A0-9DE3-5197C6261147}"/>
              </a:ext>
            </a:extLst>
          </p:cNvPr>
          <p:cNvSpPr>
            <a:spLocks xmlns:a="http://schemas.openxmlformats.org/drawingml/2006/main" noGrp="1"/>
          </p:cNvSpPr>
          <p:nvPr/>
        </p:nvSpPr>
        <p:spPr>
          <a:xfrm xmlns:a="http://schemas.openxmlformats.org/drawingml/2006/main">
            <a:off x="609600" y="6210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573"/>
                </a:solidFill>
                <a:latin typeface="Arial"/>
                <a:ea typeface="Arial"/>
                <a:cs typeface="Arial"/>
              </a:defRPr>
            </a:defPPr>
            <a:lvl1pPr algn="l">
              <a:defRPr sz="1200" b="0">
                <a:solidFill>
                  <a:srgbClr val="586573"/>
                </a:solidFill>
                <a:latin typeface="Arial"/>
                <a:ea typeface="Arial"/>
                <a:cs typeface="Arial"/>
              </a:defRPr>
            </a:lvl1pPr>
            <a:lvl2pPr algn="l">
              <a:defRPr sz="1200" b="0">
                <a:solidFill>
                  <a:srgbClr val="586573"/>
                </a:solidFill>
                <a:latin typeface="Arial"/>
                <a:ea typeface="Arial"/>
                <a:cs typeface="Arial"/>
              </a:defRPr>
            </a:lvl2pPr>
            <a:lvl3pPr algn="l">
              <a:defRPr sz="1200" b="0">
                <a:solidFill>
                  <a:srgbClr val="586573"/>
                </a:solidFill>
                <a:latin typeface="Arial"/>
                <a:ea typeface="Arial"/>
                <a:cs typeface="Arial"/>
              </a:defRPr>
            </a:lvl3pPr>
            <a:lvl4pPr algn="l">
              <a:defRPr sz="1200" b="0">
                <a:solidFill>
                  <a:srgbClr val="586573"/>
                </a:solidFill>
                <a:latin typeface="Arial"/>
                <a:ea typeface="Arial"/>
                <a:cs typeface="Arial"/>
              </a:defRPr>
            </a:lvl4pPr>
            <a:lvl5pPr algn="l">
              <a:defRPr sz="1200" b="0">
                <a:solidFill>
                  <a:srgbClr val="586573"/>
                </a:solidFill>
                <a:latin typeface="Arial"/>
                <a:ea typeface="Arial"/>
                <a:cs typeface="Arial"/>
              </a:defRPr>
            </a:lvl5pPr>
            <a:lvl6pPr algn="l">
              <a:defRPr sz="1200" b="0">
                <a:solidFill>
                  <a:srgbClr val="586573"/>
                </a:solidFill>
                <a:latin typeface="Arial"/>
                <a:ea typeface="Arial"/>
                <a:cs typeface="Arial"/>
              </a:defRPr>
            </a:lvl6pPr>
            <a:lvl7pPr algn="l">
              <a:defRPr sz="1200" b="0">
                <a:solidFill>
                  <a:srgbClr val="586573"/>
                </a:solidFill>
                <a:latin typeface="Arial"/>
                <a:ea typeface="Arial"/>
                <a:cs typeface="Arial"/>
              </a:defRPr>
            </a:lvl7pPr>
            <a:lvl8pPr algn="l">
              <a:defRPr sz="1200" b="0">
                <a:solidFill>
                  <a:srgbClr val="586573"/>
                </a:solidFill>
                <a:latin typeface="Arial"/>
                <a:ea typeface="Arial"/>
                <a:cs typeface="Arial"/>
              </a:defRPr>
            </a:lvl8pPr>
            <a:lvl9pPr algn="l">
              <a:defRPr sz="1200" b="0">
                <a:solidFill>
                  <a:srgbClr val="586573"/>
                </a:solidFill>
                <a:latin typeface="Arial"/>
                <a:ea typeface="Arial"/>
                <a:cs typeface="Arial"/>
              </a:defRPr>
            </a:lvl9pPr>
          </a:lstStyle>
          <a:p xmlns:a="http://schemas.openxmlformats.org/drawingml/2006/main">
            <a:pPr algn="l">
              <a:defRPr sz="1200" b="0">
                <a:solidFill>
                  <a:srgbClr val="586573"/>
                </a:solidFill>
                <a:latin typeface="Arial"/>
                <a:ea typeface="Arial"/>
                <a:cs typeface="Arial"/>
              </a:defRPr>
            </a:pPr>
            <a:r>
              <a:rPr sz="1200" b="0">
                <a:solidFill>
                  <a:srgbClr val="586573"/>
                </a:solidFill>
                <a:latin typeface="Arial"/>
                <a:ea typeface="Arial"/>
                <a:cs typeface="Arial"/>
              </a:rPr>
              <a:t>Các phép so sánh này dùng trạng thái có ràng buộc tài nguyên</a:t>
            </a:r>
          </a:p>
        </p:txBody>
      </p:sp>
      <p:graphicFrame>
        <p:nvGraphicFramePr>
          <p:cNvPr id="5" name="">
            <a:extLst xmlns:a="http://schemas.openxmlformats.org/drawingml/2006/main">
              <a:ext uri="{FF2B5EF4-FFF2-40B4-BE49-F238E27FC236}">
                <a16:creationId xmlns:a16="http://schemas.microsoft.com/office/drawing/2014/main" id="{5AFB7274-286B-4986-8CE4-4847F4024B60}"/>
              </a:ext>
            </a:extLst>
          </p:cNvPr>
          <p:cNvGraphicFramePr/>
          <p:nvPr/>
        </p:nvGraphicFramePr>
        <p:xfrm>
          <a:off xmlns:a="http://schemas.openxmlformats.org/drawingml/2006/main" x="609600" y="1600200"/>
          <a:ext xmlns:a="http://schemas.openxmlformats.org/drawingml/2006/main" cx="10972800" cy="3905250"/>
        </p:xfrm>
        <a:graphic xmlns:a="http://schemas.openxmlformats.org/drawingml/2006/main">
          <a:graphicData uri="http://schemas.openxmlformats.org/drawingml/2006/table">
            <a:tbl>
              <a:tblPr/>
              <a:tblGrid>
                <a:gridCol w="2952750"/>
                <a:gridCol w="8020050"/>
              </a:tblGrid>
              <a:tr h="650875">
                <a:tc>
                  <a:txBody>
                    <a:bodyPr wrap="square" lIns="104775" tIns="66675" rIns="104775" bIns="66675">
                      <a:noAutofit/>
                    </a:bodyPr>
                    <a:lstStyle/>
                    <a:p>
                      <a:pPr algn="l"/>
                      <a:r>
                        <a:rPr sz="1875" b="1">
                          <a:solidFill>
                            <a:srgbClr val="17212B"/>
                          </a:solidFill>
                          <a:latin typeface="Arial"/>
                          <a:ea typeface="Arial"/>
                          <a:cs typeface="Arial"/>
                        </a:rPr>
                        <a:t>Thuật toán</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75" b="1">
                          <a:solidFill>
                            <a:srgbClr val="17212B"/>
                          </a:solidFill>
                          <a:latin typeface="Arial"/>
                          <a:ea typeface="Arial"/>
                          <a:cs typeface="Arial"/>
                        </a:rPr>
                        <a:t>Kết quả khảo sát và vai trò</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650875">
                <a:tc>
                  <a:txBody>
                    <a:bodyPr wrap="square" lIns="104775" tIns="66675" rIns="104775" bIns="66675">
                      <a:noAutofit/>
                    </a:bodyPr>
                    <a:lstStyle/>
                    <a:p>
                      <a:pPr algn="l"/>
                      <a:r>
                        <a:rPr sz="1950" b="0">
                          <a:solidFill>
                            <a:srgbClr val="17212B"/>
                          </a:solidFill>
                          <a:latin typeface="Arial"/>
                          <a:ea typeface="Arial"/>
                          <a:cs typeface="Arial"/>
                        </a:rPr>
                        <a:t>DFS</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Tìm được 78/90 yêu cầu, hết giờ 12 lần</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50875">
                <a:tc>
                  <a:txBody>
                    <a:bodyPr wrap="square" lIns="104775" tIns="66675" rIns="104775" bIns="66675">
                      <a:noAutofit/>
                    </a:bodyPr>
                    <a:lstStyle/>
                    <a:p>
                      <a:pPr algn="l"/>
                      <a:r>
                        <a:rPr sz="1950" b="0">
                          <a:solidFill>
                            <a:srgbClr val="17212B"/>
                          </a:solidFill>
                          <a:latin typeface="Arial"/>
                          <a:ea typeface="Arial"/>
                          <a:cs typeface="Arial"/>
                        </a:rPr>
                        <a:t>BFS</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Ưu tiên ít cạnh, chi phí step có thể cao hơn</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50875">
                <a:tc>
                  <a:txBody>
                    <a:bodyPr wrap="square" lIns="104775" tIns="66675" rIns="104775" bIns="66675">
                      <a:noAutofit/>
                    </a:bodyPr>
                    <a:lstStyle/>
                    <a:p>
                      <a:pPr algn="l"/>
                      <a:r>
                        <a:rPr sz="1950" b="0">
                          <a:solidFill>
                            <a:srgbClr val="17212B"/>
                          </a:solidFill>
                          <a:latin typeface="Arial"/>
                          <a:ea typeface="Arial"/>
                          <a:cs typeface="Arial"/>
                        </a:rPr>
                        <a:t>Greedy Best-First</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Thường tìm nhanh, chất lượng tuyến có thể giảm</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50875">
                <a:tc>
                  <a:txBody>
                    <a:bodyPr wrap="square" lIns="104775" tIns="66675" rIns="104775" bIns="66675">
                      <a:noAutofit/>
                    </a:bodyPr>
                    <a:lstStyle/>
                    <a:p>
                      <a:pPr algn="l"/>
                      <a:r>
                        <a:rPr sz="1950" b="0">
                          <a:solidFill>
                            <a:srgbClr val="17212B"/>
                          </a:solidFill>
                          <a:latin typeface="Arial"/>
                          <a:ea typeface="Arial"/>
                          <a:cs typeface="Arial"/>
                        </a:rPr>
                        <a:t>Dijkstra</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Mốc đối chiếu tối thiểu step và bộ tạo chặng của tour</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50875">
                <a:tc>
                  <a:txBody>
                    <a:bodyPr wrap="square" lIns="104775" tIns="66675" rIns="104775" bIns="66675">
                      <a:noAutofit/>
                    </a:bodyPr>
                    <a:lstStyle/>
                    <a:p>
                      <a:pPr algn="l"/>
                      <a:r>
                        <a:rPr sz="1950" b="0">
                          <a:solidFill>
                            <a:srgbClr val="17212B"/>
                          </a:solidFill>
                          <a:latin typeface="Arial"/>
                          <a:ea typeface="Arial"/>
                          <a:cs typeface="Arial"/>
                        </a:rPr>
                        <a:t>A*</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Cùng step với Dijkstra trên 78 truy vấn chung, thường mở rộng ít nhãn hơn</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2F04BCA2-5BDA-4840-A7EB-980C565ADA3B}"/>
              </a:ext>
            </a:extLst>
          </p:cNvPr>
          <p:cNvSpPr>
            <a:spLocks xmlns:a="http://schemas.openxmlformats.org/drawingml/2006/main" noGrp="1"/>
          </p:cNvSpPr>
          <p:nvPr/>
        </p:nvSpPr>
        <p:spPr>
          <a:xfrm xmlns:a="http://schemas.openxmlformats.org/drawingml/2006/main">
            <a:off x="609600" y="57721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4EA6"/>
                </a:solidFill>
                <a:latin typeface="Arial"/>
                <a:ea typeface="Arial"/>
                <a:cs typeface="Arial"/>
              </a:defRPr>
            </a:defPPr>
            <a:lvl1pPr algn="l">
              <a:defRPr sz="1875" b="1">
                <a:solidFill>
                  <a:srgbClr val="174EA6"/>
                </a:solidFill>
                <a:latin typeface="Arial"/>
                <a:ea typeface="Arial"/>
                <a:cs typeface="Arial"/>
              </a:defRPr>
            </a:lvl1pPr>
            <a:lvl2pPr algn="l">
              <a:defRPr sz="1875" b="1">
                <a:solidFill>
                  <a:srgbClr val="174EA6"/>
                </a:solidFill>
                <a:latin typeface="Arial"/>
                <a:ea typeface="Arial"/>
                <a:cs typeface="Arial"/>
              </a:defRPr>
            </a:lvl2pPr>
            <a:lvl3pPr algn="l">
              <a:defRPr sz="1875" b="1">
                <a:solidFill>
                  <a:srgbClr val="174EA6"/>
                </a:solidFill>
                <a:latin typeface="Arial"/>
                <a:ea typeface="Arial"/>
                <a:cs typeface="Arial"/>
              </a:defRPr>
            </a:lvl3pPr>
            <a:lvl4pPr algn="l">
              <a:defRPr sz="1875" b="1">
                <a:solidFill>
                  <a:srgbClr val="174EA6"/>
                </a:solidFill>
                <a:latin typeface="Arial"/>
                <a:ea typeface="Arial"/>
                <a:cs typeface="Arial"/>
              </a:defRPr>
            </a:lvl4pPr>
            <a:lvl5pPr algn="l">
              <a:defRPr sz="1875" b="1">
                <a:solidFill>
                  <a:srgbClr val="174EA6"/>
                </a:solidFill>
                <a:latin typeface="Arial"/>
                <a:ea typeface="Arial"/>
                <a:cs typeface="Arial"/>
              </a:defRPr>
            </a:lvl5pPr>
            <a:lvl6pPr algn="l">
              <a:defRPr sz="1875" b="1">
                <a:solidFill>
                  <a:srgbClr val="174EA6"/>
                </a:solidFill>
                <a:latin typeface="Arial"/>
                <a:ea typeface="Arial"/>
                <a:cs typeface="Arial"/>
              </a:defRPr>
            </a:lvl6pPr>
            <a:lvl7pPr algn="l">
              <a:defRPr sz="1875" b="1">
                <a:solidFill>
                  <a:srgbClr val="174EA6"/>
                </a:solidFill>
                <a:latin typeface="Arial"/>
                <a:ea typeface="Arial"/>
                <a:cs typeface="Arial"/>
              </a:defRPr>
            </a:lvl7pPr>
            <a:lvl8pPr algn="l">
              <a:defRPr sz="1875" b="1">
                <a:solidFill>
                  <a:srgbClr val="174EA6"/>
                </a:solidFill>
                <a:latin typeface="Arial"/>
                <a:ea typeface="Arial"/>
                <a:cs typeface="Arial"/>
              </a:defRPr>
            </a:lvl8pPr>
            <a:lvl9pPr algn="l">
              <a:defRPr sz="1875" b="1">
                <a:solidFill>
                  <a:srgbClr val="174EA6"/>
                </a:solidFill>
                <a:latin typeface="Arial"/>
                <a:ea typeface="Arial"/>
                <a:cs typeface="Arial"/>
              </a:defRPr>
            </a:lvl9pPr>
          </a:lstStyle>
          <a:p xmlns:a="http://schemas.openxmlformats.org/drawingml/2006/main">
            <a:pPr algn="l">
              <a:defRPr sz="1875" b="1">
                <a:solidFill>
                  <a:srgbClr val="174EA6"/>
                </a:solidFill>
                <a:latin typeface="Arial"/>
                <a:ea typeface="Arial"/>
                <a:cs typeface="Arial"/>
              </a:defRPr>
            </a:pPr>
            <a:r>
              <a:rPr sz="1875" b="1">
                <a:solidFill>
                  <a:srgbClr val="174EA6"/>
                </a:solidFill>
                <a:latin typeface="Arial"/>
                <a:ea typeface="Arial"/>
                <a:cs typeface="Arial"/>
              </a:rPr>
              <a:t>Greedy Best-First tìm đường khác với phép chèn tham lam để lập tuyến.</a:t>
            </a:r>
          </a:p>
        </p:txBody>
      </p:sp>
    </p:spTree>
    <p:extLst>
      <p:ext uri="{BB962C8B-B14F-4D97-AF65-F5344CB8AC3E}">
        <p14:creationId xmlns:p14="http://schemas.microsoft.com/office/powerpoint/2010/main" val="2119616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9A2C83E6-8085-4879-8A43-ED300E67C61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Chèn tham lam để phân công điểm ghé</a:t>
            </a:r>
          </a:p>
        </p:txBody>
      </p:sp>
      <p:sp>
        <p:nvSpPr>
          <p:cNvPr id="3" name="text-2">
            <a:extLst xmlns:a="http://schemas.openxmlformats.org/drawingml/2006/main">
              <a:ext uri="{FF2B5EF4-FFF2-40B4-BE49-F238E27FC236}">
                <a16:creationId xmlns:a16="http://schemas.microsoft.com/office/drawing/2014/main" id="{6711545B-8394-42E1-93C0-F6C28092AC4E}"/>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11ACFACA-8B57-4604-B908-D83790550692}"/>
              </a:ext>
            </a:extLst>
          </p:cNvPr>
          <p:cNvSpPr>
            <a:spLocks xmlns:a="http://schemas.openxmlformats.org/drawingml/2006/main" noGrp="1"/>
          </p:cNvSpPr>
          <p:nvPr/>
        </p:nvSpPr>
        <p:spPr>
          <a:xfrm xmlns:a="http://schemas.openxmlformats.org/drawingml/2006/main">
            <a:off x="609600" y="1571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Với mỗi điểm bán, planner thử giao cho các xe và chèn vào những vị trí khác nhau trong tuyến.</a:t>
            </a:r>
          </a:p>
        </p:txBody>
      </p:sp>
      <p:graphicFrame>
        <p:nvGraphicFramePr>
          <p:cNvPr id="5" name="">
            <a:extLst xmlns:a="http://schemas.openxmlformats.org/drawingml/2006/main">
              <a:ext uri="{FF2B5EF4-FFF2-40B4-BE49-F238E27FC236}">
                <a16:creationId xmlns:a16="http://schemas.microsoft.com/office/drawing/2014/main" id="{BFFAA698-B607-4110-A8C2-65CB356B3089}"/>
              </a:ext>
            </a:extLst>
          </p:cNvPr>
          <p:cNvGraphicFramePr/>
          <p:nvPr/>
        </p:nvGraphicFramePr>
        <p:xfrm>
          <a:off xmlns:a="http://schemas.openxmlformats.org/drawingml/2006/main" x="609600" y="2647950"/>
          <a:ext xmlns:a="http://schemas.openxmlformats.org/drawingml/2006/main" cx="10972800" cy="2571750"/>
        </p:xfrm>
        <a:graphic xmlns:a="http://schemas.openxmlformats.org/drawingml/2006/main">
          <a:graphicData uri="http://schemas.openxmlformats.org/drawingml/2006/table">
            <a:tbl>
              <a:tblPr/>
              <a:tblGrid>
                <a:gridCol w="3333750"/>
                <a:gridCol w="7639050"/>
              </a:tblGrid>
              <a:tr h="514350">
                <a:tc>
                  <a:txBody>
                    <a:bodyPr wrap="square" lIns="104775" tIns="66675" rIns="104775" bIns="66675">
                      <a:noAutofit/>
                    </a:bodyPr>
                    <a:lstStyle/>
                    <a:p>
                      <a:pPr algn="l"/>
                      <a:r>
                        <a:rPr sz="1950" b="1">
                          <a:solidFill>
                            <a:srgbClr val="17212B"/>
                          </a:solidFill>
                          <a:latin typeface="Arial"/>
                          <a:ea typeface="Arial"/>
                          <a:cs typeface="Arial"/>
                        </a:rPr>
                        <a:t>Thứ tự ưu tiên</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950" b="1">
                          <a:solidFill>
                            <a:srgbClr val="17212B"/>
                          </a:solidFill>
                          <a:latin typeface="Arial"/>
                          <a:ea typeface="Arial"/>
                          <a:cs typeface="Arial"/>
                        </a:rPr>
                        <a:t>Phép chèn mang lại điều gì?</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514350">
                <a:tc>
                  <a:txBody>
                    <a:bodyPr wrap="square" lIns="104775" tIns="66675" rIns="104775" bIns="66675">
                      <a:noAutofit/>
                    </a:bodyPr>
                    <a:lstStyle/>
                    <a:p>
                      <a:pPr algn="l"/>
                      <a:r>
                        <a:rPr sz="2025" b="0">
                          <a:solidFill>
                            <a:srgbClr val="17212B"/>
                          </a:solidFill>
                          <a:latin typeface="Arial"/>
                          <a:ea typeface="Arial"/>
                          <a:cs typeface="Arial"/>
                        </a:rPr>
                        <a:t>1</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Bổ sung loại udon chưa có trong cả trận</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14350">
                <a:tc>
                  <a:txBody>
                    <a:bodyPr wrap="square" lIns="104775" tIns="66675" rIns="104775" bIns="66675">
                      <a:noAutofit/>
                    </a:bodyPr>
                    <a:lstStyle/>
                    <a:p>
                      <a:pPr algn="l"/>
                      <a:r>
                        <a:rPr sz="2025" b="0">
                          <a:solidFill>
                            <a:srgbClr val="17212B"/>
                          </a:solidFill>
                          <a:latin typeface="Arial"/>
                          <a:ea typeface="Arial"/>
                          <a:cs typeface="Arial"/>
                        </a:rPr>
                        <a:t>2</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Bổ sung loại udon còn thiếu trong ngày hôm nay</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14350">
                <a:tc>
                  <a:txBody>
                    <a:bodyPr wrap="square" lIns="104775" tIns="66675" rIns="104775" bIns="66675">
                      <a:noAutofit/>
                    </a:bodyPr>
                    <a:lstStyle/>
                    <a:p>
                      <a:pPr algn="l"/>
                      <a:r>
                        <a:rPr sz="2025" b="0">
                          <a:solidFill>
                            <a:srgbClr val="17212B"/>
                          </a:solidFill>
                          <a:latin typeface="Arial"/>
                          <a:ea typeface="Arial"/>
                          <a:cs typeface="Arial"/>
                        </a:rPr>
                        <a:t>3</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Thu thêm suất từ kho còn hàng</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14350">
                <a:tc>
                  <a:txBody>
                    <a:bodyPr wrap="square" lIns="104775" tIns="66675" rIns="104775" bIns="66675">
                      <a:noAutofit/>
                    </a:bodyPr>
                    <a:lstStyle/>
                    <a:p>
                      <a:pPr algn="l"/>
                      <a:r>
                        <a:rPr sz="2025" b="0">
                          <a:solidFill>
                            <a:srgbClr val="17212B"/>
                          </a:solidFill>
                          <a:latin typeface="Arial"/>
                          <a:ea typeface="Arial"/>
                          <a:cs typeface="Arial"/>
                        </a:rPr>
                        <a:t>Khi lợi ích tương đương</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025" b="0">
                          <a:solidFill>
                            <a:srgbClr val="17212B"/>
                          </a:solidFill>
                          <a:latin typeface="Arial"/>
                          <a:ea typeface="Arial"/>
                          <a:cs typeface="Arial"/>
                        </a:rPr>
                        <a:t>Chọn phép chèn làm tăng chi phí ít hơn</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226E7225-B5EE-4AB1-93D8-427032FC48C1}"/>
              </a:ext>
            </a:extLst>
          </p:cNvPr>
          <p:cNvSpPr>
            <a:spLocks xmlns:a="http://schemas.openxmlformats.org/drawingml/2006/main" noGrp="1"/>
          </p:cNvSpPr>
          <p:nvPr/>
        </p:nvSpPr>
        <p:spPr>
          <a:xfrm xmlns:a="http://schemas.openxmlformats.org/drawingml/2006/main">
            <a:off x="609600" y="55721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4EA6"/>
                </a:solidFill>
                <a:latin typeface="Arial"/>
                <a:ea typeface="Arial"/>
                <a:cs typeface="Arial"/>
              </a:defRPr>
            </a:defPPr>
            <a:lvl1pPr algn="l">
              <a:defRPr sz="2025" b="1">
                <a:solidFill>
                  <a:srgbClr val="174EA6"/>
                </a:solidFill>
                <a:latin typeface="Arial"/>
                <a:ea typeface="Arial"/>
                <a:cs typeface="Arial"/>
              </a:defRPr>
            </a:lvl1pPr>
            <a:lvl2pPr algn="l">
              <a:defRPr sz="2025" b="1">
                <a:solidFill>
                  <a:srgbClr val="174EA6"/>
                </a:solidFill>
                <a:latin typeface="Arial"/>
                <a:ea typeface="Arial"/>
                <a:cs typeface="Arial"/>
              </a:defRPr>
            </a:lvl2pPr>
            <a:lvl3pPr algn="l">
              <a:defRPr sz="2025" b="1">
                <a:solidFill>
                  <a:srgbClr val="174EA6"/>
                </a:solidFill>
                <a:latin typeface="Arial"/>
                <a:ea typeface="Arial"/>
                <a:cs typeface="Arial"/>
              </a:defRPr>
            </a:lvl3pPr>
            <a:lvl4pPr algn="l">
              <a:defRPr sz="2025" b="1">
                <a:solidFill>
                  <a:srgbClr val="174EA6"/>
                </a:solidFill>
                <a:latin typeface="Arial"/>
                <a:ea typeface="Arial"/>
                <a:cs typeface="Arial"/>
              </a:defRPr>
            </a:lvl4pPr>
            <a:lvl5pPr algn="l">
              <a:defRPr sz="2025" b="1">
                <a:solidFill>
                  <a:srgbClr val="174EA6"/>
                </a:solidFill>
                <a:latin typeface="Arial"/>
                <a:ea typeface="Arial"/>
                <a:cs typeface="Arial"/>
              </a:defRPr>
            </a:lvl5pPr>
            <a:lvl6pPr algn="l">
              <a:defRPr sz="2025" b="1">
                <a:solidFill>
                  <a:srgbClr val="174EA6"/>
                </a:solidFill>
                <a:latin typeface="Arial"/>
                <a:ea typeface="Arial"/>
                <a:cs typeface="Arial"/>
              </a:defRPr>
            </a:lvl6pPr>
            <a:lvl7pPr algn="l">
              <a:defRPr sz="2025" b="1">
                <a:solidFill>
                  <a:srgbClr val="174EA6"/>
                </a:solidFill>
                <a:latin typeface="Arial"/>
                <a:ea typeface="Arial"/>
                <a:cs typeface="Arial"/>
              </a:defRPr>
            </a:lvl7pPr>
            <a:lvl8pPr algn="l">
              <a:defRPr sz="2025" b="1">
                <a:solidFill>
                  <a:srgbClr val="174EA6"/>
                </a:solidFill>
                <a:latin typeface="Arial"/>
                <a:ea typeface="Arial"/>
                <a:cs typeface="Arial"/>
              </a:defRPr>
            </a:lvl8pPr>
            <a:lvl9pPr algn="l">
              <a:defRPr sz="2025" b="1">
                <a:solidFill>
                  <a:srgbClr val="174EA6"/>
                </a:solidFill>
                <a:latin typeface="Arial"/>
                <a:ea typeface="Arial"/>
                <a:cs typeface="Arial"/>
              </a:defRPr>
            </a:lvl9pPr>
          </a:lstStyle>
          <a:p xmlns:a="http://schemas.openxmlformats.org/drawingml/2006/main">
            <a:pPr algn="l">
              <a:defRPr sz="2025" b="1">
                <a:solidFill>
                  <a:srgbClr val="174EA6"/>
                </a:solidFill>
                <a:latin typeface="Arial"/>
                <a:ea typeface="Arial"/>
                <a:cs typeface="Arial"/>
              </a:defRPr>
            </a:pPr>
            <a:r>
              <a:rPr sz="2025" b="1">
                <a:solidFill>
                  <a:srgbClr val="174EA6"/>
                </a:solidFill>
                <a:latin typeface="Arial"/>
                <a:ea typeface="Arial"/>
                <a:cs typeface="Arial"/>
              </a:rPr>
              <a:t>Các xe dùng chung thông tin kho. Điểm bán nằm trên chặng đi cũng được tính vào tập đã ghé.</a:t>
            </a:r>
          </a:p>
        </p:txBody>
      </p:sp>
    </p:spTree>
    <p:extLst>
      <p:ext uri="{BB962C8B-B14F-4D97-AF65-F5344CB8AC3E}">
        <p14:creationId xmlns:p14="http://schemas.microsoft.com/office/powerpoint/2010/main" val="974204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C40C74AF-7BB0-491B-80D3-FA97CE7AAFD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Cải thiện bằng cách phá và dựng lại tuyến</a:t>
            </a:r>
          </a:p>
        </p:txBody>
      </p:sp>
      <p:sp>
        <p:nvSpPr>
          <p:cNvPr id="3" name="text-2">
            <a:extLst xmlns:a="http://schemas.openxmlformats.org/drawingml/2006/main">
              <a:ext uri="{FF2B5EF4-FFF2-40B4-BE49-F238E27FC236}">
                <a16:creationId xmlns:a16="http://schemas.microsoft.com/office/drawing/2014/main" id="{7B8CAAD2-F9E4-43FA-B202-72F51F161478}"/>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B14BF66D-3267-4778-A4A2-44DD118ACF26}"/>
              </a:ext>
            </a:extLst>
          </p:cNvPr>
          <p:cNvPicPr>
            <a:picLocks xmlns:a="http://schemas.openxmlformats.org/drawingml/2006/main" noChangeAspect="1"/>
          </p:cNvPicPr>
          <p:nvPr/>
        </p:nvPicPr>
        <p:blipFill>
          <a:blip xmlns:r="http://schemas.openxmlformats.org/officeDocument/2006/relationships" xmlns:a="http://schemas.openxmlformats.org/drawingml/2006/main" r:embed="Recf694acc00e43f9"/>
          <a:stretch xmlns:a="http://schemas.openxmlformats.org/drawingml/2006/main"/>
        </p:blipFill>
        <p:spPr>
          <a:xfrm xmlns:a="http://schemas.openxmlformats.org/drawingml/2006/main">
            <a:off x="1227667" y="1619250"/>
            <a:ext cx="9736667" cy="4381500"/>
          </a:xfrm>
          <a:prstGeom xmlns:a="http://schemas.openxmlformats.org/drawingml/2006/main" prst="rect">
            <a:avLst/>
          </a:prstGeom>
        </p:spPr>
      </p:pic>
    </p:spTree>
    <p:extLst>
      <p:ext uri="{BB962C8B-B14F-4D97-AF65-F5344CB8AC3E}">
        <p14:creationId xmlns:p14="http://schemas.microsoft.com/office/powerpoint/2010/main" val="387937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BD9AB117-30AA-4E73-BCD7-9A697E96DFA4}"/>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Tìm kiếm cục bộ trong ngân sách còn lại</a:t>
            </a:r>
          </a:p>
        </p:txBody>
      </p:sp>
      <p:sp>
        <p:nvSpPr>
          <p:cNvPr id="3" name="text-2">
            <a:extLst xmlns:a="http://schemas.openxmlformats.org/drawingml/2006/main">
              <a:ext uri="{FF2B5EF4-FFF2-40B4-BE49-F238E27FC236}">
                <a16:creationId xmlns:a16="http://schemas.microsoft.com/office/drawing/2014/main" id="{78CAC7A8-84B5-4DD6-80B3-070B0F83E786}"/>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ABD020A8-235D-4F10-BD68-35C72D292165}"/>
              </a:ext>
            </a:extLst>
          </p:cNvPr>
          <p:cNvSpPr>
            <a:spLocks xmlns:a="http://schemas.openxmlformats.org/drawingml/2006/main" noGrp="1"/>
          </p:cNvSpPr>
          <p:nvPr/>
        </p:nvSpPr>
        <p:spPr>
          <a:xfrm xmlns:a="http://schemas.openxmlformats.org/drawingml/2006/main">
            <a:off x="609600" y="157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Tạo một phương án khác</a:t>
            </a:r>
          </a:p>
        </p:txBody>
      </p:sp>
      <p:sp>
        <p:nvSpPr>
          <p:cNvPr id="5" name="text-4">
            <a:extLst xmlns:a="http://schemas.openxmlformats.org/drawingml/2006/main">
              <a:ext uri="{FF2B5EF4-FFF2-40B4-BE49-F238E27FC236}">
                <a16:creationId xmlns:a16="http://schemas.microsoft.com/office/drawing/2014/main" id="{6B55C581-FC50-4742-9E02-38120AB25893}"/>
              </a:ext>
            </a:extLst>
          </p:cNvPr>
          <p:cNvSpPr>
            <a:spLocks xmlns:a="http://schemas.openxmlformats.org/drawingml/2006/main" noGrp="1"/>
          </p:cNvSpPr>
          <p:nvPr/>
        </p:nvSpPr>
        <p:spPr>
          <a:xfrm xmlns:a="http://schemas.openxmlformats.org/drawingml/2006/main">
            <a:off x="609600" y="198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Planner bỏ một vài điểm, thử đổi kiểu đường rồi chèn lại vào các tuyến của cả đội.</a:t>
            </a:r>
          </a:p>
        </p:txBody>
      </p:sp>
      <p:sp>
        <p:nvSpPr>
          <p:cNvPr id="6" name="text-5">
            <a:extLst xmlns:a="http://schemas.openxmlformats.org/drawingml/2006/main">
              <a:ext uri="{FF2B5EF4-FFF2-40B4-BE49-F238E27FC236}">
                <a16:creationId xmlns:a16="http://schemas.microsoft.com/office/drawing/2014/main" id="{928A1150-BEAE-4C7A-9C38-27607B9CDA71}"/>
              </a:ext>
            </a:extLst>
          </p:cNvPr>
          <p:cNvSpPr>
            <a:spLocks xmlns:a="http://schemas.openxmlformats.org/drawingml/2006/main" noGrp="1"/>
          </p:cNvSpPr>
          <p:nvPr/>
        </p:nvSpPr>
        <p:spPr>
          <a:xfrm xmlns:a="http://schemas.openxmlformats.org/drawingml/2006/main">
            <a:off x="609600" y="3143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Đánh giá rồi mới giữ lại</a:t>
            </a:r>
          </a:p>
        </p:txBody>
      </p:sp>
      <p:sp>
        <p:nvSpPr>
          <p:cNvPr id="7" name="text-6">
            <a:extLst xmlns:a="http://schemas.openxmlformats.org/drawingml/2006/main">
              <a:ext uri="{FF2B5EF4-FFF2-40B4-BE49-F238E27FC236}">
                <a16:creationId xmlns:a16="http://schemas.microsoft.com/office/drawing/2014/main" id="{6378F2F1-34BF-4311-800F-C9EA52B46B47}"/>
              </a:ext>
            </a:extLst>
          </p:cNvPr>
          <p:cNvSpPr>
            <a:spLocks xmlns:a="http://schemas.openxmlformats.org/drawingml/2006/main" noGrp="1"/>
          </p:cNvSpPr>
          <p:nvPr/>
        </p:nvSpPr>
        <p:spPr>
          <a:xfrm xmlns:a="http://schemas.openxmlformats.org/drawingml/2006/main">
            <a:off x="609600" y="3552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Chương trình ưu tiên loại mới, loại trong ngày và số suất. Khi bằng nhau, nó xét nhiên liệu và step.</a:t>
            </a:r>
          </a:p>
        </p:txBody>
      </p:sp>
      <p:sp>
        <p:nvSpPr>
          <p:cNvPr id="8" name="text-7">
            <a:extLst xmlns:a="http://schemas.openxmlformats.org/drawingml/2006/main">
              <a:ext uri="{FF2B5EF4-FFF2-40B4-BE49-F238E27FC236}">
                <a16:creationId xmlns:a16="http://schemas.microsoft.com/office/drawing/2014/main" id="{82D9C79B-B26B-479E-A379-8C972407EEC9}"/>
              </a:ext>
            </a:extLst>
          </p:cNvPr>
          <p:cNvSpPr>
            <a:spLocks xmlns:a="http://schemas.openxmlformats.org/drawingml/2006/main" noGrp="1"/>
          </p:cNvSpPr>
          <p:nvPr/>
        </p:nvSpPr>
        <p:spPr>
          <a:xfrm xmlns:a="http://schemas.openxmlformats.org/drawingml/2006/main">
            <a:off x="609600" y="47148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4EA6"/>
                </a:solidFill>
                <a:latin typeface="Arial"/>
                <a:ea typeface="Arial"/>
                <a:cs typeface="Arial"/>
              </a:defRPr>
            </a:defPPr>
            <a:lvl1pPr algn="l">
              <a:defRPr sz="2100" b="1">
                <a:solidFill>
                  <a:srgbClr val="174EA6"/>
                </a:solidFill>
                <a:latin typeface="Arial"/>
                <a:ea typeface="Arial"/>
                <a:cs typeface="Arial"/>
              </a:defRPr>
            </a:lvl1pPr>
            <a:lvl2pPr algn="l">
              <a:defRPr sz="2100" b="1">
                <a:solidFill>
                  <a:srgbClr val="174EA6"/>
                </a:solidFill>
                <a:latin typeface="Arial"/>
                <a:ea typeface="Arial"/>
                <a:cs typeface="Arial"/>
              </a:defRPr>
            </a:lvl2pPr>
            <a:lvl3pPr algn="l">
              <a:defRPr sz="2100" b="1">
                <a:solidFill>
                  <a:srgbClr val="174EA6"/>
                </a:solidFill>
                <a:latin typeface="Arial"/>
                <a:ea typeface="Arial"/>
                <a:cs typeface="Arial"/>
              </a:defRPr>
            </a:lvl3pPr>
            <a:lvl4pPr algn="l">
              <a:defRPr sz="2100" b="1">
                <a:solidFill>
                  <a:srgbClr val="174EA6"/>
                </a:solidFill>
                <a:latin typeface="Arial"/>
                <a:ea typeface="Arial"/>
                <a:cs typeface="Arial"/>
              </a:defRPr>
            </a:lvl4pPr>
            <a:lvl5pPr algn="l">
              <a:defRPr sz="2100" b="1">
                <a:solidFill>
                  <a:srgbClr val="174EA6"/>
                </a:solidFill>
                <a:latin typeface="Arial"/>
                <a:ea typeface="Arial"/>
                <a:cs typeface="Arial"/>
              </a:defRPr>
            </a:lvl5pPr>
            <a:lvl6pPr algn="l">
              <a:defRPr sz="2100" b="1">
                <a:solidFill>
                  <a:srgbClr val="174EA6"/>
                </a:solidFill>
                <a:latin typeface="Arial"/>
                <a:ea typeface="Arial"/>
                <a:cs typeface="Arial"/>
              </a:defRPr>
            </a:lvl6pPr>
            <a:lvl7pPr algn="l">
              <a:defRPr sz="2100" b="1">
                <a:solidFill>
                  <a:srgbClr val="174EA6"/>
                </a:solidFill>
                <a:latin typeface="Arial"/>
                <a:ea typeface="Arial"/>
                <a:cs typeface="Arial"/>
              </a:defRPr>
            </a:lvl7pPr>
            <a:lvl8pPr algn="l">
              <a:defRPr sz="2100" b="1">
                <a:solidFill>
                  <a:srgbClr val="174EA6"/>
                </a:solidFill>
                <a:latin typeface="Arial"/>
                <a:ea typeface="Arial"/>
                <a:cs typeface="Arial"/>
              </a:defRPr>
            </a:lvl8pPr>
            <a:lvl9pPr algn="l">
              <a:defRPr sz="2100" b="1">
                <a:solidFill>
                  <a:srgbClr val="174EA6"/>
                </a:solidFill>
                <a:latin typeface="Arial"/>
                <a:ea typeface="Arial"/>
                <a:cs typeface="Arial"/>
              </a:defRPr>
            </a:lvl9pPr>
          </a:lstStyle>
          <a:p xmlns:a="http://schemas.openxmlformats.org/drawingml/2006/main">
            <a:pPr algn="l">
              <a:defRPr sz="2100" b="1">
                <a:solidFill>
                  <a:srgbClr val="174EA6"/>
                </a:solidFill>
                <a:latin typeface="Arial"/>
                <a:ea typeface="Arial"/>
                <a:cs typeface="Arial"/>
              </a:defRPr>
            </a:pPr>
            <a:r>
              <a:rPr sz="2100" b="1">
                <a:solidFill>
                  <a:srgbClr val="174EA6"/>
                </a:solidFill>
                <a:latin typeface="Arial"/>
                <a:ea typeface="Arial"/>
                <a:cs typeface="Arial"/>
              </a:rPr>
              <a:t>Ngẫu nhiên mở rộng các cách thử</a:t>
            </a:r>
          </a:p>
        </p:txBody>
      </p:sp>
      <p:sp>
        <p:nvSpPr>
          <p:cNvPr id="9" name="text-8">
            <a:extLst xmlns:a="http://schemas.openxmlformats.org/drawingml/2006/main">
              <a:ext uri="{FF2B5EF4-FFF2-40B4-BE49-F238E27FC236}">
                <a16:creationId xmlns:a16="http://schemas.microsoft.com/office/drawing/2014/main" id="{F7F6C150-C141-43D4-87F3-5B5F2F1A3549}"/>
              </a:ext>
            </a:extLst>
          </p:cNvPr>
          <p:cNvSpPr>
            <a:spLocks xmlns:a="http://schemas.openxmlformats.org/drawingml/2006/main" noGrp="1"/>
          </p:cNvSpPr>
          <p:nvPr/>
        </p:nvSpPr>
        <p:spPr>
          <a:xfrm xmlns:a="http://schemas.openxmlformats.org/drawingml/2006/main">
            <a:off x="609600" y="51244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Seed xác định chuỗi số giả ngẫu nhiên. Điểm dừng theo đồng hồ vẫn có thể khiến kết quả chạy lại khác nhau.</a:t>
            </a:r>
          </a:p>
        </p:txBody>
      </p:sp>
    </p:spTree>
    <p:extLst>
      <p:ext uri="{BB962C8B-B14F-4D97-AF65-F5344CB8AC3E}">
        <p14:creationId xmlns:p14="http://schemas.microsoft.com/office/powerpoint/2010/main" val="10913660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69156F2E-AF0E-41CC-83AD-6AA6D9CDCB6B}"/>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Điểm hẹn tiếp tế và nhiên liệu dự phòng</a:t>
            </a:r>
          </a:p>
        </p:txBody>
      </p:sp>
      <p:sp>
        <p:nvSpPr>
          <p:cNvPr id="3" name="text-2">
            <a:extLst xmlns:a="http://schemas.openxmlformats.org/drawingml/2006/main">
              <a:ext uri="{FF2B5EF4-FFF2-40B4-BE49-F238E27FC236}">
                <a16:creationId xmlns:a16="http://schemas.microsoft.com/office/drawing/2014/main" id="{F56B7467-9E7A-47FF-9B4A-6595EA1B52C7}"/>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6134E043-3291-4C70-AC40-142202E04946}"/>
              </a:ext>
            </a:extLst>
          </p:cNvPr>
          <p:cNvSpPr>
            <a:spLocks xmlns:a="http://schemas.openxmlformats.org/drawingml/2006/main" noGrp="1"/>
          </p:cNvSpPr>
          <p:nvPr/>
        </p:nvSpPr>
        <p:spPr>
          <a:xfrm xmlns:a="http://schemas.openxmlformats.org/drawingml/2006/main">
            <a:off x="609600" y="1571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4EA6"/>
                </a:solidFill>
                <a:latin typeface="Arial"/>
                <a:ea typeface="Arial"/>
                <a:cs typeface="Arial"/>
              </a:defRPr>
            </a:defPPr>
            <a:lvl1pPr algn="l">
              <a:defRPr sz="2250" b="1">
                <a:solidFill>
                  <a:srgbClr val="174EA6"/>
                </a:solidFill>
                <a:latin typeface="Arial"/>
                <a:ea typeface="Arial"/>
                <a:cs typeface="Arial"/>
              </a:defRPr>
            </a:lvl1pPr>
            <a:lvl2pPr algn="l">
              <a:defRPr sz="2250" b="1">
                <a:solidFill>
                  <a:srgbClr val="174EA6"/>
                </a:solidFill>
                <a:latin typeface="Arial"/>
                <a:ea typeface="Arial"/>
                <a:cs typeface="Arial"/>
              </a:defRPr>
            </a:lvl2pPr>
            <a:lvl3pPr algn="l">
              <a:defRPr sz="2250" b="1">
                <a:solidFill>
                  <a:srgbClr val="174EA6"/>
                </a:solidFill>
                <a:latin typeface="Arial"/>
                <a:ea typeface="Arial"/>
                <a:cs typeface="Arial"/>
              </a:defRPr>
            </a:lvl3pPr>
            <a:lvl4pPr algn="l">
              <a:defRPr sz="2250" b="1">
                <a:solidFill>
                  <a:srgbClr val="174EA6"/>
                </a:solidFill>
                <a:latin typeface="Arial"/>
                <a:ea typeface="Arial"/>
                <a:cs typeface="Arial"/>
              </a:defRPr>
            </a:lvl4pPr>
            <a:lvl5pPr algn="l">
              <a:defRPr sz="2250" b="1">
                <a:solidFill>
                  <a:srgbClr val="174EA6"/>
                </a:solidFill>
                <a:latin typeface="Arial"/>
                <a:ea typeface="Arial"/>
                <a:cs typeface="Arial"/>
              </a:defRPr>
            </a:lvl5pPr>
            <a:lvl6pPr algn="l">
              <a:defRPr sz="2250" b="1">
                <a:solidFill>
                  <a:srgbClr val="174EA6"/>
                </a:solidFill>
                <a:latin typeface="Arial"/>
                <a:ea typeface="Arial"/>
                <a:cs typeface="Arial"/>
              </a:defRPr>
            </a:lvl6pPr>
            <a:lvl7pPr algn="l">
              <a:defRPr sz="2250" b="1">
                <a:solidFill>
                  <a:srgbClr val="174EA6"/>
                </a:solidFill>
                <a:latin typeface="Arial"/>
                <a:ea typeface="Arial"/>
                <a:cs typeface="Arial"/>
              </a:defRPr>
            </a:lvl7pPr>
            <a:lvl8pPr algn="l">
              <a:defRPr sz="2250" b="1">
                <a:solidFill>
                  <a:srgbClr val="174EA6"/>
                </a:solidFill>
                <a:latin typeface="Arial"/>
                <a:ea typeface="Arial"/>
                <a:cs typeface="Arial"/>
              </a:defRPr>
            </a:lvl8pPr>
            <a:lvl9pPr algn="l">
              <a:defRPr sz="2250" b="1">
                <a:solidFill>
                  <a:srgbClr val="174EA6"/>
                </a:solidFill>
                <a:latin typeface="Arial"/>
                <a:ea typeface="Arial"/>
                <a:cs typeface="Arial"/>
              </a:defRPr>
            </a:lvl9pPr>
          </a:lstStyle>
          <a:p xmlns:a="http://schemas.openxmlformats.org/drawingml/2006/main">
            <a:pPr algn="l">
              <a:defRPr sz="2250" b="1">
                <a:solidFill>
                  <a:srgbClr val="174EA6"/>
                </a:solidFill>
                <a:latin typeface="Arial"/>
                <a:ea typeface="Arial"/>
                <a:cs typeface="Arial"/>
              </a:defRPr>
            </a:pPr>
            <a:r>
              <a:rPr sz="2250" b="1">
                <a:solidFill>
                  <a:srgbClr val="174EA6"/>
                </a:solidFill>
                <a:latin typeface="Arial"/>
                <a:ea typeface="Arial"/>
                <a:cs typeface="Arial"/>
              </a:rPr>
              <a:t>Planner kiểm tra cả nhiên liệu tới điểm ghé và phần dự phòng để quay về nơi tiếp tế.</a:t>
            </a:r>
          </a:p>
        </p:txBody>
      </p:sp>
      <p:graphicFrame>
        <p:nvGraphicFramePr>
          <p:cNvPr id="5" name="">
            <a:extLst xmlns:a="http://schemas.openxmlformats.org/drawingml/2006/main">
              <a:ext uri="{FF2B5EF4-FFF2-40B4-BE49-F238E27FC236}">
                <a16:creationId xmlns:a16="http://schemas.microsoft.com/office/drawing/2014/main" id="{1E2A47A1-8ECA-4886-A2BE-DE867864D10B}"/>
              </a:ext>
            </a:extLst>
          </p:cNvPr>
          <p:cNvGraphicFramePr/>
          <p:nvPr/>
        </p:nvGraphicFramePr>
        <p:xfrm>
          <a:off xmlns:a="http://schemas.openxmlformats.org/drawingml/2006/main" x="609600" y="2714625"/>
          <a:ext xmlns:a="http://schemas.openxmlformats.org/drawingml/2006/main" cx="8572500" cy="2286000"/>
        </p:xfrm>
        <a:graphic xmlns:a="http://schemas.openxmlformats.org/drawingml/2006/main">
          <a:graphicData uri="http://schemas.openxmlformats.org/drawingml/2006/table">
            <a:tbl>
              <a:tblPr/>
              <a:tblGrid>
                <a:gridCol w="6191250"/>
                <a:gridCol w="2381250"/>
              </a:tblGrid>
              <a:tr h="571500">
                <a:tc>
                  <a:txBody>
                    <a:bodyPr wrap="square" lIns="104775" tIns="66675" rIns="104775" bIns="66675">
                      <a:noAutofit/>
                    </a:bodyPr>
                    <a:lstStyle/>
                    <a:p>
                      <a:pPr algn="l"/>
                      <a:r>
                        <a:rPr sz="2025" b="1">
                          <a:solidFill>
                            <a:srgbClr val="17212B"/>
                          </a:solidFill>
                          <a:latin typeface="Arial"/>
                          <a:ea typeface="Arial"/>
                          <a:cs typeface="Arial"/>
                        </a:rPr>
                        <a:t>Ví dụ minh họa</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025" b="1">
                          <a:solidFill>
                            <a:srgbClr val="17212B"/>
                          </a:solidFill>
                          <a:latin typeface="Arial"/>
                          <a:ea typeface="Arial"/>
                          <a:cs typeface="Arial"/>
                        </a:rPr>
                        <a:t>Nhiên liệu</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571500">
                <a:tc>
                  <a:txBody>
                    <a:bodyPr wrap="square" lIns="104775" tIns="66675" rIns="104775" bIns="66675">
                      <a:noAutofit/>
                    </a:bodyPr>
                    <a:lstStyle/>
                    <a:p>
                      <a:pPr algn="l"/>
                      <a:r>
                        <a:rPr sz="2100" b="0">
                          <a:solidFill>
                            <a:srgbClr val="17212B"/>
                          </a:solidFill>
                          <a:latin typeface="Arial"/>
                          <a:ea typeface="Arial"/>
                          <a:cs typeface="Arial"/>
                        </a:rPr>
                        <a:t>Xe tuần tra hiện còn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10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00" b="0">
                          <a:solidFill>
                            <a:srgbClr val="17212B"/>
                          </a:solidFill>
                          <a:latin typeface="Arial"/>
                          <a:ea typeface="Arial"/>
                          <a:cs typeface="Arial"/>
                        </a:rPr>
                        <a:t>Đi tới điểm bán B cần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6</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00" b="0">
                          <a:solidFill>
                            <a:srgbClr val="17212B"/>
                          </a:solidFill>
                          <a:latin typeface="Arial"/>
                          <a:ea typeface="Arial"/>
                          <a:cs typeface="Arial"/>
                        </a:rPr>
                        <a:t>Từ B về điểm hẹn cần ít nhất</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5</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A21ECCF7-DF3D-413F-A848-F5E45F66B328}"/>
              </a:ext>
            </a:extLst>
          </p:cNvPr>
          <p:cNvSpPr>
            <a:spLocks xmlns:a="http://schemas.openxmlformats.org/drawingml/2006/main" noGrp="1"/>
          </p:cNvSpPr>
          <p:nvPr/>
        </p:nvSpPr>
        <p:spPr>
          <a:xfrm xmlns:a="http://schemas.openxmlformats.org/drawingml/2006/main">
            <a:off x="9477375" y="327660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00" b="1">
                <a:solidFill>
                  <a:srgbClr val="A03232"/>
                </a:solidFill>
                <a:latin typeface="Arial"/>
                <a:ea typeface="Arial"/>
                <a:cs typeface="Arial"/>
              </a:defRPr>
            </a:defPPr>
            <a:lvl1pPr algn="ctr">
              <a:defRPr sz="2700" b="1">
                <a:solidFill>
                  <a:srgbClr val="A03232"/>
                </a:solidFill>
                <a:latin typeface="Arial"/>
                <a:ea typeface="Arial"/>
                <a:cs typeface="Arial"/>
              </a:defRPr>
            </a:lvl1pPr>
            <a:lvl2pPr algn="ctr">
              <a:defRPr sz="2700" b="1">
                <a:solidFill>
                  <a:srgbClr val="A03232"/>
                </a:solidFill>
                <a:latin typeface="Arial"/>
                <a:ea typeface="Arial"/>
                <a:cs typeface="Arial"/>
              </a:defRPr>
            </a:lvl2pPr>
            <a:lvl3pPr algn="ctr">
              <a:defRPr sz="2700" b="1">
                <a:solidFill>
                  <a:srgbClr val="A03232"/>
                </a:solidFill>
                <a:latin typeface="Arial"/>
                <a:ea typeface="Arial"/>
                <a:cs typeface="Arial"/>
              </a:defRPr>
            </a:lvl3pPr>
            <a:lvl4pPr algn="ctr">
              <a:defRPr sz="2700" b="1">
                <a:solidFill>
                  <a:srgbClr val="A03232"/>
                </a:solidFill>
                <a:latin typeface="Arial"/>
                <a:ea typeface="Arial"/>
                <a:cs typeface="Arial"/>
              </a:defRPr>
            </a:lvl4pPr>
            <a:lvl5pPr algn="ctr">
              <a:defRPr sz="2700" b="1">
                <a:solidFill>
                  <a:srgbClr val="A03232"/>
                </a:solidFill>
                <a:latin typeface="Arial"/>
                <a:ea typeface="Arial"/>
                <a:cs typeface="Arial"/>
              </a:defRPr>
            </a:lvl5pPr>
            <a:lvl6pPr algn="ctr">
              <a:defRPr sz="2700" b="1">
                <a:solidFill>
                  <a:srgbClr val="A03232"/>
                </a:solidFill>
                <a:latin typeface="Arial"/>
                <a:ea typeface="Arial"/>
                <a:cs typeface="Arial"/>
              </a:defRPr>
            </a:lvl6pPr>
            <a:lvl7pPr algn="ctr">
              <a:defRPr sz="2700" b="1">
                <a:solidFill>
                  <a:srgbClr val="A03232"/>
                </a:solidFill>
                <a:latin typeface="Arial"/>
                <a:ea typeface="Arial"/>
                <a:cs typeface="Arial"/>
              </a:defRPr>
            </a:lvl7pPr>
            <a:lvl8pPr algn="ctr">
              <a:defRPr sz="2700" b="1">
                <a:solidFill>
                  <a:srgbClr val="A03232"/>
                </a:solidFill>
                <a:latin typeface="Arial"/>
                <a:ea typeface="Arial"/>
                <a:cs typeface="Arial"/>
              </a:defRPr>
            </a:lvl8pPr>
            <a:lvl9pPr algn="ctr">
              <a:defRPr sz="2700" b="1">
                <a:solidFill>
                  <a:srgbClr val="A03232"/>
                </a:solidFill>
                <a:latin typeface="Arial"/>
                <a:ea typeface="Arial"/>
                <a:cs typeface="Arial"/>
              </a:defRPr>
            </a:lvl9pPr>
          </a:lstStyle>
          <a:p xmlns:a="http://schemas.openxmlformats.org/drawingml/2006/main">
            <a:pPr algn="ctr">
              <a:defRPr sz="2700" b="1">
                <a:solidFill>
                  <a:srgbClr val="A03232"/>
                </a:solidFill>
                <a:latin typeface="Arial"/>
                <a:ea typeface="Arial"/>
                <a:cs typeface="Arial"/>
              </a:defRPr>
            </a:pPr>
            <a:r>
              <a:rPr sz="2700" b="1">
                <a:solidFill>
                  <a:srgbClr val="A03232"/>
                </a:solidFill>
                <a:latin typeface="Arial"/>
                <a:ea typeface="Arial"/>
                <a:cs typeface="Arial"/>
              </a:rPr>
              <a:t>6 + 5 &gt; 10</a:t>
            </a:r>
          </a:p>
        </p:txBody>
      </p:sp>
      <p:sp>
        <p:nvSpPr>
          <p:cNvPr id="7" name="text-5">
            <a:extLst xmlns:a="http://schemas.openxmlformats.org/drawingml/2006/main">
              <a:ext uri="{FF2B5EF4-FFF2-40B4-BE49-F238E27FC236}">
                <a16:creationId xmlns:a16="http://schemas.microsoft.com/office/drawing/2014/main" id="{E69C815D-0AD8-47C3-AE2C-93A39A4E7FE9}"/>
              </a:ext>
            </a:extLst>
          </p:cNvPr>
          <p:cNvSpPr>
            <a:spLocks xmlns:a="http://schemas.openxmlformats.org/drawingml/2006/main" noGrp="1"/>
          </p:cNvSpPr>
          <p:nvPr/>
        </p:nvSpPr>
        <p:spPr>
          <a:xfrm xmlns:a="http://schemas.openxmlformats.org/drawingml/2006/main">
            <a:off x="609600" y="5410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Xe có thể phải ghé tiếp tế trước khi đi B. Nếu đến điểm hẹn sớm hơn xe tiếp tế, nó phải chờ và vẫn phải đủ step trong ngày.</a:t>
            </a:r>
          </a:p>
        </p:txBody>
      </p:sp>
    </p:spTree>
    <p:extLst>
      <p:ext uri="{BB962C8B-B14F-4D97-AF65-F5344CB8AC3E}">
        <p14:creationId xmlns:p14="http://schemas.microsoft.com/office/powerpoint/2010/main" val="57894624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12BBE428-547B-4C6D-B9E4-A0314F5E64A8}"/>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Phân bổ nhiên liệu khi không có xe tiếp tế</a:t>
            </a:r>
          </a:p>
        </p:txBody>
      </p:sp>
      <p:sp>
        <p:nvSpPr>
          <p:cNvPr id="3" name="text-2">
            <a:extLst xmlns:a="http://schemas.openxmlformats.org/drawingml/2006/main">
              <a:ext uri="{FF2B5EF4-FFF2-40B4-BE49-F238E27FC236}">
                <a16:creationId xmlns:a16="http://schemas.microsoft.com/office/drawing/2014/main" id="{649746A7-D1A4-4985-A2D9-FEBE76414CB3}"/>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AE64C3FA-2D85-4D2C-A32E-27DA2D9E6993}"/>
              </a:ext>
            </a:extLst>
          </p:cNvPr>
          <p:cNvSpPr>
            <a:spLocks xmlns:a="http://schemas.openxmlformats.org/drawingml/2006/main" noGrp="1"/>
          </p:cNvSpPr>
          <p:nvPr/>
        </p:nvSpPr>
        <p:spPr>
          <a:xfrm xmlns:a="http://schemas.openxmlformats.org/drawingml/2006/main">
            <a:off x="609600" y="16192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212B"/>
                </a:solidFill>
                <a:latin typeface="Arial"/>
                <a:ea typeface="Arial"/>
                <a:cs typeface="Arial"/>
              </a:defRPr>
            </a:defPPr>
            <a:lvl1pPr algn="l">
              <a:defRPr sz="2325" b="0">
                <a:solidFill>
                  <a:srgbClr val="17212B"/>
                </a:solidFill>
                <a:latin typeface="Arial"/>
                <a:ea typeface="Arial"/>
                <a:cs typeface="Arial"/>
              </a:defRPr>
            </a:lvl1pPr>
            <a:lvl2pPr algn="l">
              <a:defRPr sz="2325" b="0">
                <a:solidFill>
                  <a:srgbClr val="17212B"/>
                </a:solidFill>
                <a:latin typeface="Arial"/>
                <a:ea typeface="Arial"/>
                <a:cs typeface="Arial"/>
              </a:defRPr>
            </a:lvl2pPr>
            <a:lvl3pPr algn="l">
              <a:defRPr sz="2325" b="0">
                <a:solidFill>
                  <a:srgbClr val="17212B"/>
                </a:solidFill>
                <a:latin typeface="Arial"/>
                <a:ea typeface="Arial"/>
                <a:cs typeface="Arial"/>
              </a:defRPr>
            </a:lvl3pPr>
            <a:lvl4pPr algn="l">
              <a:defRPr sz="2325" b="0">
                <a:solidFill>
                  <a:srgbClr val="17212B"/>
                </a:solidFill>
                <a:latin typeface="Arial"/>
                <a:ea typeface="Arial"/>
                <a:cs typeface="Arial"/>
              </a:defRPr>
            </a:lvl4pPr>
            <a:lvl5pPr algn="l">
              <a:defRPr sz="2325" b="0">
                <a:solidFill>
                  <a:srgbClr val="17212B"/>
                </a:solidFill>
                <a:latin typeface="Arial"/>
                <a:ea typeface="Arial"/>
                <a:cs typeface="Arial"/>
              </a:defRPr>
            </a:lvl5pPr>
            <a:lvl6pPr algn="l">
              <a:defRPr sz="2325" b="0">
                <a:solidFill>
                  <a:srgbClr val="17212B"/>
                </a:solidFill>
                <a:latin typeface="Arial"/>
                <a:ea typeface="Arial"/>
                <a:cs typeface="Arial"/>
              </a:defRPr>
            </a:lvl6pPr>
            <a:lvl7pPr algn="l">
              <a:defRPr sz="2325" b="0">
                <a:solidFill>
                  <a:srgbClr val="17212B"/>
                </a:solidFill>
                <a:latin typeface="Arial"/>
                <a:ea typeface="Arial"/>
                <a:cs typeface="Arial"/>
              </a:defRPr>
            </a:lvl7pPr>
            <a:lvl8pPr algn="l">
              <a:defRPr sz="2325" b="0">
                <a:solidFill>
                  <a:srgbClr val="17212B"/>
                </a:solidFill>
                <a:latin typeface="Arial"/>
                <a:ea typeface="Arial"/>
                <a:cs typeface="Arial"/>
              </a:defRPr>
            </a:lvl8pPr>
            <a:lvl9pPr algn="l">
              <a:defRPr sz="2325" b="0">
                <a:solidFill>
                  <a:srgbClr val="17212B"/>
                </a:solidFill>
                <a:latin typeface="Arial"/>
                <a:ea typeface="Arial"/>
                <a:cs typeface="Arial"/>
              </a:defRPr>
            </a:lvl9pPr>
          </a:lstStyle>
          <a:p xmlns:a="http://schemas.openxmlformats.org/drawingml/2006/main">
            <a:pPr algn="l">
              <a:defRPr sz="2325" b="0">
                <a:solidFill>
                  <a:srgbClr val="17212B"/>
                </a:solidFill>
                <a:latin typeface="Arial"/>
                <a:ea typeface="Arial"/>
                <a:cs typeface="Arial"/>
              </a:defRPr>
            </a:pPr>
            <a:r>
              <a:rPr sz="2325" b="0">
                <a:solidFill>
                  <a:srgbClr val="17212B"/>
                </a:solidFill>
                <a:latin typeface="Arial"/>
                <a:ea typeface="Arial"/>
                <a:cs typeface="Arial"/>
              </a:rPr>
              <a:t>Nhiên liệu không tự đầy lại đầu ngày. Dùng quá nhiều hôm nay có thể làm xe ngừng hoạt động ở những ngày sau.</a:t>
            </a:r>
          </a:p>
        </p:txBody>
      </p:sp>
      <p:sp>
        <p:nvSpPr>
          <p:cNvPr id="5" name="text-4">
            <a:extLst xmlns:a="http://schemas.openxmlformats.org/drawingml/2006/main">
              <a:ext uri="{FF2B5EF4-FFF2-40B4-BE49-F238E27FC236}">
                <a16:creationId xmlns:a16="http://schemas.microsoft.com/office/drawing/2014/main" id="{5F76ECE9-D05D-4E95-BCE2-43E54E448D49}"/>
              </a:ext>
            </a:extLst>
          </p:cNvPr>
          <p:cNvSpPr>
            <a:spLocks xmlns:a="http://schemas.openxmlformats.org/drawingml/2006/main" noGrp="1"/>
          </p:cNvSpPr>
          <p:nvPr/>
        </p:nvSpPr>
        <p:spPr>
          <a:xfrm xmlns:a="http://schemas.openxmlformats.org/drawingml/2006/main">
            <a:off x="609600" y="2952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Mức phân bổ cơ bản</a:t>
            </a:r>
          </a:p>
        </p:txBody>
      </p:sp>
      <p:sp>
        <p:nvSpPr>
          <p:cNvPr id="6" name="text-5">
            <a:extLst xmlns:a="http://schemas.openxmlformats.org/drawingml/2006/main">
              <a:ext uri="{FF2B5EF4-FFF2-40B4-BE49-F238E27FC236}">
                <a16:creationId xmlns:a16="http://schemas.microsoft.com/office/drawing/2014/main" id="{42FAD620-FAF5-4820-8034-DACD64D166AD}"/>
              </a:ext>
            </a:extLst>
          </p:cNvPr>
          <p:cNvSpPr>
            <a:spLocks xmlns:a="http://schemas.openxmlformats.org/drawingml/2006/main" noGrp="1"/>
          </p:cNvSpPr>
          <p:nvPr/>
        </p:nvSpPr>
        <p:spPr>
          <a:xfrm xmlns:a="http://schemas.openxmlformats.org/drawingml/2006/main">
            <a:off x="609600" y="36195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212B"/>
                </a:solidFill>
                <a:latin typeface="Arial"/>
                <a:ea typeface="Arial"/>
                <a:cs typeface="Arial"/>
              </a:defRPr>
            </a:defPPr>
            <a:lvl1pPr algn="l">
              <a:defRPr sz="2400" b="1">
                <a:solidFill>
                  <a:srgbClr val="17212B"/>
                </a:solidFill>
                <a:latin typeface="Arial"/>
                <a:ea typeface="Arial"/>
                <a:cs typeface="Arial"/>
              </a:defRPr>
            </a:lvl1pPr>
            <a:lvl2pPr algn="l">
              <a:defRPr sz="2400" b="1">
                <a:solidFill>
                  <a:srgbClr val="17212B"/>
                </a:solidFill>
                <a:latin typeface="Arial"/>
                <a:ea typeface="Arial"/>
                <a:cs typeface="Arial"/>
              </a:defRPr>
            </a:lvl2pPr>
            <a:lvl3pPr algn="l">
              <a:defRPr sz="2400" b="1">
                <a:solidFill>
                  <a:srgbClr val="17212B"/>
                </a:solidFill>
                <a:latin typeface="Arial"/>
                <a:ea typeface="Arial"/>
                <a:cs typeface="Arial"/>
              </a:defRPr>
            </a:lvl3pPr>
            <a:lvl4pPr algn="l">
              <a:defRPr sz="2400" b="1">
                <a:solidFill>
                  <a:srgbClr val="17212B"/>
                </a:solidFill>
                <a:latin typeface="Arial"/>
                <a:ea typeface="Arial"/>
                <a:cs typeface="Arial"/>
              </a:defRPr>
            </a:lvl4pPr>
            <a:lvl5pPr algn="l">
              <a:defRPr sz="2400" b="1">
                <a:solidFill>
                  <a:srgbClr val="17212B"/>
                </a:solidFill>
                <a:latin typeface="Arial"/>
                <a:ea typeface="Arial"/>
                <a:cs typeface="Arial"/>
              </a:defRPr>
            </a:lvl5pPr>
            <a:lvl6pPr algn="l">
              <a:defRPr sz="2400" b="1">
                <a:solidFill>
                  <a:srgbClr val="17212B"/>
                </a:solidFill>
                <a:latin typeface="Arial"/>
                <a:ea typeface="Arial"/>
                <a:cs typeface="Arial"/>
              </a:defRPr>
            </a:lvl6pPr>
            <a:lvl7pPr algn="l">
              <a:defRPr sz="2400" b="1">
                <a:solidFill>
                  <a:srgbClr val="17212B"/>
                </a:solidFill>
                <a:latin typeface="Arial"/>
                <a:ea typeface="Arial"/>
                <a:cs typeface="Arial"/>
              </a:defRPr>
            </a:lvl7pPr>
            <a:lvl8pPr algn="l">
              <a:defRPr sz="2400" b="1">
                <a:solidFill>
                  <a:srgbClr val="17212B"/>
                </a:solidFill>
                <a:latin typeface="Arial"/>
                <a:ea typeface="Arial"/>
                <a:cs typeface="Arial"/>
              </a:defRPr>
            </a:lvl8pPr>
            <a:lvl9pPr algn="l">
              <a:defRPr sz="2400" b="1">
                <a:solidFill>
                  <a:srgbClr val="17212B"/>
                </a:solidFill>
                <a:latin typeface="Arial"/>
                <a:ea typeface="Arial"/>
                <a:cs typeface="Arial"/>
              </a:defRPr>
            </a:lvl9pPr>
          </a:lstStyle>
          <a:p xmlns:a="http://schemas.openxmlformats.org/drawingml/2006/main">
            <a:pPr algn="l">
              <a:defRPr sz="2400" b="1">
                <a:solidFill>
                  <a:srgbClr val="17212B"/>
                </a:solidFill>
                <a:latin typeface="Arial"/>
                <a:ea typeface="Arial"/>
                <a:cs typeface="Arial"/>
              </a:defRPr>
            </a:pPr>
            <a:r>
              <a:rPr sz="2400" b="1">
                <a:solidFill>
                  <a:srgbClr val="17212B"/>
                </a:solidFill>
                <a:latin typeface="Arial"/>
                <a:ea typeface="Arial"/>
                <a:cs typeface="Arial"/>
              </a:rPr>
              <a:t>Nhiên liệu hiện có × step hôm nay / tổng step các ngày còn lại</a:t>
            </a:r>
          </a:p>
        </p:txBody>
      </p:sp>
      <p:sp>
        <p:nvSpPr>
          <p:cNvPr id="7" name="text-6">
            <a:extLst xmlns:a="http://schemas.openxmlformats.org/drawingml/2006/main">
              <a:ext uri="{FF2B5EF4-FFF2-40B4-BE49-F238E27FC236}">
                <a16:creationId xmlns:a16="http://schemas.microsoft.com/office/drawing/2014/main" id="{A81BCCBB-B320-49CA-B3F0-EB4D1EA526DF}"/>
              </a:ext>
            </a:extLst>
          </p:cNvPr>
          <p:cNvSpPr>
            <a:spLocks xmlns:a="http://schemas.openxmlformats.org/drawingml/2006/main" noGrp="1"/>
          </p:cNvSpPr>
          <p:nvPr/>
        </p:nvSpPr>
        <p:spPr>
          <a:xfrm xmlns:a="http://schemas.openxmlformats.org/drawingml/2006/main">
            <a:off x="609600" y="48101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Ví dụ: còn 100 nhiên liệu, hôm nay có 100 step, phần trận còn lại có 500 step. Planner phân bổ khoảng 20 nhiên liệu cho hôm nay.</a:t>
            </a:r>
          </a:p>
        </p:txBody>
      </p:sp>
      <p:sp>
        <p:nvSpPr>
          <p:cNvPr id="8" name="text-7">
            <a:extLst xmlns:a="http://schemas.openxmlformats.org/drawingml/2006/main">
              <a:ext uri="{FF2B5EF4-FFF2-40B4-BE49-F238E27FC236}">
                <a16:creationId xmlns:a16="http://schemas.microsoft.com/office/drawing/2014/main" id="{D21C7A42-1742-4D77-BAAC-15CDFF6A9709}"/>
              </a:ext>
            </a:extLst>
          </p:cNvPr>
          <p:cNvSpPr>
            <a:spLocks xmlns:a="http://schemas.openxmlformats.org/drawingml/2006/main" noGrp="1"/>
          </p:cNvSpPr>
          <p:nvPr/>
        </p:nvSpPr>
        <p:spPr>
          <a:xfrm xmlns:a="http://schemas.openxmlformats.org/drawingml/2006/main">
            <a:off x="609600" y="6000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573"/>
                </a:solidFill>
                <a:latin typeface="Arial"/>
                <a:ea typeface="Arial"/>
                <a:cs typeface="Arial"/>
              </a:defRPr>
            </a:defPPr>
            <a:lvl1pPr algn="l">
              <a:defRPr sz="1725" b="0">
                <a:solidFill>
                  <a:srgbClr val="586573"/>
                </a:solidFill>
                <a:latin typeface="Arial"/>
                <a:ea typeface="Arial"/>
                <a:cs typeface="Arial"/>
              </a:defRPr>
            </a:lvl1pPr>
            <a:lvl2pPr algn="l">
              <a:defRPr sz="1725" b="0">
                <a:solidFill>
                  <a:srgbClr val="586573"/>
                </a:solidFill>
                <a:latin typeface="Arial"/>
                <a:ea typeface="Arial"/>
                <a:cs typeface="Arial"/>
              </a:defRPr>
            </a:lvl2pPr>
            <a:lvl3pPr algn="l">
              <a:defRPr sz="1725" b="0">
                <a:solidFill>
                  <a:srgbClr val="586573"/>
                </a:solidFill>
                <a:latin typeface="Arial"/>
                <a:ea typeface="Arial"/>
                <a:cs typeface="Arial"/>
              </a:defRPr>
            </a:lvl3pPr>
            <a:lvl4pPr algn="l">
              <a:defRPr sz="1725" b="0">
                <a:solidFill>
                  <a:srgbClr val="586573"/>
                </a:solidFill>
                <a:latin typeface="Arial"/>
                <a:ea typeface="Arial"/>
                <a:cs typeface="Arial"/>
              </a:defRPr>
            </a:lvl4pPr>
            <a:lvl5pPr algn="l">
              <a:defRPr sz="1725" b="0">
                <a:solidFill>
                  <a:srgbClr val="586573"/>
                </a:solidFill>
                <a:latin typeface="Arial"/>
                <a:ea typeface="Arial"/>
                <a:cs typeface="Arial"/>
              </a:defRPr>
            </a:lvl5pPr>
            <a:lvl6pPr algn="l">
              <a:defRPr sz="1725" b="0">
                <a:solidFill>
                  <a:srgbClr val="586573"/>
                </a:solidFill>
                <a:latin typeface="Arial"/>
                <a:ea typeface="Arial"/>
                <a:cs typeface="Arial"/>
              </a:defRPr>
            </a:lvl6pPr>
            <a:lvl7pPr algn="l">
              <a:defRPr sz="1725" b="0">
                <a:solidFill>
                  <a:srgbClr val="586573"/>
                </a:solidFill>
                <a:latin typeface="Arial"/>
                <a:ea typeface="Arial"/>
                <a:cs typeface="Arial"/>
              </a:defRPr>
            </a:lvl7pPr>
            <a:lvl8pPr algn="l">
              <a:defRPr sz="1725" b="0">
                <a:solidFill>
                  <a:srgbClr val="586573"/>
                </a:solidFill>
                <a:latin typeface="Arial"/>
                <a:ea typeface="Arial"/>
                <a:cs typeface="Arial"/>
              </a:defRPr>
            </a:lvl8pPr>
            <a:lvl9pPr algn="l">
              <a:defRPr sz="1725" b="0">
                <a:solidFill>
                  <a:srgbClr val="586573"/>
                </a:solidFill>
                <a:latin typeface="Arial"/>
                <a:ea typeface="Arial"/>
                <a:cs typeface="Arial"/>
              </a:defRPr>
            </a:lvl9pPr>
          </a:lstStyle>
          <a:p xmlns:a="http://schemas.openxmlformats.org/drawingml/2006/main">
            <a:pPr algn="l">
              <a:defRPr sz="1725" b="0">
                <a:solidFill>
                  <a:srgbClr val="586573"/>
                </a:solidFill>
                <a:latin typeface="Arial"/>
                <a:ea typeface="Arial"/>
                <a:cs typeface="Arial"/>
              </a:defRPr>
            </a:pPr>
            <a:r>
              <a:rPr sz="1725" b="0">
                <a:solidFill>
                  <a:srgbClr val="586573"/>
                </a:solidFill>
                <a:latin typeface="Arial"/>
                <a:ea typeface="Arial"/>
                <a:cs typeface="Arial"/>
              </a:rPr>
              <a:t>Đây là quy tắc của thuật toán. Ngày cuối có thể dùng hết lượng còn lại.</a:t>
            </a:r>
          </a:p>
        </p:txBody>
      </p:sp>
    </p:spTree>
    <p:extLst>
      <p:ext uri="{BB962C8B-B14F-4D97-AF65-F5344CB8AC3E}">
        <p14:creationId xmlns:p14="http://schemas.microsoft.com/office/powerpoint/2010/main" val="15565525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304E02B3-EA83-48F6-9795-15480DE2F77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Phủ đủ loại và chuẩn bị vị trí cho ngày sau</a:t>
            </a:r>
          </a:p>
        </p:txBody>
      </p:sp>
      <p:sp>
        <p:nvSpPr>
          <p:cNvPr id="3" name="text-2">
            <a:extLst xmlns:a="http://schemas.openxmlformats.org/drawingml/2006/main">
              <a:ext uri="{FF2B5EF4-FFF2-40B4-BE49-F238E27FC236}">
                <a16:creationId xmlns:a16="http://schemas.microsoft.com/office/drawing/2014/main" id="{C937AEBF-2D6D-4ACC-9718-57E7B7D630E8}"/>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14</a:t>
            </a:r>
          </a:p>
        </p:txBody>
      </p:sp>
      <p:sp>
        <p:nvSpPr>
          <p:cNvPr id="4" name="text-3">
            <a:extLst xmlns:a="http://schemas.openxmlformats.org/drawingml/2006/main">
              <a:ext uri="{FF2B5EF4-FFF2-40B4-BE49-F238E27FC236}">
                <a16:creationId xmlns:a16="http://schemas.microsoft.com/office/drawing/2014/main" id="{EF191F3E-090C-4922-A831-C864B582E9C1}"/>
              </a:ext>
            </a:extLst>
          </p:cNvPr>
          <p:cNvSpPr>
            <a:spLocks xmlns:a="http://schemas.openxmlformats.org/drawingml/2006/main" noGrp="1"/>
          </p:cNvSpPr>
          <p:nvPr/>
        </p:nvSpPr>
        <p:spPr>
          <a:xfrm xmlns:a="http://schemas.openxmlformats.org/drawingml/2006/main">
            <a:off x="609600" y="1619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Khi hôm nay còn thiếu loại</a:t>
            </a:r>
          </a:p>
        </p:txBody>
      </p:sp>
      <p:sp>
        <p:nvSpPr>
          <p:cNvPr id="5" name="text-4">
            <a:extLst xmlns:a="http://schemas.openxmlformats.org/drawingml/2006/main">
              <a:ext uri="{FF2B5EF4-FFF2-40B4-BE49-F238E27FC236}">
                <a16:creationId xmlns:a16="http://schemas.microsoft.com/office/drawing/2014/main" id="{B9D5E1BE-16C0-4FED-9EB0-4E102F51845A}"/>
              </a:ext>
            </a:extLst>
          </p:cNvPr>
          <p:cNvSpPr>
            <a:spLocks xmlns:a="http://schemas.openxmlformats.org/drawingml/2006/main" noGrp="1"/>
          </p:cNvSpPr>
          <p:nvPr/>
        </p:nvSpPr>
        <p:spPr>
          <a:xfrm xmlns:a="http://schemas.openxmlformats.org/drawingml/2006/main">
            <a:off x="609600" y="2028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Planner dựng lại tuyến nhiều lần, tập trung phủ loại trước rồi mới chèn thêm suất.</a:t>
            </a:r>
          </a:p>
        </p:txBody>
      </p:sp>
      <p:sp>
        <p:nvSpPr>
          <p:cNvPr id="6" name="text-5">
            <a:extLst xmlns:a="http://schemas.openxmlformats.org/drawingml/2006/main">
              <a:ext uri="{FF2B5EF4-FFF2-40B4-BE49-F238E27FC236}">
                <a16:creationId xmlns:a16="http://schemas.microsoft.com/office/drawing/2014/main" id="{0AA7308D-2B1D-46D2-A96B-DB7277AB439F}"/>
              </a:ext>
            </a:extLst>
          </p:cNvPr>
          <p:cNvSpPr>
            <a:spLocks xmlns:a="http://schemas.openxmlformats.org/drawingml/2006/main" noGrp="1"/>
          </p:cNvSpPr>
          <p:nvPr/>
        </p:nvSpPr>
        <p:spPr>
          <a:xfrm xmlns:a="http://schemas.openxmlformats.org/drawingml/2006/main">
            <a:off x="609600" y="3143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Khi ngày mai có quỹ step ngắn</a:t>
            </a:r>
          </a:p>
        </p:txBody>
      </p:sp>
      <p:sp>
        <p:nvSpPr>
          <p:cNvPr id="7" name="text-6">
            <a:extLst xmlns:a="http://schemas.openxmlformats.org/drawingml/2006/main">
              <a:ext uri="{FF2B5EF4-FFF2-40B4-BE49-F238E27FC236}">
                <a16:creationId xmlns:a16="http://schemas.microsoft.com/office/drawing/2014/main" id="{4425460A-5804-4E4F-B081-07923C9C1A20}"/>
              </a:ext>
            </a:extLst>
          </p:cNvPr>
          <p:cNvSpPr>
            <a:spLocks xmlns:a="http://schemas.openxmlformats.org/drawingml/2006/main" noGrp="1"/>
          </p:cNvSpPr>
          <p:nvPr/>
        </p:nvSpPr>
        <p:spPr>
          <a:xfrm xmlns:a="http://schemas.openxmlformats.org/drawingml/2006/main">
            <a:off x="609600" y="3552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Planner thử các điểm dừng cuối ngày, gọi là ô neo, để xe bắt đầu ngày sau ở vị trí thuận lợi hơn.</a:t>
            </a:r>
          </a:p>
        </p:txBody>
      </p:sp>
      <p:sp>
        <p:nvSpPr>
          <p:cNvPr id="8" name="text-7">
            <a:extLst xmlns:a="http://schemas.openxmlformats.org/drawingml/2006/main">
              <a:ext uri="{FF2B5EF4-FFF2-40B4-BE49-F238E27FC236}">
                <a16:creationId xmlns:a16="http://schemas.microsoft.com/office/drawing/2014/main" id="{7D7B9776-DF7C-4925-905D-9345A412237E}"/>
              </a:ext>
            </a:extLst>
          </p:cNvPr>
          <p:cNvSpPr>
            <a:spLocks xmlns:a="http://schemas.openxmlformats.org/drawingml/2006/main" noGrp="1"/>
          </p:cNvSpPr>
          <p:nvPr/>
        </p:nvSpPr>
        <p:spPr>
          <a:xfrm xmlns:a="http://schemas.openxmlformats.org/drawingml/2006/main">
            <a:off x="609600" y="4762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Dự báo vẫn có giới hạn</a:t>
            </a:r>
          </a:p>
        </p:txBody>
      </p:sp>
      <p:sp>
        <p:nvSpPr>
          <p:cNvPr id="9" name="text-8">
            <a:extLst xmlns:a="http://schemas.openxmlformats.org/drawingml/2006/main">
              <a:ext uri="{FF2B5EF4-FFF2-40B4-BE49-F238E27FC236}">
                <a16:creationId xmlns:a16="http://schemas.microsoft.com/office/drawing/2014/main" id="{2C9E1345-77F2-48C3-AE96-D9D77FF1C199}"/>
              </a:ext>
            </a:extLst>
          </p:cNvPr>
          <p:cNvSpPr>
            <a:spLocks xmlns:a="http://schemas.openxmlformats.org/drawingml/2006/main" noGrp="1"/>
          </p:cNvSpPr>
          <p:nvPr/>
        </p:nvSpPr>
        <p:spPr>
          <a:xfrm xmlns:a="http://schemas.openxmlformats.org/drawingml/2006/main">
            <a:off x="609600" y="5172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Chương trình dùng giao thông hiện tại để tính thử ngày sau. Hiệu quả của ô neo chưa ổn định trên mọi input.</a:t>
            </a:r>
          </a:p>
        </p:txBody>
      </p:sp>
    </p:spTree>
    <p:extLst>
      <p:ext uri="{BB962C8B-B14F-4D97-AF65-F5344CB8AC3E}">
        <p14:creationId xmlns:p14="http://schemas.microsoft.com/office/powerpoint/2010/main" val="2784442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8CDB1DF9-6F73-4F1A-BAC4-EDDF68D7658F}"/>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Chọn vai trò xe bằng mô phỏng</a:t>
            </a:r>
          </a:p>
        </p:txBody>
      </p:sp>
      <p:sp>
        <p:nvSpPr>
          <p:cNvPr id="3" name="text-2">
            <a:extLst xmlns:a="http://schemas.openxmlformats.org/drawingml/2006/main">
              <a:ext uri="{FF2B5EF4-FFF2-40B4-BE49-F238E27FC236}">
                <a16:creationId xmlns:a16="http://schemas.microsoft.com/office/drawing/2014/main" id="{EAF67836-E7A4-4420-9B55-CF15C8A06715}"/>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8BC7A4B6-28D8-46ED-9535-CFBB69B7757E}"/>
              </a:ext>
            </a:extLst>
          </p:cNvPr>
          <p:cNvSpPr>
            <a:spLocks xmlns:a="http://schemas.openxmlformats.org/drawingml/2006/main" noGrp="1"/>
          </p:cNvSpPr>
          <p:nvPr/>
        </p:nvSpPr>
        <p:spPr>
          <a:xfrm xmlns:a="http://schemas.openxmlformats.org/drawingml/2006/main">
            <a:off x="609600" y="1619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12B"/>
                </a:solidFill>
                <a:latin typeface="Arial"/>
                <a:ea typeface="Arial"/>
                <a:cs typeface="Arial"/>
              </a:defRPr>
            </a:defPPr>
            <a:lvl1pPr algn="l">
              <a:defRPr sz="2250" b="0">
                <a:solidFill>
                  <a:srgbClr val="17212B"/>
                </a:solidFill>
                <a:latin typeface="Arial"/>
                <a:ea typeface="Arial"/>
                <a:cs typeface="Arial"/>
              </a:defRPr>
            </a:lvl1pPr>
            <a:lvl2pPr algn="l">
              <a:defRPr sz="2250" b="0">
                <a:solidFill>
                  <a:srgbClr val="17212B"/>
                </a:solidFill>
                <a:latin typeface="Arial"/>
                <a:ea typeface="Arial"/>
                <a:cs typeface="Arial"/>
              </a:defRPr>
            </a:lvl2pPr>
            <a:lvl3pPr algn="l">
              <a:defRPr sz="2250" b="0">
                <a:solidFill>
                  <a:srgbClr val="17212B"/>
                </a:solidFill>
                <a:latin typeface="Arial"/>
                <a:ea typeface="Arial"/>
                <a:cs typeface="Arial"/>
              </a:defRPr>
            </a:lvl3pPr>
            <a:lvl4pPr algn="l">
              <a:defRPr sz="2250" b="0">
                <a:solidFill>
                  <a:srgbClr val="17212B"/>
                </a:solidFill>
                <a:latin typeface="Arial"/>
                <a:ea typeface="Arial"/>
                <a:cs typeface="Arial"/>
              </a:defRPr>
            </a:lvl4pPr>
            <a:lvl5pPr algn="l">
              <a:defRPr sz="2250" b="0">
                <a:solidFill>
                  <a:srgbClr val="17212B"/>
                </a:solidFill>
                <a:latin typeface="Arial"/>
                <a:ea typeface="Arial"/>
                <a:cs typeface="Arial"/>
              </a:defRPr>
            </a:lvl5pPr>
            <a:lvl6pPr algn="l">
              <a:defRPr sz="2250" b="0">
                <a:solidFill>
                  <a:srgbClr val="17212B"/>
                </a:solidFill>
                <a:latin typeface="Arial"/>
                <a:ea typeface="Arial"/>
                <a:cs typeface="Arial"/>
              </a:defRPr>
            </a:lvl6pPr>
            <a:lvl7pPr algn="l">
              <a:defRPr sz="2250" b="0">
                <a:solidFill>
                  <a:srgbClr val="17212B"/>
                </a:solidFill>
                <a:latin typeface="Arial"/>
                <a:ea typeface="Arial"/>
                <a:cs typeface="Arial"/>
              </a:defRPr>
            </a:lvl7pPr>
            <a:lvl8pPr algn="l">
              <a:defRPr sz="2250" b="0">
                <a:solidFill>
                  <a:srgbClr val="17212B"/>
                </a:solidFill>
                <a:latin typeface="Arial"/>
                <a:ea typeface="Arial"/>
                <a:cs typeface="Arial"/>
              </a:defRPr>
            </a:lvl8pPr>
            <a:lvl9pPr algn="l">
              <a:defRPr sz="2250" b="0">
                <a:solidFill>
                  <a:srgbClr val="17212B"/>
                </a:solidFill>
                <a:latin typeface="Arial"/>
                <a:ea typeface="Arial"/>
                <a:cs typeface="Arial"/>
              </a:defRPr>
            </a:lvl9pPr>
          </a:lstStyle>
          <a:p xmlns:a="http://schemas.openxmlformats.org/drawingml/2006/main">
            <a:pPr algn="l">
              <a:defRPr sz="2250" b="0">
                <a:solidFill>
                  <a:srgbClr val="17212B"/>
                </a:solidFill>
                <a:latin typeface="Arial"/>
                <a:ea typeface="Arial"/>
                <a:cs typeface="Arial"/>
              </a:defRPr>
            </a:pPr>
            <a:r>
              <a:rPr sz="2250" b="0">
                <a:solidFill>
                  <a:srgbClr val="17212B"/>
                </a:solidFill>
                <a:latin typeface="Arial"/>
                <a:ea typeface="Arial"/>
                <a:cs typeface="Arial"/>
              </a:rPr>
              <a:t>Vị trí xuất phát do đề bài cấp. Nhóm chỉ chọn vai trò cho từng xe và giữ vai trò đó suốt trận.</a:t>
            </a:r>
          </a:p>
        </p:txBody>
      </p:sp>
      <p:graphicFrame>
        <p:nvGraphicFramePr>
          <p:cNvPr id="5" name="">
            <a:extLst xmlns:a="http://schemas.openxmlformats.org/drawingml/2006/main">
              <a:ext uri="{FF2B5EF4-FFF2-40B4-BE49-F238E27FC236}">
                <a16:creationId xmlns:a16="http://schemas.microsoft.com/office/drawing/2014/main" id="{C492BFE8-2682-4259-B7FF-71F7E9E1FB6E}"/>
              </a:ext>
            </a:extLst>
          </p:cNvPr>
          <p:cNvGraphicFramePr/>
          <p:nvPr/>
        </p:nvGraphicFramePr>
        <p:xfrm>
          <a:off xmlns:a="http://schemas.openxmlformats.org/drawingml/2006/main" x="609600" y="2809875"/>
          <a:ext xmlns:a="http://schemas.openxmlformats.org/drawingml/2006/main" cx="10972800" cy="2667000"/>
        </p:xfrm>
        <a:graphic xmlns:a="http://schemas.openxmlformats.org/drawingml/2006/main">
          <a:graphicData uri="http://schemas.openxmlformats.org/drawingml/2006/table">
            <a:tbl>
              <a:tblPr/>
              <a:tblGrid>
                <a:gridCol w="2667000"/>
                <a:gridCol w="8305800"/>
              </a:tblGrid>
              <a:tr h="533400">
                <a:tc>
                  <a:txBody>
                    <a:bodyPr wrap="square" lIns="104775" tIns="66675" rIns="104775" bIns="66675">
                      <a:noAutofit/>
                    </a:bodyPr>
                    <a:lstStyle/>
                    <a:p>
                      <a:pPr algn="l"/>
                      <a:r>
                        <a:rPr sz="1875" b="1">
                          <a:solidFill>
                            <a:srgbClr val="17212B"/>
                          </a:solidFill>
                          <a:latin typeface="Arial"/>
                          <a:ea typeface="Arial"/>
                          <a:cs typeface="Arial"/>
                        </a:rPr>
                        <a:t>Bước</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75" b="1">
                          <a:solidFill>
                            <a:srgbClr val="17212B"/>
                          </a:solidFill>
                          <a:latin typeface="Arial"/>
                          <a:ea typeface="Arial"/>
                          <a:cs typeface="Arial"/>
                        </a:rPr>
                        <a:t>Cách thực hiện</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533400">
                <a:tc>
                  <a:txBody>
                    <a:bodyPr wrap="square" lIns="104775" tIns="66675" rIns="104775" bIns="66675">
                      <a:noAutofit/>
                    </a:bodyPr>
                    <a:lstStyle/>
                    <a:p>
                      <a:pPr algn="l"/>
                      <a:r>
                        <a:rPr sz="1950" b="0">
                          <a:solidFill>
                            <a:srgbClr val="17212B"/>
                          </a:solidFill>
                          <a:latin typeface="Arial"/>
                          <a:ea typeface="Arial"/>
                          <a:cs typeface="Arial"/>
                        </a:rPr>
                        <a:t>Tạo ứng viên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Giữ cấu hình toàn tuần tra, thử một hoặc một số xe tiếp tế</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33400">
                <a:tc>
                  <a:txBody>
                    <a:bodyPr wrap="square" lIns="104775" tIns="66675" rIns="104775" bIns="66675">
                      <a:noAutofit/>
                    </a:bodyPr>
                    <a:lstStyle/>
                    <a:p>
                      <a:pPr algn="l"/>
                      <a:r>
                        <a:rPr sz="1950" b="0">
                          <a:solidFill>
                            <a:srgbClr val="17212B"/>
                          </a:solidFill>
                          <a:latin typeface="Arial"/>
                          <a:ea typeface="Arial"/>
                          <a:cs typeface="Arial"/>
                        </a:rPr>
                        <a:t>Sàng lọc</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Mô phỏng các đội hình với ngân sách nhỏ</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33400">
                <a:tc>
                  <a:txBody>
                    <a:bodyPr wrap="square" lIns="104775" tIns="66675" rIns="104775" bIns="66675">
                      <a:noAutofit/>
                    </a:bodyPr>
                    <a:lstStyle/>
                    <a:p>
                      <a:pPr algn="l"/>
                      <a:r>
                        <a:rPr sz="1950" b="0">
                          <a:solidFill>
                            <a:srgbClr val="17212B"/>
                          </a:solidFill>
                          <a:latin typeface="Arial"/>
                          <a:ea typeface="Arial"/>
                          <a:cs typeface="Arial"/>
                        </a:rPr>
                        <a:t>Đánh giá lại</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Dành thêm thời gian cho một số ứng viên tốt</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33400">
                <a:tc>
                  <a:txBody>
                    <a:bodyPr wrap="square" lIns="104775" tIns="66675" rIns="104775" bIns="66675">
                      <a:noAutofit/>
                    </a:bodyPr>
                    <a:lstStyle/>
                    <a:p>
                      <a:pPr algn="l"/>
                      <a:r>
                        <a:rPr sz="1950" b="0">
                          <a:solidFill>
                            <a:srgbClr val="17212B"/>
                          </a:solidFill>
                          <a:latin typeface="Arial"/>
                          <a:ea typeface="Arial"/>
                          <a:cs typeface="Arial"/>
                        </a:rPr>
                        <a:t>Lựa chọn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950" b="0">
                          <a:solidFill>
                            <a:srgbClr val="17212B"/>
                          </a:solidFill>
                          <a:latin typeface="Arial"/>
                          <a:ea typeface="Arial"/>
                          <a:cs typeface="Arial"/>
                        </a:rPr>
                        <a:t>So kết quả mô phỏng theo thứ tự U, D, Q</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7AED6D70-184A-4356-A708-39C7993F9E85}"/>
              </a:ext>
            </a:extLst>
          </p:cNvPr>
          <p:cNvSpPr>
            <a:spLocks xmlns:a="http://schemas.openxmlformats.org/drawingml/2006/main" noGrp="1"/>
          </p:cNvSpPr>
          <p:nvPr/>
        </p:nvSpPr>
        <p:spPr>
          <a:xfrm xmlns:a="http://schemas.openxmlformats.org/drawingml/2006/main">
            <a:off x="609600" y="58102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573"/>
                </a:solidFill>
                <a:latin typeface="Arial"/>
                <a:ea typeface="Arial"/>
                <a:cs typeface="Arial"/>
              </a:defRPr>
            </a:defPPr>
            <a:lvl1pPr algn="l">
              <a:defRPr sz="1800" b="0">
                <a:solidFill>
                  <a:srgbClr val="586573"/>
                </a:solidFill>
                <a:latin typeface="Arial"/>
                <a:ea typeface="Arial"/>
                <a:cs typeface="Arial"/>
              </a:defRPr>
            </a:lvl1pPr>
            <a:lvl2pPr algn="l">
              <a:defRPr sz="1800" b="0">
                <a:solidFill>
                  <a:srgbClr val="586573"/>
                </a:solidFill>
                <a:latin typeface="Arial"/>
                <a:ea typeface="Arial"/>
                <a:cs typeface="Arial"/>
              </a:defRPr>
            </a:lvl2pPr>
            <a:lvl3pPr algn="l">
              <a:defRPr sz="1800" b="0">
                <a:solidFill>
                  <a:srgbClr val="586573"/>
                </a:solidFill>
                <a:latin typeface="Arial"/>
                <a:ea typeface="Arial"/>
                <a:cs typeface="Arial"/>
              </a:defRPr>
            </a:lvl3pPr>
            <a:lvl4pPr algn="l">
              <a:defRPr sz="1800" b="0">
                <a:solidFill>
                  <a:srgbClr val="586573"/>
                </a:solidFill>
                <a:latin typeface="Arial"/>
                <a:ea typeface="Arial"/>
                <a:cs typeface="Arial"/>
              </a:defRPr>
            </a:lvl4pPr>
            <a:lvl5pPr algn="l">
              <a:defRPr sz="1800" b="0">
                <a:solidFill>
                  <a:srgbClr val="586573"/>
                </a:solidFill>
                <a:latin typeface="Arial"/>
                <a:ea typeface="Arial"/>
                <a:cs typeface="Arial"/>
              </a:defRPr>
            </a:lvl5pPr>
            <a:lvl6pPr algn="l">
              <a:defRPr sz="1800" b="0">
                <a:solidFill>
                  <a:srgbClr val="586573"/>
                </a:solidFill>
                <a:latin typeface="Arial"/>
                <a:ea typeface="Arial"/>
                <a:cs typeface="Arial"/>
              </a:defRPr>
            </a:lvl6pPr>
            <a:lvl7pPr algn="l">
              <a:defRPr sz="1800" b="0">
                <a:solidFill>
                  <a:srgbClr val="586573"/>
                </a:solidFill>
                <a:latin typeface="Arial"/>
                <a:ea typeface="Arial"/>
                <a:cs typeface="Arial"/>
              </a:defRPr>
            </a:lvl7pPr>
            <a:lvl8pPr algn="l">
              <a:defRPr sz="1800" b="0">
                <a:solidFill>
                  <a:srgbClr val="586573"/>
                </a:solidFill>
                <a:latin typeface="Arial"/>
                <a:ea typeface="Arial"/>
                <a:cs typeface="Arial"/>
              </a:defRPr>
            </a:lvl8pPr>
            <a:lvl9pPr algn="l">
              <a:defRPr sz="1800" b="0">
                <a:solidFill>
                  <a:srgbClr val="586573"/>
                </a:solidFill>
                <a:latin typeface="Arial"/>
                <a:ea typeface="Arial"/>
                <a:cs typeface="Arial"/>
              </a:defRPr>
            </a:lvl9pPr>
          </a:lstStyle>
          <a:p xmlns:a="http://schemas.openxmlformats.org/drawingml/2006/main">
            <a:pPr algn="l">
              <a:defRPr sz="1800" b="0">
                <a:solidFill>
                  <a:srgbClr val="586573"/>
                </a:solidFill>
                <a:latin typeface="Arial"/>
                <a:ea typeface="Arial"/>
                <a:cs typeface="Arial"/>
              </a:defRPr>
            </a:pPr>
            <a:r>
              <a:rPr sz="1800" b="0">
                <a:solidFill>
                  <a:srgbClr val="586573"/>
                </a:solidFill>
                <a:latin typeface="Arial"/>
                <a:ea typeface="Arial"/>
                <a:cs typeface="Arial"/>
              </a:rPr>
              <a:t>Mô phỏng đầu trận dùng lịch sử giao thông của chính đội xe. Ngày thi thật vẫn cần đọc lại trạng thái từ máy chủ.</a:t>
            </a:r>
          </a:p>
        </p:txBody>
      </p:sp>
    </p:spTree>
    <p:extLst>
      <p:ext uri="{BB962C8B-B14F-4D97-AF65-F5344CB8AC3E}">
        <p14:creationId xmlns:p14="http://schemas.microsoft.com/office/powerpoint/2010/main" val="12257223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F8FA8B42-317E-4CF2-AA91-E428593C3E2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Kiểm tra kế hoạch trước khi nộp</a:t>
            </a:r>
          </a:p>
        </p:txBody>
      </p:sp>
      <p:sp>
        <p:nvSpPr>
          <p:cNvPr id="3" name="text-2">
            <a:extLst xmlns:a="http://schemas.openxmlformats.org/drawingml/2006/main">
              <a:ext uri="{FF2B5EF4-FFF2-40B4-BE49-F238E27FC236}">
                <a16:creationId xmlns:a16="http://schemas.microsoft.com/office/drawing/2014/main" id="{3DC82ACA-CAD2-4854-B48A-A6E52D2D7AA5}"/>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16</a:t>
            </a:r>
          </a:p>
        </p:txBody>
      </p:sp>
      <p:sp>
        <p:nvSpPr>
          <p:cNvPr id="4" name="text-3">
            <a:extLst xmlns:a="http://schemas.openxmlformats.org/drawingml/2006/main">
              <a:ext uri="{FF2B5EF4-FFF2-40B4-BE49-F238E27FC236}">
                <a16:creationId xmlns:a16="http://schemas.microsoft.com/office/drawing/2014/main" id="{53FE6DAF-9288-487C-8215-4B1CF00AFEB7}"/>
              </a:ext>
            </a:extLst>
          </p:cNvPr>
          <p:cNvSpPr>
            <a:spLocks xmlns:a="http://schemas.openxmlformats.org/drawingml/2006/main" noGrp="1"/>
          </p:cNvSpPr>
          <p:nvPr/>
        </p:nvSpPr>
        <p:spPr>
          <a:xfrm xmlns:a="http://schemas.openxmlformats.org/drawingml/2006/main">
            <a:off x="609600" y="16192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12B"/>
                </a:solidFill>
                <a:latin typeface="Arial"/>
                <a:ea typeface="Arial"/>
                <a:cs typeface="Arial"/>
              </a:defRPr>
            </a:defPPr>
            <a:lvl1pPr algn="l">
              <a:defRPr sz="2250" b="0">
                <a:solidFill>
                  <a:srgbClr val="17212B"/>
                </a:solidFill>
                <a:latin typeface="Arial"/>
                <a:ea typeface="Arial"/>
                <a:cs typeface="Arial"/>
              </a:defRPr>
            </a:lvl1pPr>
            <a:lvl2pPr algn="l">
              <a:defRPr sz="2250" b="0">
                <a:solidFill>
                  <a:srgbClr val="17212B"/>
                </a:solidFill>
                <a:latin typeface="Arial"/>
                <a:ea typeface="Arial"/>
                <a:cs typeface="Arial"/>
              </a:defRPr>
            </a:lvl2pPr>
            <a:lvl3pPr algn="l">
              <a:defRPr sz="2250" b="0">
                <a:solidFill>
                  <a:srgbClr val="17212B"/>
                </a:solidFill>
                <a:latin typeface="Arial"/>
                <a:ea typeface="Arial"/>
                <a:cs typeface="Arial"/>
              </a:defRPr>
            </a:lvl3pPr>
            <a:lvl4pPr algn="l">
              <a:defRPr sz="2250" b="0">
                <a:solidFill>
                  <a:srgbClr val="17212B"/>
                </a:solidFill>
                <a:latin typeface="Arial"/>
                <a:ea typeface="Arial"/>
                <a:cs typeface="Arial"/>
              </a:defRPr>
            </a:lvl4pPr>
            <a:lvl5pPr algn="l">
              <a:defRPr sz="2250" b="0">
                <a:solidFill>
                  <a:srgbClr val="17212B"/>
                </a:solidFill>
                <a:latin typeface="Arial"/>
                <a:ea typeface="Arial"/>
                <a:cs typeface="Arial"/>
              </a:defRPr>
            </a:lvl5pPr>
            <a:lvl6pPr algn="l">
              <a:defRPr sz="2250" b="0">
                <a:solidFill>
                  <a:srgbClr val="17212B"/>
                </a:solidFill>
                <a:latin typeface="Arial"/>
                <a:ea typeface="Arial"/>
                <a:cs typeface="Arial"/>
              </a:defRPr>
            </a:lvl6pPr>
            <a:lvl7pPr algn="l">
              <a:defRPr sz="2250" b="0">
                <a:solidFill>
                  <a:srgbClr val="17212B"/>
                </a:solidFill>
                <a:latin typeface="Arial"/>
                <a:ea typeface="Arial"/>
                <a:cs typeface="Arial"/>
              </a:defRPr>
            </a:lvl7pPr>
            <a:lvl8pPr algn="l">
              <a:defRPr sz="2250" b="0">
                <a:solidFill>
                  <a:srgbClr val="17212B"/>
                </a:solidFill>
                <a:latin typeface="Arial"/>
                <a:ea typeface="Arial"/>
                <a:cs typeface="Arial"/>
              </a:defRPr>
            </a:lvl8pPr>
            <a:lvl9pPr algn="l">
              <a:defRPr sz="2250" b="0">
                <a:solidFill>
                  <a:srgbClr val="17212B"/>
                </a:solidFill>
                <a:latin typeface="Arial"/>
                <a:ea typeface="Arial"/>
                <a:cs typeface="Arial"/>
              </a:defRPr>
            </a:lvl9pPr>
          </a:lstStyle>
          <a:p xmlns:a="http://schemas.openxmlformats.org/drawingml/2006/main">
            <a:pPr algn="l">
              <a:defRPr sz="2250" b="0">
                <a:solidFill>
                  <a:srgbClr val="17212B"/>
                </a:solidFill>
                <a:latin typeface="Arial"/>
                <a:ea typeface="Arial"/>
                <a:cs typeface="Arial"/>
              </a:defRPr>
            </a:pPr>
            <a:r>
              <a:rPr sz="2250" b="0">
                <a:solidFill>
                  <a:srgbClr val="17212B"/>
                </a:solidFill>
                <a:latin typeface="Arial"/>
                <a:ea typeface="Arial"/>
                <a:cs typeface="Arial"/>
              </a:rPr>
              <a:t>Một lệnh 0–5 là một hướng sang ô kề. Lệnh âm biểu diễn số step đứng chờ.</a:t>
            </a:r>
          </a:p>
        </p:txBody>
      </p:sp>
      <p:sp>
        <p:nvSpPr>
          <p:cNvPr id="5" name="text-4">
            <a:extLst xmlns:a="http://schemas.openxmlformats.org/drawingml/2006/main">
              <a:ext uri="{FF2B5EF4-FFF2-40B4-BE49-F238E27FC236}">
                <a16:creationId xmlns:a16="http://schemas.microsoft.com/office/drawing/2014/main" id="{3B5363A0-3A2B-4B0D-98EF-8D7F80B8DE1D}"/>
              </a:ext>
            </a:extLst>
          </p:cNvPr>
          <p:cNvSpPr>
            <a:spLocks xmlns:a="http://schemas.openxmlformats.org/drawingml/2006/main" noGrp="1"/>
          </p:cNvSpPr>
          <p:nvPr/>
        </p:nvSpPr>
        <p:spPr>
          <a:xfrm xmlns:a="http://schemas.openxmlformats.org/drawingml/2006/main">
            <a:off x="609600" y="2762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74EA6"/>
                </a:solidFill>
                <a:latin typeface="Arial"/>
                <a:ea typeface="Arial"/>
                <a:cs typeface="Arial"/>
              </a:defRPr>
            </a:defPPr>
            <a:lvl1pPr algn="l">
              <a:defRPr sz="3000" b="1">
                <a:solidFill>
                  <a:srgbClr val="174EA6"/>
                </a:solidFill>
                <a:latin typeface="Arial"/>
                <a:ea typeface="Arial"/>
                <a:cs typeface="Arial"/>
              </a:defRPr>
            </a:lvl1pPr>
            <a:lvl2pPr algn="l">
              <a:defRPr sz="3000" b="1">
                <a:solidFill>
                  <a:srgbClr val="174EA6"/>
                </a:solidFill>
                <a:latin typeface="Arial"/>
                <a:ea typeface="Arial"/>
                <a:cs typeface="Arial"/>
              </a:defRPr>
            </a:lvl2pPr>
            <a:lvl3pPr algn="l">
              <a:defRPr sz="3000" b="1">
                <a:solidFill>
                  <a:srgbClr val="174EA6"/>
                </a:solidFill>
                <a:latin typeface="Arial"/>
                <a:ea typeface="Arial"/>
                <a:cs typeface="Arial"/>
              </a:defRPr>
            </a:lvl3pPr>
            <a:lvl4pPr algn="l">
              <a:defRPr sz="3000" b="1">
                <a:solidFill>
                  <a:srgbClr val="174EA6"/>
                </a:solidFill>
                <a:latin typeface="Arial"/>
                <a:ea typeface="Arial"/>
                <a:cs typeface="Arial"/>
              </a:defRPr>
            </a:lvl4pPr>
            <a:lvl5pPr algn="l">
              <a:defRPr sz="3000" b="1">
                <a:solidFill>
                  <a:srgbClr val="174EA6"/>
                </a:solidFill>
                <a:latin typeface="Arial"/>
                <a:ea typeface="Arial"/>
                <a:cs typeface="Arial"/>
              </a:defRPr>
            </a:lvl5pPr>
            <a:lvl6pPr algn="l">
              <a:defRPr sz="3000" b="1">
                <a:solidFill>
                  <a:srgbClr val="174EA6"/>
                </a:solidFill>
                <a:latin typeface="Arial"/>
                <a:ea typeface="Arial"/>
                <a:cs typeface="Arial"/>
              </a:defRPr>
            </a:lvl6pPr>
            <a:lvl7pPr algn="l">
              <a:defRPr sz="3000" b="1">
                <a:solidFill>
                  <a:srgbClr val="174EA6"/>
                </a:solidFill>
                <a:latin typeface="Arial"/>
                <a:ea typeface="Arial"/>
                <a:cs typeface="Arial"/>
              </a:defRPr>
            </a:lvl7pPr>
            <a:lvl8pPr algn="l">
              <a:defRPr sz="3000" b="1">
                <a:solidFill>
                  <a:srgbClr val="174EA6"/>
                </a:solidFill>
                <a:latin typeface="Arial"/>
                <a:ea typeface="Arial"/>
                <a:cs typeface="Arial"/>
              </a:defRPr>
            </a:lvl8pPr>
            <a:lvl9pPr algn="l">
              <a:defRPr sz="3000" b="1">
                <a:solidFill>
                  <a:srgbClr val="174EA6"/>
                </a:solidFill>
                <a:latin typeface="Arial"/>
                <a:ea typeface="Arial"/>
                <a:cs typeface="Arial"/>
              </a:defRPr>
            </a:lvl9pPr>
          </a:lstStyle>
          <a:p xmlns:a="http://schemas.openxmlformats.org/drawingml/2006/main">
            <a:pPr algn="l">
              <a:defRPr sz="3000" b="1">
                <a:solidFill>
                  <a:srgbClr val="174EA6"/>
                </a:solidFill>
                <a:latin typeface="Arial"/>
                <a:ea typeface="Arial"/>
                <a:cs typeface="Arial"/>
              </a:defRPr>
            </a:pPr>
            <a:r>
              <a:rPr sz="3000" b="1">
                <a:solidFill>
                  <a:srgbClr val="174EA6"/>
                </a:solidFill>
                <a:latin typeface="Arial"/>
                <a:ea typeface="Arial"/>
                <a:cs typeface="Arial"/>
              </a:rPr>
              <a:t>[[2, 3, -4], [5, -6], [-8]]</a:t>
            </a:r>
          </a:p>
        </p:txBody>
      </p:sp>
      <p:sp>
        <p:nvSpPr>
          <p:cNvPr id="6" name="text-5">
            <a:extLst xmlns:a="http://schemas.openxmlformats.org/drawingml/2006/main">
              <a:ext uri="{FF2B5EF4-FFF2-40B4-BE49-F238E27FC236}">
                <a16:creationId xmlns:a16="http://schemas.microsoft.com/office/drawing/2014/main" id="{9BBCCD59-E1A5-4F08-881B-3258EA2FE946}"/>
              </a:ext>
            </a:extLst>
          </p:cNvPr>
          <p:cNvSpPr>
            <a:spLocks xmlns:a="http://schemas.openxmlformats.org/drawingml/2006/main" noGrp="1"/>
          </p:cNvSpPr>
          <p:nvPr/>
        </p:nvSpPr>
        <p:spPr>
          <a:xfrm xmlns:a="http://schemas.openxmlformats.org/drawingml/2006/main">
            <a:off x="609600" y="36195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12B"/>
                </a:solidFill>
                <a:latin typeface="Arial"/>
                <a:ea typeface="Arial"/>
                <a:cs typeface="Arial"/>
              </a:defRPr>
            </a:defPPr>
            <a:lvl1pPr algn="l">
              <a:defRPr sz="1950" b="0">
                <a:solidFill>
                  <a:srgbClr val="17212B"/>
                </a:solidFill>
                <a:latin typeface="Arial"/>
                <a:ea typeface="Arial"/>
                <a:cs typeface="Arial"/>
              </a:defRPr>
            </a:lvl1pPr>
            <a:lvl2pPr algn="l">
              <a:defRPr sz="1950" b="0">
                <a:solidFill>
                  <a:srgbClr val="17212B"/>
                </a:solidFill>
                <a:latin typeface="Arial"/>
                <a:ea typeface="Arial"/>
                <a:cs typeface="Arial"/>
              </a:defRPr>
            </a:lvl2pPr>
            <a:lvl3pPr algn="l">
              <a:defRPr sz="1950" b="0">
                <a:solidFill>
                  <a:srgbClr val="17212B"/>
                </a:solidFill>
                <a:latin typeface="Arial"/>
                <a:ea typeface="Arial"/>
                <a:cs typeface="Arial"/>
              </a:defRPr>
            </a:lvl3pPr>
            <a:lvl4pPr algn="l">
              <a:defRPr sz="1950" b="0">
                <a:solidFill>
                  <a:srgbClr val="17212B"/>
                </a:solidFill>
                <a:latin typeface="Arial"/>
                <a:ea typeface="Arial"/>
                <a:cs typeface="Arial"/>
              </a:defRPr>
            </a:lvl4pPr>
            <a:lvl5pPr algn="l">
              <a:defRPr sz="1950" b="0">
                <a:solidFill>
                  <a:srgbClr val="17212B"/>
                </a:solidFill>
                <a:latin typeface="Arial"/>
                <a:ea typeface="Arial"/>
                <a:cs typeface="Arial"/>
              </a:defRPr>
            </a:lvl5pPr>
            <a:lvl6pPr algn="l">
              <a:defRPr sz="1950" b="0">
                <a:solidFill>
                  <a:srgbClr val="17212B"/>
                </a:solidFill>
                <a:latin typeface="Arial"/>
                <a:ea typeface="Arial"/>
                <a:cs typeface="Arial"/>
              </a:defRPr>
            </a:lvl6pPr>
            <a:lvl7pPr algn="l">
              <a:defRPr sz="1950" b="0">
                <a:solidFill>
                  <a:srgbClr val="17212B"/>
                </a:solidFill>
                <a:latin typeface="Arial"/>
                <a:ea typeface="Arial"/>
                <a:cs typeface="Arial"/>
              </a:defRPr>
            </a:lvl7pPr>
            <a:lvl8pPr algn="l">
              <a:defRPr sz="1950" b="0">
                <a:solidFill>
                  <a:srgbClr val="17212B"/>
                </a:solidFill>
                <a:latin typeface="Arial"/>
                <a:ea typeface="Arial"/>
                <a:cs typeface="Arial"/>
              </a:defRPr>
            </a:lvl8pPr>
            <a:lvl9pPr algn="l">
              <a:defRPr sz="1950" b="0">
                <a:solidFill>
                  <a:srgbClr val="17212B"/>
                </a:solidFill>
                <a:latin typeface="Arial"/>
                <a:ea typeface="Arial"/>
                <a:cs typeface="Arial"/>
              </a:defRPr>
            </a:lvl9pPr>
          </a:lstStyle>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Ví dụ một ngày có 8 step, các lệnh di chuyển đều rời ô đồng bằng.</a:t>
            </a:r>
          </a:p>
        </p:txBody>
      </p:sp>
      <p:sp>
        <p:nvSpPr>
          <p:cNvPr id="7" name="text-6">
            <a:extLst xmlns:a="http://schemas.openxmlformats.org/drawingml/2006/main">
              <a:ext uri="{FF2B5EF4-FFF2-40B4-BE49-F238E27FC236}">
                <a16:creationId xmlns:a16="http://schemas.microsoft.com/office/drawing/2014/main" id="{D83AE0EA-EB09-4824-BCD2-724E5941B7E7}"/>
              </a:ext>
            </a:extLst>
          </p:cNvPr>
          <p:cNvSpPr>
            <a:spLocks xmlns:a="http://schemas.openxmlformats.org/drawingml/2006/main" noGrp="1"/>
          </p:cNvSpPr>
          <p:nvPr/>
        </p:nvSpPr>
        <p:spPr>
          <a:xfrm xmlns:a="http://schemas.openxmlformats.org/drawingml/2006/main">
            <a:off x="609600" y="45243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Simulator kiểm tra đồng thời các xe: ô kề, step, nhiên liệu, thời điểm gặp tiếp tế, tồn kho và điểm thu thập.</a:t>
            </a:r>
          </a:p>
        </p:txBody>
      </p:sp>
      <p:sp>
        <p:nvSpPr>
          <p:cNvPr id="8" name="text-7">
            <a:extLst xmlns:a="http://schemas.openxmlformats.org/drawingml/2006/main">
              <a:ext uri="{FF2B5EF4-FFF2-40B4-BE49-F238E27FC236}">
                <a16:creationId xmlns:a16="http://schemas.microsoft.com/office/drawing/2014/main" id="{DD05C1AD-7F4E-4DDF-82BD-3ACAF4F2D289}"/>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12B"/>
                </a:solidFill>
                <a:latin typeface="Arial"/>
                <a:ea typeface="Arial"/>
                <a:cs typeface="Arial"/>
              </a:defRPr>
            </a:defPPr>
            <a:lvl1pPr algn="l">
              <a:defRPr sz="1950" b="1">
                <a:solidFill>
                  <a:srgbClr val="17212B"/>
                </a:solidFill>
                <a:latin typeface="Arial"/>
                <a:ea typeface="Arial"/>
                <a:cs typeface="Arial"/>
              </a:defRPr>
            </a:lvl1pPr>
            <a:lvl2pPr algn="l">
              <a:defRPr sz="1950" b="1">
                <a:solidFill>
                  <a:srgbClr val="17212B"/>
                </a:solidFill>
                <a:latin typeface="Arial"/>
                <a:ea typeface="Arial"/>
                <a:cs typeface="Arial"/>
              </a:defRPr>
            </a:lvl2pPr>
            <a:lvl3pPr algn="l">
              <a:defRPr sz="1950" b="1">
                <a:solidFill>
                  <a:srgbClr val="17212B"/>
                </a:solidFill>
                <a:latin typeface="Arial"/>
                <a:ea typeface="Arial"/>
                <a:cs typeface="Arial"/>
              </a:defRPr>
            </a:lvl3pPr>
            <a:lvl4pPr algn="l">
              <a:defRPr sz="1950" b="1">
                <a:solidFill>
                  <a:srgbClr val="17212B"/>
                </a:solidFill>
                <a:latin typeface="Arial"/>
                <a:ea typeface="Arial"/>
                <a:cs typeface="Arial"/>
              </a:defRPr>
            </a:lvl4pPr>
            <a:lvl5pPr algn="l">
              <a:defRPr sz="1950" b="1">
                <a:solidFill>
                  <a:srgbClr val="17212B"/>
                </a:solidFill>
                <a:latin typeface="Arial"/>
                <a:ea typeface="Arial"/>
                <a:cs typeface="Arial"/>
              </a:defRPr>
            </a:lvl5pPr>
            <a:lvl6pPr algn="l">
              <a:defRPr sz="1950" b="1">
                <a:solidFill>
                  <a:srgbClr val="17212B"/>
                </a:solidFill>
                <a:latin typeface="Arial"/>
                <a:ea typeface="Arial"/>
                <a:cs typeface="Arial"/>
              </a:defRPr>
            </a:lvl6pPr>
            <a:lvl7pPr algn="l">
              <a:defRPr sz="1950" b="1">
                <a:solidFill>
                  <a:srgbClr val="17212B"/>
                </a:solidFill>
                <a:latin typeface="Arial"/>
                <a:ea typeface="Arial"/>
                <a:cs typeface="Arial"/>
              </a:defRPr>
            </a:lvl7pPr>
            <a:lvl8pPr algn="l">
              <a:defRPr sz="1950" b="1">
                <a:solidFill>
                  <a:srgbClr val="17212B"/>
                </a:solidFill>
                <a:latin typeface="Arial"/>
                <a:ea typeface="Arial"/>
                <a:cs typeface="Arial"/>
              </a:defRPr>
            </a:lvl8pPr>
            <a:lvl9pPr algn="l">
              <a:defRPr sz="1950" b="1">
                <a:solidFill>
                  <a:srgbClr val="17212B"/>
                </a:solidFill>
                <a:latin typeface="Arial"/>
                <a:ea typeface="Arial"/>
                <a:cs typeface="Arial"/>
              </a:defRPr>
            </a:lvl9pPr>
          </a:lstStyle>
          <a:p xmlns:a="http://schemas.openxmlformats.org/drawingml/2006/main">
            <a:pPr algn="l">
              <a:defRPr sz="1950" b="1">
                <a:solidFill>
                  <a:srgbClr val="17212B"/>
                </a:solidFill>
                <a:latin typeface="Arial"/>
                <a:ea typeface="Arial"/>
                <a:cs typeface="Arial"/>
              </a:defRPr>
            </a:pPr>
            <a:r>
              <a:rPr sz="1950" b="1">
                <a:solidFill>
                  <a:srgbClr val="17212B"/>
                </a:solidFill>
                <a:latin typeface="Arial"/>
                <a:ea typeface="Arial"/>
                <a:cs typeface="Arial"/>
              </a:rPr>
              <a:t>Kế hoạch sai làm runner dừng và báo lỗi. Luồng nộp hiện tại chỉ dùng tour.</a:t>
            </a:r>
          </a:p>
        </p:txBody>
      </p:sp>
    </p:spTree>
    <p:extLst>
      <p:ext uri="{BB962C8B-B14F-4D97-AF65-F5344CB8AC3E}">
        <p14:creationId xmlns:p14="http://schemas.microsoft.com/office/powerpoint/2010/main" val="119279903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558A699D-0765-4883-BAF9-0D7251665E14}"/>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Kiểm chứng simulator và kế hoạch</a:t>
            </a:r>
          </a:p>
        </p:txBody>
      </p:sp>
      <p:sp>
        <p:nvSpPr>
          <p:cNvPr id="3" name="text-2">
            <a:extLst xmlns:a="http://schemas.openxmlformats.org/drawingml/2006/main">
              <a:ext uri="{FF2B5EF4-FFF2-40B4-BE49-F238E27FC236}">
                <a16:creationId xmlns:a16="http://schemas.microsoft.com/office/drawing/2014/main" id="{DAEA61EF-F795-4F3E-B340-2637697E99D4}"/>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17</a:t>
            </a:r>
          </a:p>
        </p:txBody>
      </p:sp>
      <p:sp>
        <p:nvSpPr>
          <p:cNvPr id="4" name="text-3">
            <a:extLst xmlns:a="http://schemas.openxmlformats.org/drawingml/2006/main">
              <a:ext uri="{FF2B5EF4-FFF2-40B4-BE49-F238E27FC236}">
                <a16:creationId xmlns:a16="http://schemas.microsoft.com/office/drawing/2014/main" id="{3B26EF87-7723-492A-8BA4-710BC6021C67}"/>
              </a:ext>
            </a:extLst>
          </p:cNvPr>
          <p:cNvSpPr>
            <a:spLocks xmlns:a="http://schemas.openxmlformats.org/drawingml/2006/main" noGrp="1"/>
          </p:cNvSpPr>
          <p:nvPr/>
        </p:nvSpPr>
        <p:spPr>
          <a:xfrm xmlns:a="http://schemas.openxmlformats.org/drawingml/2006/main">
            <a:off x="609600" y="6210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573"/>
                </a:solidFill>
                <a:latin typeface="Arial"/>
                <a:ea typeface="Arial"/>
                <a:cs typeface="Arial"/>
              </a:defRPr>
            </a:defPPr>
            <a:lvl1pPr algn="l">
              <a:defRPr sz="1200" b="0">
                <a:solidFill>
                  <a:srgbClr val="586573"/>
                </a:solidFill>
                <a:latin typeface="Arial"/>
                <a:ea typeface="Arial"/>
                <a:cs typeface="Arial"/>
              </a:defRPr>
            </a:lvl1pPr>
            <a:lvl2pPr algn="l">
              <a:defRPr sz="1200" b="0">
                <a:solidFill>
                  <a:srgbClr val="586573"/>
                </a:solidFill>
                <a:latin typeface="Arial"/>
                <a:ea typeface="Arial"/>
                <a:cs typeface="Arial"/>
              </a:defRPr>
            </a:lvl2pPr>
            <a:lvl3pPr algn="l">
              <a:defRPr sz="1200" b="0">
                <a:solidFill>
                  <a:srgbClr val="586573"/>
                </a:solidFill>
                <a:latin typeface="Arial"/>
                <a:ea typeface="Arial"/>
                <a:cs typeface="Arial"/>
              </a:defRPr>
            </a:lvl3pPr>
            <a:lvl4pPr algn="l">
              <a:defRPr sz="1200" b="0">
                <a:solidFill>
                  <a:srgbClr val="586573"/>
                </a:solidFill>
                <a:latin typeface="Arial"/>
                <a:ea typeface="Arial"/>
                <a:cs typeface="Arial"/>
              </a:defRPr>
            </a:lvl4pPr>
            <a:lvl5pPr algn="l">
              <a:defRPr sz="1200" b="0">
                <a:solidFill>
                  <a:srgbClr val="586573"/>
                </a:solidFill>
                <a:latin typeface="Arial"/>
                <a:ea typeface="Arial"/>
                <a:cs typeface="Arial"/>
              </a:defRPr>
            </a:lvl5pPr>
            <a:lvl6pPr algn="l">
              <a:defRPr sz="1200" b="0">
                <a:solidFill>
                  <a:srgbClr val="586573"/>
                </a:solidFill>
                <a:latin typeface="Arial"/>
                <a:ea typeface="Arial"/>
                <a:cs typeface="Arial"/>
              </a:defRPr>
            </a:lvl6pPr>
            <a:lvl7pPr algn="l">
              <a:defRPr sz="1200" b="0">
                <a:solidFill>
                  <a:srgbClr val="586573"/>
                </a:solidFill>
                <a:latin typeface="Arial"/>
                <a:ea typeface="Arial"/>
                <a:cs typeface="Arial"/>
              </a:defRPr>
            </a:lvl7pPr>
            <a:lvl8pPr algn="l">
              <a:defRPr sz="1200" b="0">
                <a:solidFill>
                  <a:srgbClr val="586573"/>
                </a:solidFill>
                <a:latin typeface="Arial"/>
                <a:ea typeface="Arial"/>
                <a:cs typeface="Arial"/>
              </a:defRPr>
            </a:lvl8pPr>
            <a:lvl9pPr algn="l">
              <a:defRPr sz="1200" b="0">
                <a:solidFill>
                  <a:srgbClr val="586573"/>
                </a:solidFill>
                <a:latin typeface="Arial"/>
                <a:ea typeface="Arial"/>
                <a:cs typeface="Arial"/>
              </a:defRPr>
            </a:lvl9pPr>
          </a:lstStyle>
          <a:p xmlns:a="http://schemas.openxmlformats.org/drawingml/2006/main">
            <a:pPr algn="l">
              <a:defRPr sz="1200" b="0">
                <a:solidFill>
                  <a:srgbClr val="586573"/>
                </a:solidFill>
                <a:latin typeface="Arial"/>
                <a:ea typeface="Arial"/>
                <a:cs typeface="Arial"/>
              </a:defRPr>
            </a:pPr>
            <a:r>
              <a:rPr sz="1200" b="0">
                <a:solidFill>
                  <a:srgbClr val="586573"/>
                </a:solidFill>
                <a:latin typeface="Arial"/>
                <a:ea typeface="Arial"/>
                <a:cs typeface="Arial"/>
              </a:rPr>
              <a:t>Bằng chứng lịch sử của tám lượt tour đã lưu, khác ảnh chụp điểm tài khoản ngày 23/10</a:t>
            </a:r>
          </a:p>
        </p:txBody>
      </p:sp>
      <p:graphicFrame>
        <p:nvGraphicFramePr>
          <p:cNvPr id="5" name="">
            <a:extLst xmlns:a="http://schemas.openxmlformats.org/drawingml/2006/main">
              <a:ext uri="{FF2B5EF4-FFF2-40B4-BE49-F238E27FC236}">
                <a16:creationId xmlns:a16="http://schemas.microsoft.com/office/drawing/2014/main" id="{5F2BB0B4-389C-47B8-96C9-8F2664845157}"/>
              </a:ext>
            </a:extLst>
          </p:cNvPr>
          <p:cNvGraphicFramePr/>
          <p:nvPr/>
        </p:nvGraphicFramePr>
        <p:xfrm>
          <a:off xmlns:a="http://schemas.openxmlformats.org/drawingml/2006/main" x="609600" y="1619250"/>
          <a:ext xmlns:a="http://schemas.openxmlformats.org/drawingml/2006/main" cx="10972800" cy="3429000"/>
        </p:xfrm>
        <a:graphic xmlns:a="http://schemas.openxmlformats.org/drawingml/2006/main">
          <a:graphicData uri="http://schemas.openxmlformats.org/drawingml/2006/table">
            <a:tbl>
              <a:tblPr/>
              <a:tblGrid>
                <a:gridCol w="7239000"/>
                <a:gridCol w="3733800"/>
              </a:tblGrid>
              <a:tr h="571500">
                <a:tc>
                  <a:txBody>
                    <a:bodyPr wrap="square" lIns="104775" tIns="66675" rIns="104775" bIns="66675">
                      <a:noAutofit/>
                    </a:bodyPr>
                    <a:lstStyle/>
                    <a:p>
                      <a:pPr algn="l"/>
                      <a:r>
                        <a:rPr sz="2100" b="1">
                          <a:solidFill>
                            <a:srgbClr val="17212B"/>
                          </a:solidFill>
                          <a:latin typeface="Arial"/>
                          <a:ea typeface="Arial"/>
                          <a:cs typeface="Arial"/>
                        </a:rPr>
                        <a:t>Nội dung đối chiếu</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100" b="1">
                          <a:solidFill>
                            <a:srgbClr val="17212B"/>
                          </a:solidFill>
                          <a:latin typeface="Arial"/>
                          <a:ea typeface="Arial"/>
                          <a:cs typeface="Arial"/>
                        </a:rPr>
                        <a:t>Kết quả đã lưu</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571500">
                <a:tc>
                  <a:txBody>
                    <a:bodyPr wrap="square" lIns="104775" tIns="66675" rIns="104775" bIns="66675">
                      <a:noAutofit/>
                    </a:bodyPr>
                    <a:lstStyle/>
                    <a:p>
                      <a:pPr algn="l"/>
                      <a:r>
                        <a:rPr sz="2175" b="0">
                          <a:solidFill>
                            <a:srgbClr val="17212B"/>
                          </a:solidFill>
                          <a:latin typeface="Arial"/>
                          <a:ea typeface="Arial"/>
                          <a:cs typeface="Arial"/>
                        </a:rPr>
                        <a:t>Lượt Practice hoàn tất</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8 bản đồ khác nhau</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75" b="0">
                          <a:solidFill>
                            <a:srgbClr val="17212B"/>
                          </a:solidFill>
                          <a:latin typeface="Arial"/>
                          <a:ea typeface="Arial"/>
                          <a:cs typeface="Arial"/>
                        </a:rPr>
                        <a:t>Kế hoạch ngày máy chủ chấp nhận</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80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75" b="0">
                          <a:solidFill>
                            <a:srgbClr val="17212B"/>
                          </a:solidFill>
                          <a:latin typeface="Arial"/>
                          <a:ea typeface="Arial"/>
                          <a:cs typeface="Arial"/>
                        </a:rPr>
                        <a:t>Khung trạng thái replay đã đối chiếu</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12.155</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75" b="0">
                          <a:solidFill>
                            <a:srgbClr val="17212B"/>
                          </a:solidFill>
                          <a:latin typeface="Arial"/>
                          <a:ea typeface="Arial"/>
                          <a:cs typeface="Arial"/>
                        </a:rPr>
                        <a:t>Giá trị đã kiểm tra trong replay</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188.902</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75" b="0">
                          <a:solidFill>
                            <a:srgbClr val="17212B"/>
                          </a:solidFill>
                          <a:latin typeface="Arial"/>
                          <a:ea typeface="Arial"/>
                          <a:cs typeface="Arial"/>
                        </a:rPr>
                        <a:t>Sai khác ở các trường được kiểm tra</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4C917342-1FB6-4EC6-809E-D62A2FD863FF}"/>
              </a:ext>
            </a:extLst>
          </p:cNvPr>
          <p:cNvSpPr>
            <a:spLocks xmlns:a="http://schemas.openxmlformats.org/drawingml/2006/main" noGrp="1"/>
          </p:cNvSpPr>
          <p:nvPr/>
        </p:nvSpPr>
        <p:spPr>
          <a:xfrm xmlns:a="http://schemas.openxmlformats.org/drawingml/2006/main">
            <a:off x="609600" y="542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12B"/>
                </a:solidFill>
                <a:latin typeface="Arial"/>
                <a:ea typeface="Arial"/>
                <a:cs typeface="Arial"/>
              </a:defRPr>
            </a:defPPr>
            <a:lvl1pPr algn="l">
              <a:defRPr sz="2025" b="0">
                <a:solidFill>
                  <a:srgbClr val="17212B"/>
                </a:solidFill>
                <a:latin typeface="Arial"/>
                <a:ea typeface="Arial"/>
                <a:cs typeface="Arial"/>
              </a:defRPr>
            </a:lvl1pPr>
            <a:lvl2pPr algn="l">
              <a:defRPr sz="2025" b="0">
                <a:solidFill>
                  <a:srgbClr val="17212B"/>
                </a:solidFill>
                <a:latin typeface="Arial"/>
                <a:ea typeface="Arial"/>
                <a:cs typeface="Arial"/>
              </a:defRPr>
            </a:lvl2pPr>
            <a:lvl3pPr algn="l">
              <a:defRPr sz="2025" b="0">
                <a:solidFill>
                  <a:srgbClr val="17212B"/>
                </a:solidFill>
                <a:latin typeface="Arial"/>
                <a:ea typeface="Arial"/>
                <a:cs typeface="Arial"/>
              </a:defRPr>
            </a:lvl3pPr>
            <a:lvl4pPr algn="l">
              <a:defRPr sz="2025" b="0">
                <a:solidFill>
                  <a:srgbClr val="17212B"/>
                </a:solidFill>
                <a:latin typeface="Arial"/>
                <a:ea typeface="Arial"/>
                <a:cs typeface="Arial"/>
              </a:defRPr>
            </a:lvl4pPr>
            <a:lvl5pPr algn="l">
              <a:defRPr sz="2025" b="0">
                <a:solidFill>
                  <a:srgbClr val="17212B"/>
                </a:solidFill>
                <a:latin typeface="Arial"/>
                <a:ea typeface="Arial"/>
                <a:cs typeface="Arial"/>
              </a:defRPr>
            </a:lvl5pPr>
            <a:lvl6pPr algn="l">
              <a:defRPr sz="2025" b="0">
                <a:solidFill>
                  <a:srgbClr val="17212B"/>
                </a:solidFill>
                <a:latin typeface="Arial"/>
                <a:ea typeface="Arial"/>
                <a:cs typeface="Arial"/>
              </a:defRPr>
            </a:lvl6pPr>
            <a:lvl7pPr algn="l">
              <a:defRPr sz="2025" b="0">
                <a:solidFill>
                  <a:srgbClr val="17212B"/>
                </a:solidFill>
                <a:latin typeface="Arial"/>
                <a:ea typeface="Arial"/>
                <a:cs typeface="Arial"/>
              </a:defRPr>
            </a:lvl7pPr>
            <a:lvl8pPr algn="l">
              <a:defRPr sz="2025" b="0">
                <a:solidFill>
                  <a:srgbClr val="17212B"/>
                </a:solidFill>
                <a:latin typeface="Arial"/>
                <a:ea typeface="Arial"/>
                <a:cs typeface="Arial"/>
              </a:defRPr>
            </a:lvl8pPr>
            <a:lvl9pPr algn="l">
              <a:defRPr sz="2025" b="0">
                <a:solidFill>
                  <a:srgbClr val="17212B"/>
                </a:solidFill>
                <a:latin typeface="Arial"/>
                <a:ea typeface="Arial"/>
                <a:cs typeface="Arial"/>
              </a:defRPr>
            </a:lvl9pPr>
          </a:lstStyle>
          <a:p xmlns:a="http://schemas.openxmlformats.org/drawingml/2006/main">
            <a:pPr algn="l">
              <a:defRPr sz="2025" b="0">
                <a:solidFill>
                  <a:srgbClr val="17212B"/>
                </a:solidFill>
                <a:latin typeface="Arial"/>
                <a:ea typeface="Arial"/>
                <a:cs typeface="Arial"/>
              </a:defRPr>
            </a:pPr>
            <a:r>
              <a:rPr sz="2025" b="0">
                <a:solidFill>
                  <a:srgbClr val="17212B"/>
                </a:solidFill>
                <a:latin typeface="Arial"/>
                <a:ea typeface="Arial"/>
                <a:cs typeface="Arial"/>
              </a:rPr>
              <a:t>Kết quả tăng độ tin cậy trong phạm vi đã kiểm tra. Nó chưa chứng minh simulator đúng với mọi trạng thái hoặc trận nhiều đội.</a:t>
            </a:r>
          </a:p>
        </p:txBody>
      </p:sp>
    </p:spTree>
    <p:extLst>
      <p:ext uri="{BB962C8B-B14F-4D97-AF65-F5344CB8AC3E}">
        <p14:creationId xmlns:p14="http://schemas.microsoft.com/office/powerpoint/2010/main" val="11854567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46AF782A-B5A4-4F05-A1FA-2258F06BF08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Điểm hiện tại trên chín bài Practice</a:t>
            </a:r>
          </a:p>
        </p:txBody>
      </p:sp>
      <p:sp>
        <p:nvSpPr>
          <p:cNvPr id="3" name="text-2">
            <a:extLst xmlns:a="http://schemas.openxmlformats.org/drawingml/2006/main">
              <a:ext uri="{FF2B5EF4-FFF2-40B4-BE49-F238E27FC236}">
                <a16:creationId xmlns:a16="http://schemas.microsoft.com/office/drawing/2014/main" id="{4AEA29F0-1F03-44AA-93C0-6E7B1444AC6A}"/>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18</a:t>
            </a:r>
          </a:p>
        </p:txBody>
      </p:sp>
      <p:sp>
        <p:nvSpPr>
          <p:cNvPr id="4" name="text-3">
            <a:extLst xmlns:a="http://schemas.openxmlformats.org/drawingml/2006/main">
              <a:ext uri="{FF2B5EF4-FFF2-40B4-BE49-F238E27FC236}">
                <a16:creationId xmlns:a16="http://schemas.microsoft.com/office/drawing/2014/main" id="{E06CDF05-9BB6-4A6F-BAC9-ADD9FCD5D11B}"/>
              </a:ext>
            </a:extLst>
          </p:cNvPr>
          <p:cNvSpPr>
            <a:spLocks xmlns:a="http://schemas.openxmlformats.org/drawingml/2006/main" noGrp="1"/>
          </p:cNvSpPr>
          <p:nvPr/>
        </p:nvSpPr>
        <p:spPr>
          <a:xfrm xmlns:a="http://schemas.openxmlformats.org/drawingml/2006/main">
            <a:off x="609600" y="6210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573"/>
                </a:solidFill>
                <a:latin typeface="Arial"/>
                <a:ea typeface="Arial"/>
                <a:cs typeface="Arial"/>
              </a:defRPr>
            </a:defPPr>
            <a:lvl1pPr algn="l">
              <a:defRPr sz="1200" b="0">
                <a:solidFill>
                  <a:srgbClr val="586573"/>
                </a:solidFill>
                <a:latin typeface="Arial"/>
                <a:ea typeface="Arial"/>
                <a:cs typeface="Arial"/>
              </a:defRPr>
            </a:lvl1pPr>
            <a:lvl2pPr algn="l">
              <a:defRPr sz="1200" b="0">
                <a:solidFill>
                  <a:srgbClr val="586573"/>
                </a:solidFill>
                <a:latin typeface="Arial"/>
                <a:ea typeface="Arial"/>
                <a:cs typeface="Arial"/>
              </a:defRPr>
            </a:lvl2pPr>
            <a:lvl3pPr algn="l">
              <a:defRPr sz="1200" b="0">
                <a:solidFill>
                  <a:srgbClr val="586573"/>
                </a:solidFill>
                <a:latin typeface="Arial"/>
                <a:ea typeface="Arial"/>
                <a:cs typeface="Arial"/>
              </a:defRPr>
            </a:lvl3pPr>
            <a:lvl4pPr algn="l">
              <a:defRPr sz="1200" b="0">
                <a:solidFill>
                  <a:srgbClr val="586573"/>
                </a:solidFill>
                <a:latin typeface="Arial"/>
                <a:ea typeface="Arial"/>
                <a:cs typeface="Arial"/>
              </a:defRPr>
            </a:lvl4pPr>
            <a:lvl5pPr algn="l">
              <a:defRPr sz="1200" b="0">
                <a:solidFill>
                  <a:srgbClr val="586573"/>
                </a:solidFill>
                <a:latin typeface="Arial"/>
                <a:ea typeface="Arial"/>
                <a:cs typeface="Arial"/>
              </a:defRPr>
            </a:lvl5pPr>
            <a:lvl6pPr algn="l">
              <a:defRPr sz="1200" b="0">
                <a:solidFill>
                  <a:srgbClr val="586573"/>
                </a:solidFill>
                <a:latin typeface="Arial"/>
                <a:ea typeface="Arial"/>
                <a:cs typeface="Arial"/>
              </a:defRPr>
            </a:lvl6pPr>
            <a:lvl7pPr algn="l">
              <a:defRPr sz="1200" b="0">
                <a:solidFill>
                  <a:srgbClr val="586573"/>
                </a:solidFill>
                <a:latin typeface="Arial"/>
                <a:ea typeface="Arial"/>
                <a:cs typeface="Arial"/>
              </a:defRPr>
            </a:lvl7pPr>
            <a:lvl8pPr algn="l">
              <a:defRPr sz="1200" b="0">
                <a:solidFill>
                  <a:srgbClr val="586573"/>
                </a:solidFill>
                <a:latin typeface="Arial"/>
                <a:ea typeface="Arial"/>
                <a:cs typeface="Arial"/>
              </a:defRPr>
            </a:lvl8pPr>
            <a:lvl9pPr algn="l">
              <a:defRPr sz="1200" b="0">
                <a:solidFill>
                  <a:srgbClr val="586573"/>
                </a:solidFill>
                <a:latin typeface="Arial"/>
                <a:ea typeface="Arial"/>
                <a:cs typeface="Arial"/>
              </a:defRPr>
            </a:lvl9pPr>
          </a:lstStyle>
          <a:p xmlns:a="http://schemas.openxmlformats.org/drawingml/2006/main">
            <a:pPr algn="l">
              <a:defRPr sz="1200" b="0">
                <a:solidFill>
                  <a:srgbClr val="586573"/>
                </a:solidFill>
                <a:latin typeface="Arial"/>
                <a:ea typeface="Arial"/>
                <a:cs typeface="Arial"/>
              </a:defRPr>
            </a:pPr>
            <a:r>
              <a:rPr sz="1200" b="0">
                <a:solidFill>
                  <a:srgbClr val="586573"/>
                </a:solidFill>
                <a:latin typeface="Arial"/>
                <a:ea typeface="Arial"/>
                <a:cs typeface="Arial"/>
              </a:rPr>
              <a:t>Ảnh chụp API 23/10/2026, 21:53–22:01 UTC+7. Điểm Q chưa có chứng nhận tối ưu.</a:t>
            </a:r>
          </a:p>
        </p:txBody>
      </p:sp>
      <p:graphicFrame>
        <p:nvGraphicFramePr>
          <p:cNvPr id="5" name="">
            <a:extLst xmlns:a="http://schemas.openxmlformats.org/drawingml/2006/main">
              <a:ext uri="{FF2B5EF4-FFF2-40B4-BE49-F238E27FC236}">
                <a16:creationId xmlns:a16="http://schemas.microsoft.com/office/drawing/2014/main" id="{404A1D66-E7CE-418C-ADDE-8F22A35335A5}"/>
              </a:ext>
            </a:extLst>
          </p:cNvPr>
          <p:cNvGraphicFramePr/>
          <p:nvPr/>
        </p:nvGraphicFramePr>
        <p:xfrm>
          <a:off xmlns:a="http://schemas.openxmlformats.org/drawingml/2006/main" x="609600" y="1600200"/>
          <a:ext xmlns:a="http://schemas.openxmlformats.org/drawingml/2006/main" cx="10972800" cy="4191000"/>
        </p:xfrm>
        <a:graphic xmlns:a="http://schemas.openxmlformats.org/drawingml/2006/main">
          <a:graphicData uri="http://schemas.openxmlformats.org/drawingml/2006/table">
            <a:tbl>
              <a:tblPr/>
              <a:tblGrid>
                <a:gridCol w="1190625"/>
                <a:gridCol w="3952875"/>
                <a:gridCol w="2286000"/>
                <a:gridCol w="3543300"/>
              </a:tblGrid>
              <a:tr h="419100">
                <a:tc>
                  <a:txBody>
                    <a:bodyPr wrap="square" lIns="104775" tIns="66675" rIns="104775" bIns="66675">
                      <a:noAutofit/>
                    </a:bodyPr>
                    <a:lstStyle/>
                    <a:p>
                      <a:pPr algn="l"/>
                      <a:r>
                        <a:rPr sz="1800" b="1">
                          <a:solidFill>
                            <a:srgbClr val="17212B"/>
                          </a:solidFill>
                          <a:latin typeface="Arial"/>
                          <a:ea typeface="Arial"/>
                          <a:cs typeface="Arial"/>
                        </a:rPr>
                        <a:t>Bài</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00" b="1">
                          <a:solidFill>
                            <a:srgbClr val="17212B"/>
                          </a:solidFill>
                          <a:latin typeface="Arial"/>
                          <a:ea typeface="Arial"/>
                          <a:cs typeface="Arial"/>
                        </a:rPr>
                        <a:t>Điểm đội 62 (U, D, Q)</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00" b="1">
                          <a:solidFill>
                            <a:srgbClr val="17212B"/>
                          </a:solidFill>
                          <a:latin typeface="Arial"/>
                          <a:ea typeface="Arial"/>
                          <a:cs typeface="Arial"/>
                        </a:rPr>
                        <a:t>Cận trên U, D</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00" b="1">
                          <a:solidFill>
                            <a:srgbClr val="17212B"/>
                          </a:solidFill>
                          <a:latin typeface="Arial"/>
                          <a:ea typeface="Arial"/>
                          <a:cs typeface="Arial"/>
                        </a:rPr>
                        <a:t>Hạng / số đội hoàn tất</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419100">
                <a:tc>
                  <a:txBody>
                    <a:bodyPr wrap="square" lIns="104775" tIns="66675" rIns="104775" bIns="66675">
                      <a:noAutofit/>
                    </a:bodyPr>
                    <a:lstStyle/>
                    <a:p>
                      <a:pPr algn="l"/>
                      <a:r>
                        <a:rPr sz="1875" b="0">
                          <a:solidFill>
                            <a:srgbClr val="17212B"/>
                          </a:solidFill>
                          <a:latin typeface="Arial"/>
                          <a:ea typeface="Arial"/>
                          <a:cs typeface="Arial"/>
                        </a:rPr>
                        <a:t>Q01</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(20, 200, 619)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(20, 200)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A03232"/>
                          </a:solidFill>
                          <a:latin typeface="Arial"/>
                          <a:ea typeface="Arial"/>
                          <a:cs typeface="Arial"/>
                        </a:rPr>
                        <a:t>2/7</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19100">
                <a:tc>
                  <a:txBody>
                    <a:bodyPr wrap="square" lIns="104775" tIns="66675" rIns="104775" bIns="66675">
                      <a:noAutofit/>
                    </a:bodyPr>
                    <a:lstStyle/>
                    <a:p>
                      <a:pPr algn="l"/>
                      <a:r>
                        <a:rPr sz="1875" b="0">
                          <a:solidFill>
                            <a:srgbClr val="17212B"/>
                          </a:solidFill>
                          <a:latin typeface="Arial"/>
                          <a:ea typeface="Arial"/>
                          <a:cs typeface="Arial"/>
                        </a:rPr>
                        <a:t>Q02</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(20, 200, 609)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(20, 200)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A03232"/>
                          </a:solidFill>
                          <a:latin typeface="Arial"/>
                          <a:ea typeface="Arial"/>
                          <a:cs typeface="Arial"/>
                        </a:rPr>
                        <a:t>2/5</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19100">
                <a:tc>
                  <a:txBody>
                    <a:bodyPr wrap="square" lIns="104775" tIns="66675" rIns="104775" bIns="66675">
                      <a:noAutofit/>
                    </a:bodyPr>
                    <a:lstStyle/>
                    <a:p>
                      <a:pPr algn="l"/>
                      <a:r>
                        <a:rPr sz="1875" b="0">
                          <a:solidFill>
                            <a:srgbClr val="17212B"/>
                          </a:solidFill>
                          <a:latin typeface="Arial"/>
                          <a:ea typeface="Arial"/>
                          <a:cs typeface="Arial"/>
                        </a:rPr>
                        <a:t>Q03</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(20, 200, 697)</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(20, 200)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176B47"/>
                          </a:solidFill>
                          <a:latin typeface="Arial"/>
                          <a:ea typeface="Arial"/>
                          <a:cs typeface="Arial"/>
                        </a:rPr>
                        <a:t>1/5</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19100">
                <a:tc>
                  <a:txBody>
                    <a:bodyPr wrap="square" lIns="104775" tIns="66675" rIns="104775" bIns="66675">
                      <a:noAutofit/>
                    </a:bodyPr>
                    <a:lstStyle/>
                    <a:p>
                      <a:pPr algn="l"/>
                      <a:r>
                        <a:rPr sz="1875" b="0">
                          <a:solidFill>
                            <a:srgbClr val="17212B"/>
                          </a:solidFill>
                          <a:latin typeface="Arial"/>
                          <a:ea typeface="Arial"/>
                          <a:cs typeface="Arial"/>
                        </a:rPr>
                        <a:t>Q04</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(20, 200, 649)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(20, 200)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176B47"/>
                          </a:solidFill>
                          <a:latin typeface="Arial"/>
                          <a:ea typeface="Arial"/>
                          <a:cs typeface="Arial"/>
                        </a:rPr>
                        <a:t>1/4</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19100">
                <a:tc>
                  <a:txBody>
                    <a:bodyPr wrap="square" lIns="104775" tIns="66675" rIns="104775" bIns="66675">
                      <a:noAutofit/>
                    </a:bodyPr>
                    <a:lstStyle/>
                    <a:p>
                      <a:pPr algn="l"/>
                      <a:r>
                        <a:rPr sz="1875" b="0">
                          <a:solidFill>
                            <a:srgbClr val="17212B"/>
                          </a:solidFill>
                          <a:latin typeface="Arial"/>
                          <a:ea typeface="Arial"/>
                          <a:cs typeface="Arial"/>
                        </a:rPr>
                        <a:t>Q06</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(15, 150, 757)</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176B47"/>
                          </a:solidFill>
                          <a:latin typeface="Arial"/>
                          <a:ea typeface="Arial"/>
                          <a:cs typeface="Arial"/>
                        </a:rPr>
                        <a:t>1/4</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19100">
                <a:tc>
                  <a:txBody>
                    <a:bodyPr wrap="square" lIns="104775" tIns="66675" rIns="104775" bIns="66675">
                      <a:noAutofit/>
                    </a:bodyPr>
                    <a:lstStyle/>
                    <a:p>
                      <a:pPr algn="l"/>
                      <a:r>
                        <a:rPr sz="1875" b="0">
                          <a:solidFill>
                            <a:srgbClr val="17212B"/>
                          </a:solidFill>
                          <a:latin typeface="Arial"/>
                          <a:ea typeface="Arial"/>
                          <a:cs typeface="Arial"/>
                        </a:rPr>
                        <a:t>Q07</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(15, 150, 846)</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176B47"/>
                          </a:solidFill>
                          <a:latin typeface="Arial"/>
                          <a:ea typeface="Arial"/>
                          <a:cs typeface="Arial"/>
                        </a:rPr>
                        <a:t>1/4</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19100">
                <a:tc>
                  <a:txBody>
                    <a:bodyPr wrap="square" lIns="104775" tIns="66675" rIns="104775" bIns="66675">
                      <a:noAutofit/>
                    </a:bodyPr>
                    <a:lstStyle/>
                    <a:p>
                      <a:pPr algn="l"/>
                      <a:r>
                        <a:rPr sz="1875" b="0">
                          <a:solidFill>
                            <a:srgbClr val="17212B"/>
                          </a:solidFill>
                          <a:latin typeface="Arial"/>
                          <a:ea typeface="Arial"/>
                          <a:cs typeface="Arial"/>
                        </a:rPr>
                        <a:t>Q08</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(15, 150, 695)</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176B47"/>
                          </a:solidFill>
                          <a:latin typeface="Arial"/>
                          <a:ea typeface="Arial"/>
                          <a:cs typeface="Arial"/>
                        </a:rPr>
                        <a:t>1/4</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19100">
                <a:tc>
                  <a:txBody>
                    <a:bodyPr wrap="square" lIns="104775" tIns="66675" rIns="104775" bIns="66675">
                      <a:noAutofit/>
                    </a:bodyPr>
                    <a:lstStyle/>
                    <a:p>
                      <a:pPr algn="l"/>
                      <a:r>
                        <a:rPr sz="1875" b="0">
                          <a:solidFill>
                            <a:srgbClr val="17212B"/>
                          </a:solidFill>
                          <a:latin typeface="Arial"/>
                          <a:ea typeface="Arial"/>
                          <a:cs typeface="Arial"/>
                        </a:rPr>
                        <a:t>Q09</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(15, 150, 713)</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176B47"/>
                          </a:solidFill>
                          <a:latin typeface="Arial"/>
                          <a:ea typeface="Arial"/>
                          <a:cs typeface="Arial"/>
                        </a:rPr>
                        <a:t>1/4</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19100">
                <a:tc>
                  <a:txBody>
                    <a:bodyPr wrap="square" lIns="104775" tIns="66675" rIns="104775" bIns="66675">
                      <a:noAutofit/>
                    </a:bodyPr>
                    <a:lstStyle/>
                    <a:p>
                      <a:pPr algn="l"/>
                      <a:r>
                        <a:rPr sz="1875" b="0">
                          <a:solidFill>
                            <a:srgbClr val="17212B"/>
                          </a:solidFill>
                          <a:latin typeface="Arial"/>
                          <a:ea typeface="Arial"/>
                          <a:cs typeface="Arial"/>
                        </a:rPr>
                        <a:t>Q10</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(15, 150, 713)</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(15, 150)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1">
                          <a:solidFill>
                            <a:srgbClr val="176B47"/>
                          </a:solidFill>
                          <a:latin typeface="Arial"/>
                          <a:ea typeface="Arial"/>
                          <a:cs typeface="Arial"/>
                        </a:rPr>
                        <a:t>1/5</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B0F71C7F-1029-4145-9EB7-280656ED92AC}"/>
              </a:ext>
            </a:extLst>
          </p:cNvPr>
          <p:cNvSpPr>
            <a:spLocks xmlns:a="http://schemas.openxmlformats.org/drawingml/2006/main" noGrp="1"/>
          </p:cNvSpPr>
          <p:nvPr/>
        </p:nvSpPr>
        <p:spPr>
          <a:xfrm xmlns:a="http://schemas.openxmlformats.org/drawingml/2006/main">
            <a:off x="609600" y="58578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4EA6"/>
                </a:solidFill>
                <a:latin typeface="Arial"/>
                <a:ea typeface="Arial"/>
                <a:cs typeface="Arial"/>
              </a:defRPr>
            </a:defPPr>
            <a:lvl1pPr algn="l">
              <a:defRPr sz="2025" b="1">
                <a:solidFill>
                  <a:srgbClr val="174EA6"/>
                </a:solidFill>
                <a:latin typeface="Arial"/>
                <a:ea typeface="Arial"/>
                <a:cs typeface="Arial"/>
              </a:defRPr>
            </a:lvl1pPr>
            <a:lvl2pPr algn="l">
              <a:defRPr sz="2025" b="1">
                <a:solidFill>
                  <a:srgbClr val="174EA6"/>
                </a:solidFill>
                <a:latin typeface="Arial"/>
                <a:ea typeface="Arial"/>
                <a:cs typeface="Arial"/>
              </a:defRPr>
            </a:lvl2pPr>
            <a:lvl3pPr algn="l">
              <a:defRPr sz="2025" b="1">
                <a:solidFill>
                  <a:srgbClr val="174EA6"/>
                </a:solidFill>
                <a:latin typeface="Arial"/>
                <a:ea typeface="Arial"/>
                <a:cs typeface="Arial"/>
              </a:defRPr>
            </a:lvl3pPr>
            <a:lvl4pPr algn="l">
              <a:defRPr sz="2025" b="1">
                <a:solidFill>
                  <a:srgbClr val="174EA6"/>
                </a:solidFill>
                <a:latin typeface="Arial"/>
                <a:ea typeface="Arial"/>
                <a:cs typeface="Arial"/>
              </a:defRPr>
            </a:lvl4pPr>
            <a:lvl5pPr algn="l">
              <a:defRPr sz="2025" b="1">
                <a:solidFill>
                  <a:srgbClr val="174EA6"/>
                </a:solidFill>
                <a:latin typeface="Arial"/>
                <a:ea typeface="Arial"/>
                <a:cs typeface="Arial"/>
              </a:defRPr>
            </a:lvl5pPr>
            <a:lvl6pPr algn="l">
              <a:defRPr sz="2025" b="1">
                <a:solidFill>
                  <a:srgbClr val="174EA6"/>
                </a:solidFill>
                <a:latin typeface="Arial"/>
                <a:ea typeface="Arial"/>
                <a:cs typeface="Arial"/>
              </a:defRPr>
            </a:lvl6pPr>
            <a:lvl7pPr algn="l">
              <a:defRPr sz="2025" b="1">
                <a:solidFill>
                  <a:srgbClr val="174EA6"/>
                </a:solidFill>
                <a:latin typeface="Arial"/>
                <a:ea typeface="Arial"/>
                <a:cs typeface="Arial"/>
              </a:defRPr>
            </a:lvl7pPr>
            <a:lvl8pPr algn="l">
              <a:defRPr sz="2025" b="1">
                <a:solidFill>
                  <a:srgbClr val="174EA6"/>
                </a:solidFill>
                <a:latin typeface="Arial"/>
                <a:ea typeface="Arial"/>
                <a:cs typeface="Arial"/>
              </a:defRPr>
            </a:lvl8pPr>
            <a:lvl9pPr algn="l">
              <a:defRPr sz="2025" b="1">
                <a:solidFill>
                  <a:srgbClr val="174EA6"/>
                </a:solidFill>
                <a:latin typeface="Arial"/>
                <a:ea typeface="Arial"/>
                <a:cs typeface="Arial"/>
              </a:defRPr>
            </a:lvl9pPr>
          </a:lstStyle>
          <a:p xmlns:a="http://schemas.openxmlformats.org/drawingml/2006/main">
            <a:pPr algn="l">
              <a:defRPr sz="2025" b="1">
                <a:solidFill>
                  <a:srgbClr val="174EA6"/>
                </a:solidFill>
                <a:latin typeface="Arial"/>
                <a:ea typeface="Arial"/>
                <a:cs typeface="Arial"/>
              </a:defRPr>
            </a:pPr>
            <a:r>
              <a:rPr sz="2025" b="1">
                <a:solidFill>
                  <a:srgbClr val="174EA6"/>
                </a:solidFill>
                <a:latin typeface="Arial"/>
                <a:ea typeface="Arial"/>
                <a:cs typeface="Arial"/>
              </a:rPr>
              <a:t>Cả chín lượt đều đạt cận U và D. Đội mình dẫn đầu 7 bài, đứng thứ hai ở 2 bài.</a:t>
            </a:r>
          </a:p>
        </p:txBody>
      </p:sp>
    </p:spTree>
    <p:extLst>
      <p:ext uri="{BB962C8B-B14F-4D97-AF65-F5344CB8AC3E}">
        <p14:creationId xmlns:p14="http://schemas.microsoft.com/office/powerpoint/2010/main" val="168098759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BF14229B-B9E1-42EE-8F89-6DD9B4A05C5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Đối chiếu với các đội có bài hoàn tất</a:t>
            </a:r>
          </a:p>
        </p:txBody>
      </p:sp>
      <p:sp>
        <p:nvSpPr>
          <p:cNvPr id="3" name="text-2">
            <a:extLst xmlns:a="http://schemas.openxmlformats.org/drawingml/2006/main">
              <a:ext uri="{FF2B5EF4-FFF2-40B4-BE49-F238E27FC236}">
                <a16:creationId xmlns:a16="http://schemas.microsoft.com/office/drawing/2014/main" id="{8AA69B02-89F0-4BDB-A0E4-68EF32ACDAFF}"/>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19</a:t>
            </a:r>
          </a:p>
        </p:txBody>
      </p:sp>
      <p:sp>
        <p:nvSpPr>
          <p:cNvPr id="4" name="text-3">
            <a:extLst xmlns:a="http://schemas.openxmlformats.org/drawingml/2006/main">
              <a:ext uri="{FF2B5EF4-FFF2-40B4-BE49-F238E27FC236}">
                <a16:creationId xmlns:a16="http://schemas.microsoft.com/office/drawing/2014/main" id="{BFF465F4-2456-4261-99AD-4550F6EB39E6}"/>
              </a:ext>
            </a:extLst>
          </p:cNvPr>
          <p:cNvSpPr>
            <a:spLocks xmlns:a="http://schemas.openxmlformats.org/drawingml/2006/main" noGrp="1"/>
          </p:cNvSpPr>
          <p:nvPr/>
        </p:nvSpPr>
        <p:spPr>
          <a:xfrm xmlns:a="http://schemas.openxmlformats.org/drawingml/2006/main">
            <a:off x="609600" y="6210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573"/>
                </a:solidFill>
                <a:latin typeface="Arial"/>
                <a:ea typeface="Arial"/>
                <a:cs typeface="Arial"/>
              </a:defRPr>
            </a:defPPr>
            <a:lvl1pPr algn="l">
              <a:defRPr sz="1200" b="0">
                <a:solidFill>
                  <a:srgbClr val="586573"/>
                </a:solidFill>
                <a:latin typeface="Arial"/>
                <a:ea typeface="Arial"/>
                <a:cs typeface="Arial"/>
              </a:defRPr>
            </a:lvl1pPr>
            <a:lvl2pPr algn="l">
              <a:defRPr sz="1200" b="0">
                <a:solidFill>
                  <a:srgbClr val="586573"/>
                </a:solidFill>
                <a:latin typeface="Arial"/>
                <a:ea typeface="Arial"/>
                <a:cs typeface="Arial"/>
              </a:defRPr>
            </a:lvl2pPr>
            <a:lvl3pPr algn="l">
              <a:defRPr sz="1200" b="0">
                <a:solidFill>
                  <a:srgbClr val="586573"/>
                </a:solidFill>
                <a:latin typeface="Arial"/>
                <a:ea typeface="Arial"/>
                <a:cs typeface="Arial"/>
              </a:defRPr>
            </a:lvl3pPr>
            <a:lvl4pPr algn="l">
              <a:defRPr sz="1200" b="0">
                <a:solidFill>
                  <a:srgbClr val="586573"/>
                </a:solidFill>
                <a:latin typeface="Arial"/>
                <a:ea typeface="Arial"/>
                <a:cs typeface="Arial"/>
              </a:defRPr>
            </a:lvl4pPr>
            <a:lvl5pPr algn="l">
              <a:defRPr sz="1200" b="0">
                <a:solidFill>
                  <a:srgbClr val="586573"/>
                </a:solidFill>
                <a:latin typeface="Arial"/>
                <a:ea typeface="Arial"/>
                <a:cs typeface="Arial"/>
              </a:defRPr>
            </a:lvl5pPr>
            <a:lvl6pPr algn="l">
              <a:defRPr sz="1200" b="0">
                <a:solidFill>
                  <a:srgbClr val="586573"/>
                </a:solidFill>
                <a:latin typeface="Arial"/>
                <a:ea typeface="Arial"/>
                <a:cs typeface="Arial"/>
              </a:defRPr>
            </a:lvl6pPr>
            <a:lvl7pPr algn="l">
              <a:defRPr sz="1200" b="0">
                <a:solidFill>
                  <a:srgbClr val="586573"/>
                </a:solidFill>
                <a:latin typeface="Arial"/>
                <a:ea typeface="Arial"/>
                <a:cs typeface="Arial"/>
              </a:defRPr>
            </a:lvl7pPr>
            <a:lvl8pPr algn="l">
              <a:defRPr sz="1200" b="0">
                <a:solidFill>
                  <a:srgbClr val="586573"/>
                </a:solidFill>
                <a:latin typeface="Arial"/>
                <a:ea typeface="Arial"/>
                <a:cs typeface="Arial"/>
              </a:defRPr>
            </a:lvl8pPr>
            <a:lvl9pPr algn="l">
              <a:defRPr sz="1200" b="0">
                <a:solidFill>
                  <a:srgbClr val="586573"/>
                </a:solidFill>
                <a:latin typeface="Arial"/>
                <a:ea typeface="Arial"/>
                <a:cs typeface="Arial"/>
              </a:defRPr>
            </a:lvl9pPr>
          </a:lstStyle>
          <a:p xmlns:a="http://schemas.openxmlformats.org/drawingml/2006/main">
            <a:pPr algn="l">
              <a:defRPr sz="1200" b="0">
                <a:solidFill>
                  <a:srgbClr val="586573"/>
                </a:solidFill>
                <a:latin typeface="Arial"/>
                <a:ea typeface="Arial"/>
                <a:cs typeface="Arial"/>
              </a:defRPr>
            </a:pPr>
            <a:r>
              <a:rPr sz="1200" b="0">
                <a:solidFill>
                  <a:srgbClr val="586573"/>
                </a:solidFill>
                <a:latin typeface="Arial"/>
                <a:ea typeface="Arial"/>
                <a:cs typeface="Arial"/>
              </a:rPr>
              <a:t>Chỉ so các lượt hoàn tất. Các đội có thể dùng đội hình, ngân sách và thuật toán khác nhau.</a:t>
            </a:r>
          </a:p>
        </p:txBody>
      </p:sp>
      <p:graphicFrame>
        <p:nvGraphicFramePr>
          <p:cNvPr id="5" name="">
            <a:extLst xmlns:a="http://schemas.openxmlformats.org/drawingml/2006/main">
              <a:ext uri="{FF2B5EF4-FFF2-40B4-BE49-F238E27FC236}">
                <a16:creationId xmlns:a16="http://schemas.microsoft.com/office/drawing/2014/main" id="{A36C9E92-B6E0-4614-90A7-817CF5265595}"/>
              </a:ext>
            </a:extLst>
          </p:cNvPr>
          <p:cNvGraphicFramePr/>
          <p:nvPr/>
        </p:nvGraphicFramePr>
        <p:xfrm>
          <a:off xmlns:a="http://schemas.openxmlformats.org/drawingml/2006/main" x="609600" y="1619250"/>
          <a:ext xmlns:a="http://schemas.openxmlformats.org/drawingml/2006/main" cx="10972800" cy="3524250"/>
        </p:xfrm>
        <a:graphic xmlns:a="http://schemas.openxmlformats.org/drawingml/2006/main">
          <a:graphicData uri="http://schemas.openxmlformats.org/drawingml/2006/table">
            <a:tbl>
              <a:tblPr/>
              <a:tblGrid>
                <a:gridCol w="4000500"/>
                <a:gridCol w="2000250"/>
                <a:gridCol w="1657350"/>
                <a:gridCol w="1657350"/>
                <a:gridCol w="1657350"/>
              </a:tblGrid>
              <a:tr h="440531">
                <a:tc>
                  <a:txBody>
                    <a:bodyPr wrap="square" lIns="104775" tIns="66675" rIns="104775" bIns="66675">
                      <a:noAutofit/>
                    </a:bodyPr>
                    <a:lstStyle/>
                    <a:p>
                      <a:pPr algn="l"/>
                      <a:r>
                        <a:rPr sz="1800" b="1">
                          <a:solidFill>
                            <a:srgbClr val="17212B"/>
                          </a:solidFill>
                          <a:latin typeface="Arial"/>
                          <a:ea typeface="Arial"/>
                          <a:cs typeface="Arial"/>
                        </a:rPr>
                        <a:t>Đối thủ</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00" b="1">
                          <a:solidFill>
                            <a:srgbClr val="17212B"/>
                          </a:solidFill>
                          <a:latin typeface="Arial"/>
                          <a:ea typeface="Arial"/>
                          <a:cs typeface="Arial"/>
                        </a:rPr>
                        <a:t>Bài hoàn tất / 9</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00" b="1">
                          <a:solidFill>
                            <a:srgbClr val="17212B"/>
                          </a:solidFill>
                          <a:latin typeface="Arial"/>
                          <a:ea typeface="Arial"/>
                          <a:cs typeface="Arial"/>
                        </a:rPr>
                        <a:t>Đội ta thắng</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00" b="1">
                          <a:solidFill>
                            <a:srgbClr val="17212B"/>
                          </a:solidFill>
                          <a:latin typeface="Arial"/>
                          <a:ea typeface="Arial"/>
                          <a:cs typeface="Arial"/>
                        </a:rPr>
                        <a:t>Bằng điểm</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1800" b="1">
                          <a:solidFill>
                            <a:srgbClr val="17212B"/>
                          </a:solidFill>
                          <a:latin typeface="Arial"/>
                          <a:ea typeface="Arial"/>
                          <a:cs typeface="Arial"/>
                        </a:rPr>
                        <a:t>Đội ta thua</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440531">
                <a:tc>
                  <a:txBody>
                    <a:bodyPr wrap="square" lIns="104775" tIns="66675" rIns="104775" bIns="66675">
                      <a:noAutofit/>
                    </a:bodyPr>
                    <a:lstStyle/>
                    <a:p>
                      <a:pPr algn="l"/>
                      <a:r>
                        <a:rPr sz="1875" b="0">
                          <a:solidFill>
                            <a:srgbClr val="17212B"/>
                          </a:solidFill>
                          <a:latin typeface="Arial"/>
                          <a:ea typeface="Arial"/>
                          <a:cs typeface="Arial"/>
                        </a:rPr>
                        <a:t>IUH 1 (53)</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40531">
                <a:tc>
                  <a:txBody>
                    <a:bodyPr wrap="square" lIns="104775" tIns="66675" rIns="104775" bIns="66675">
                      <a:noAutofit/>
                    </a:bodyPr>
                    <a:lstStyle/>
                    <a:p>
                      <a:pPr algn="l"/>
                      <a:r>
                        <a:rPr sz="1875" b="0">
                          <a:solidFill>
                            <a:srgbClr val="17212B"/>
                          </a:solidFill>
                          <a:latin typeface="Arial"/>
                          <a:ea typeface="Arial"/>
                          <a:cs typeface="Arial"/>
                        </a:rPr>
                        <a:t>HCMUTE 1 (57)</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40531">
                <a:tc>
                  <a:txBody>
                    <a:bodyPr wrap="square" lIns="104775" tIns="66675" rIns="104775" bIns="66675">
                      <a:noAutofit/>
                    </a:bodyPr>
                    <a:lstStyle/>
                    <a:p>
                      <a:pPr algn="l"/>
                      <a:r>
                        <a:rPr sz="1875" b="0">
                          <a:solidFill>
                            <a:srgbClr val="17212B"/>
                          </a:solidFill>
                          <a:latin typeface="Arial"/>
                          <a:ea typeface="Arial"/>
                          <a:cs typeface="Arial"/>
                        </a:rPr>
                        <a:t>HAUI 3 (65)</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40531">
                <a:tc>
                  <a:txBody>
                    <a:bodyPr wrap="square" lIns="104775" tIns="66675" rIns="104775" bIns="66675">
                      <a:noAutofit/>
                    </a:bodyPr>
                    <a:lstStyle/>
                    <a:p>
                      <a:pPr algn="l"/>
                      <a:r>
                        <a:rPr sz="1875" b="0">
                          <a:solidFill>
                            <a:srgbClr val="17212B"/>
                          </a:solidFill>
                          <a:latin typeface="Arial"/>
                          <a:ea typeface="Arial"/>
                          <a:cs typeface="Arial"/>
                        </a:rPr>
                        <a:t>CTU 1 (81)</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3</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2</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40531">
                <a:tc>
                  <a:txBody>
                    <a:bodyPr wrap="square" lIns="104775" tIns="66675" rIns="104775" bIns="66675">
                      <a:noAutofit/>
                    </a:bodyPr>
                    <a:lstStyle/>
                    <a:p>
                      <a:pPr algn="l"/>
                      <a:r>
                        <a:rPr sz="1875" b="0">
                          <a:solidFill>
                            <a:srgbClr val="17212B"/>
                          </a:solidFill>
                          <a:latin typeface="Arial"/>
                          <a:ea typeface="Arial"/>
                          <a:cs typeface="Arial"/>
                        </a:rPr>
                        <a:t>Test_HMI (55)</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40531">
                <a:tc>
                  <a:txBody>
                    <a:bodyPr wrap="square" lIns="104775" tIns="66675" rIns="104775" bIns="66675">
                      <a:noAutofit/>
                    </a:bodyPr>
                    <a:lstStyle/>
                    <a:p>
                      <a:pPr algn="l"/>
                      <a:r>
                        <a:rPr sz="1875" b="0">
                          <a:solidFill>
                            <a:srgbClr val="17212B"/>
                          </a:solidFill>
                          <a:latin typeface="Arial"/>
                          <a:ea typeface="Arial"/>
                          <a:cs typeface="Arial"/>
                        </a:rPr>
                        <a:t>Phenikaa 1 (61)</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440531">
                <a:tc>
                  <a:txBody>
                    <a:bodyPr wrap="square" lIns="104775" tIns="66675" rIns="104775" bIns="66675">
                      <a:noAutofit/>
                    </a:bodyPr>
                    <a:lstStyle/>
                    <a:p>
                      <a:pPr algn="l"/>
                      <a:r>
                        <a:rPr sz="1875" b="0">
                          <a:solidFill>
                            <a:srgbClr val="17212B"/>
                          </a:solidFill>
                          <a:latin typeface="Arial"/>
                          <a:ea typeface="Arial"/>
                          <a:cs typeface="Arial"/>
                        </a:rPr>
                        <a:t>DAU 2 (78)</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1</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18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B62F8A3A-9F48-456A-95A7-5C3383A8CD5A}"/>
              </a:ext>
            </a:extLst>
          </p:cNvPr>
          <p:cNvSpPr>
            <a:spLocks xmlns:a="http://schemas.openxmlformats.org/drawingml/2006/main" noGrp="1"/>
          </p:cNvSpPr>
          <p:nvPr/>
        </p:nvSpPr>
        <p:spPr>
          <a:xfrm xmlns:a="http://schemas.openxmlformats.org/drawingml/2006/main">
            <a:off x="609600" y="5524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Trong 33 cặp kết quả hoàn tất, đội mình thắng 31, thua 2 và không có cặp bằng điểm.</a:t>
            </a:r>
          </a:p>
        </p:txBody>
      </p:sp>
    </p:spTree>
    <p:extLst>
      <p:ext uri="{BB962C8B-B14F-4D97-AF65-F5344CB8AC3E}">
        <p14:creationId xmlns:p14="http://schemas.microsoft.com/office/powerpoint/2010/main" val="1445005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E77BDFEC-D3E9-4D0C-8377-35DBB0C85D7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Hai bài đội mình đang đứng thứ hai</a:t>
            </a:r>
          </a:p>
        </p:txBody>
      </p:sp>
      <p:sp>
        <p:nvSpPr>
          <p:cNvPr id="3" name="text-2">
            <a:extLst xmlns:a="http://schemas.openxmlformats.org/drawingml/2006/main">
              <a:ext uri="{FF2B5EF4-FFF2-40B4-BE49-F238E27FC236}">
                <a16:creationId xmlns:a16="http://schemas.microsoft.com/office/drawing/2014/main" id="{639DBD0B-6053-4EDC-ADD9-CFAF8EB5BC9D}"/>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2CB7FA8A-6AC7-4E26-8AC0-61A79F73B31D}"/>
              </a:ext>
            </a:extLst>
          </p:cNvPr>
          <p:cNvGraphicFramePr/>
          <p:nvPr/>
        </p:nvGraphicFramePr>
        <p:xfrm>
          <a:off xmlns:a="http://schemas.openxmlformats.org/drawingml/2006/main" x="609600" y="1762125"/>
          <a:ext xmlns:a="http://schemas.openxmlformats.org/drawingml/2006/main" cx="10972800" cy="2095500"/>
        </p:xfrm>
        <a:graphic xmlns:a="http://schemas.openxmlformats.org/drawingml/2006/main">
          <a:graphicData uri="http://schemas.openxmlformats.org/drawingml/2006/table">
            <a:tbl>
              <a:tblPr/>
              <a:tblGrid>
                <a:gridCol w="952500"/>
                <a:gridCol w="3190875"/>
                <a:gridCol w="3190875"/>
                <a:gridCol w="3638550"/>
              </a:tblGrid>
              <a:tr h="698500">
                <a:tc>
                  <a:txBody>
                    <a:bodyPr wrap="square" lIns="104775" tIns="66675" rIns="104775" bIns="66675">
                      <a:noAutofit/>
                    </a:bodyPr>
                    <a:lstStyle/>
                    <a:p>
                      <a:pPr algn="l"/>
                      <a:r>
                        <a:rPr sz="2025" b="1">
                          <a:solidFill>
                            <a:srgbClr val="17212B"/>
                          </a:solidFill>
                          <a:latin typeface="Arial"/>
                          <a:ea typeface="Arial"/>
                          <a:cs typeface="Arial"/>
                        </a:rPr>
                        <a:t>Bài</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025" b="1">
                          <a:solidFill>
                            <a:srgbClr val="17212B"/>
                          </a:solidFill>
                          <a:latin typeface="Arial"/>
                          <a:ea typeface="Arial"/>
                          <a:cs typeface="Arial"/>
                        </a:rPr>
                        <a:t>Đội mình</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025" b="1">
                          <a:solidFill>
                            <a:srgbClr val="17212B"/>
                          </a:solidFill>
                          <a:latin typeface="Arial"/>
                          <a:ea typeface="Arial"/>
                          <a:cs typeface="Arial"/>
                        </a:rPr>
                        <a:t>Đối thủ cao nhất</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025" b="1">
                          <a:solidFill>
                            <a:srgbClr val="17212B"/>
                          </a:solidFill>
                          <a:latin typeface="Arial"/>
                          <a:ea typeface="Arial"/>
                          <a:cs typeface="Arial"/>
                        </a:rPr>
                        <a:t>Điểm đối thủ</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698500">
                <a:tc>
                  <a:txBody>
                    <a:bodyPr wrap="square" lIns="104775" tIns="66675" rIns="104775" bIns="66675">
                      <a:noAutofit/>
                    </a:bodyPr>
                    <a:lstStyle/>
                    <a:p>
                      <a:pPr algn="l"/>
                      <a:r>
                        <a:rPr sz="2100" b="0">
                          <a:solidFill>
                            <a:srgbClr val="17212B"/>
                          </a:solidFill>
                          <a:latin typeface="Arial"/>
                          <a:ea typeface="Arial"/>
                          <a:cs typeface="Arial"/>
                        </a:rPr>
                        <a:t>Q01</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(20, 200, 619)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Phenikaa 1</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(20, 200, 622)</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698500">
                <a:tc>
                  <a:txBody>
                    <a:bodyPr wrap="square" lIns="104775" tIns="66675" rIns="104775" bIns="66675">
                      <a:noAutofit/>
                    </a:bodyPr>
                    <a:lstStyle/>
                    <a:p>
                      <a:pPr algn="l"/>
                      <a:r>
                        <a:rPr sz="2100" b="0">
                          <a:solidFill>
                            <a:srgbClr val="17212B"/>
                          </a:solidFill>
                          <a:latin typeface="Arial"/>
                          <a:ea typeface="Arial"/>
                          <a:cs typeface="Arial"/>
                        </a:rPr>
                        <a:t>Q02</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(20, 200, 609)</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CTU 1</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00" b="0">
                          <a:solidFill>
                            <a:srgbClr val="17212B"/>
                          </a:solidFill>
                          <a:latin typeface="Arial"/>
                          <a:ea typeface="Arial"/>
                          <a:cs typeface="Arial"/>
                        </a:rPr>
                        <a:t>(20, 200, 621)</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A088044-ED92-44DA-99C3-68E85A4E2E14}"/>
              </a:ext>
            </a:extLst>
          </p:cNvPr>
          <p:cNvSpPr>
            <a:spLocks xmlns:a="http://schemas.openxmlformats.org/drawingml/2006/main" noGrp="1"/>
          </p:cNvSpPr>
          <p:nvPr/>
        </p:nvSpPr>
        <p:spPr>
          <a:xfrm xmlns:a="http://schemas.openxmlformats.org/drawingml/2006/main">
            <a:off x="609600" y="44291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4EA6"/>
                </a:solidFill>
                <a:latin typeface="Arial"/>
                <a:ea typeface="Arial"/>
                <a:cs typeface="Arial"/>
              </a:defRPr>
            </a:defPPr>
            <a:lvl1pPr algn="l">
              <a:defRPr sz="2400" b="1">
                <a:solidFill>
                  <a:srgbClr val="174EA6"/>
                </a:solidFill>
                <a:latin typeface="Arial"/>
                <a:ea typeface="Arial"/>
                <a:cs typeface="Arial"/>
              </a:defRPr>
            </a:lvl1pPr>
            <a:lvl2pPr algn="l">
              <a:defRPr sz="2400" b="1">
                <a:solidFill>
                  <a:srgbClr val="174EA6"/>
                </a:solidFill>
                <a:latin typeface="Arial"/>
                <a:ea typeface="Arial"/>
                <a:cs typeface="Arial"/>
              </a:defRPr>
            </a:lvl2pPr>
            <a:lvl3pPr algn="l">
              <a:defRPr sz="2400" b="1">
                <a:solidFill>
                  <a:srgbClr val="174EA6"/>
                </a:solidFill>
                <a:latin typeface="Arial"/>
                <a:ea typeface="Arial"/>
                <a:cs typeface="Arial"/>
              </a:defRPr>
            </a:lvl3pPr>
            <a:lvl4pPr algn="l">
              <a:defRPr sz="2400" b="1">
                <a:solidFill>
                  <a:srgbClr val="174EA6"/>
                </a:solidFill>
                <a:latin typeface="Arial"/>
                <a:ea typeface="Arial"/>
                <a:cs typeface="Arial"/>
              </a:defRPr>
            </a:lvl4pPr>
            <a:lvl5pPr algn="l">
              <a:defRPr sz="2400" b="1">
                <a:solidFill>
                  <a:srgbClr val="174EA6"/>
                </a:solidFill>
                <a:latin typeface="Arial"/>
                <a:ea typeface="Arial"/>
                <a:cs typeface="Arial"/>
              </a:defRPr>
            </a:lvl5pPr>
            <a:lvl6pPr algn="l">
              <a:defRPr sz="2400" b="1">
                <a:solidFill>
                  <a:srgbClr val="174EA6"/>
                </a:solidFill>
                <a:latin typeface="Arial"/>
                <a:ea typeface="Arial"/>
                <a:cs typeface="Arial"/>
              </a:defRPr>
            </a:lvl6pPr>
            <a:lvl7pPr algn="l">
              <a:defRPr sz="2400" b="1">
                <a:solidFill>
                  <a:srgbClr val="174EA6"/>
                </a:solidFill>
                <a:latin typeface="Arial"/>
                <a:ea typeface="Arial"/>
                <a:cs typeface="Arial"/>
              </a:defRPr>
            </a:lvl7pPr>
            <a:lvl8pPr algn="l">
              <a:defRPr sz="2400" b="1">
                <a:solidFill>
                  <a:srgbClr val="174EA6"/>
                </a:solidFill>
                <a:latin typeface="Arial"/>
                <a:ea typeface="Arial"/>
                <a:cs typeface="Arial"/>
              </a:defRPr>
            </a:lvl8pPr>
            <a:lvl9pPr algn="l">
              <a:defRPr sz="2400" b="1">
                <a:solidFill>
                  <a:srgbClr val="174EA6"/>
                </a:solidFill>
                <a:latin typeface="Arial"/>
                <a:ea typeface="Arial"/>
                <a:cs typeface="Arial"/>
              </a:defRPr>
            </a:lvl9pPr>
          </a:lstStyle>
          <a:p xmlns:a="http://schemas.openxmlformats.org/drawingml/2006/main">
            <a:pPr algn="l">
              <a:defRPr sz="2400" b="1">
                <a:solidFill>
                  <a:srgbClr val="174EA6"/>
                </a:solidFill>
                <a:latin typeface="Arial"/>
                <a:ea typeface="Arial"/>
                <a:cs typeface="Arial"/>
              </a:defRPr>
            </a:pPr>
            <a:r>
              <a:rPr sz="2400" b="1">
                <a:solidFill>
                  <a:srgbClr val="174EA6"/>
                </a:solidFill>
                <a:latin typeface="Arial"/>
                <a:ea typeface="Arial"/>
                <a:cs typeface="Arial"/>
              </a:rPr>
              <a:t>U và D đang bằng nhau. Khoảng cách nằm ở Q: Q01 kém 3 suất, Q02 kém 12 suất.</a:t>
            </a:r>
          </a:p>
        </p:txBody>
      </p:sp>
      <p:sp>
        <p:nvSpPr>
          <p:cNvPr id="6" name="text-4">
            <a:extLst xmlns:a="http://schemas.openxmlformats.org/drawingml/2006/main">
              <a:ext uri="{FF2B5EF4-FFF2-40B4-BE49-F238E27FC236}">
                <a16:creationId xmlns:a16="http://schemas.microsoft.com/office/drawing/2014/main" id="{59FC698A-EB7F-4C52-81EB-6694B047ECFA}"/>
              </a:ext>
            </a:extLst>
          </p:cNvPr>
          <p:cNvSpPr>
            <a:spLocks xmlns:a="http://schemas.openxmlformats.org/drawingml/2006/main" noGrp="1"/>
          </p:cNvSpPr>
          <p:nvPr/>
        </p:nvSpPr>
        <p:spPr>
          <a:xfrm xmlns:a="http://schemas.openxmlformats.org/drawingml/2006/main">
            <a:off x="609600" y="56197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12B"/>
                </a:solidFill>
                <a:latin typeface="Arial"/>
                <a:ea typeface="Arial"/>
                <a:cs typeface="Arial"/>
              </a:defRPr>
            </a:defPPr>
            <a:lvl1pPr algn="l">
              <a:defRPr sz="1950" b="0">
                <a:solidFill>
                  <a:srgbClr val="17212B"/>
                </a:solidFill>
                <a:latin typeface="Arial"/>
                <a:ea typeface="Arial"/>
                <a:cs typeface="Arial"/>
              </a:defRPr>
            </a:lvl1pPr>
            <a:lvl2pPr algn="l">
              <a:defRPr sz="1950" b="0">
                <a:solidFill>
                  <a:srgbClr val="17212B"/>
                </a:solidFill>
                <a:latin typeface="Arial"/>
                <a:ea typeface="Arial"/>
                <a:cs typeface="Arial"/>
              </a:defRPr>
            </a:lvl2pPr>
            <a:lvl3pPr algn="l">
              <a:defRPr sz="1950" b="0">
                <a:solidFill>
                  <a:srgbClr val="17212B"/>
                </a:solidFill>
                <a:latin typeface="Arial"/>
                <a:ea typeface="Arial"/>
                <a:cs typeface="Arial"/>
              </a:defRPr>
            </a:lvl3pPr>
            <a:lvl4pPr algn="l">
              <a:defRPr sz="1950" b="0">
                <a:solidFill>
                  <a:srgbClr val="17212B"/>
                </a:solidFill>
                <a:latin typeface="Arial"/>
                <a:ea typeface="Arial"/>
                <a:cs typeface="Arial"/>
              </a:defRPr>
            </a:lvl4pPr>
            <a:lvl5pPr algn="l">
              <a:defRPr sz="1950" b="0">
                <a:solidFill>
                  <a:srgbClr val="17212B"/>
                </a:solidFill>
                <a:latin typeface="Arial"/>
                <a:ea typeface="Arial"/>
                <a:cs typeface="Arial"/>
              </a:defRPr>
            </a:lvl5pPr>
            <a:lvl6pPr algn="l">
              <a:defRPr sz="1950" b="0">
                <a:solidFill>
                  <a:srgbClr val="17212B"/>
                </a:solidFill>
                <a:latin typeface="Arial"/>
                <a:ea typeface="Arial"/>
                <a:cs typeface="Arial"/>
              </a:defRPr>
            </a:lvl6pPr>
            <a:lvl7pPr algn="l">
              <a:defRPr sz="1950" b="0">
                <a:solidFill>
                  <a:srgbClr val="17212B"/>
                </a:solidFill>
                <a:latin typeface="Arial"/>
                <a:ea typeface="Arial"/>
                <a:cs typeface="Arial"/>
              </a:defRPr>
            </a:lvl7pPr>
            <a:lvl8pPr algn="l">
              <a:defRPr sz="1950" b="0">
                <a:solidFill>
                  <a:srgbClr val="17212B"/>
                </a:solidFill>
                <a:latin typeface="Arial"/>
                <a:ea typeface="Arial"/>
                <a:cs typeface="Arial"/>
              </a:defRPr>
            </a:lvl8pPr>
            <a:lvl9pPr algn="l">
              <a:defRPr sz="1950" b="0">
                <a:solidFill>
                  <a:srgbClr val="17212B"/>
                </a:solidFill>
                <a:latin typeface="Arial"/>
                <a:ea typeface="Arial"/>
                <a:cs typeface="Arial"/>
              </a:defRPr>
            </a:lvl9pPr>
          </a:lstStyle>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Thứ hạng tính riêng từng bài theo U, D, Q. Nhóm không cộng điểm các bài để tạo thứ hạng tổng.</a:t>
            </a:r>
          </a:p>
        </p:txBody>
      </p:sp>
    </p:spTree>
    <p:extLst>
      <p:ext uri="{BB962C8B-B14F-4D97-AF65-F5344CB8AC3E}">
        <p14:creationId xmlns:p14="http://schemas.microsoft.com/office/powerpoint/2010/main" val="19297708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FE7EDF80-372D-465E-8E67-36DC0446CC0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Đối chứng offline cùng điều kiện</a:t>
            </a:r>
          </a:p>
        </p:txBody>
      </p:sp>
      <p:sp>
        <p:nvSpPr>
          <p:cNvPr id="3" name="text-2">
            <a:extLst xmlns:a="http://schemas.openxmlformats.org/drawingml/2006/main">
              <a:ext uri="{FF2B5EF4-FFF2-40B4-BE49-F238E27FC236}">
                <a16:creationId xmlns:a16="http://schemas.microsoft.com/office/drawing/2014/main" id="{1FBC90A2-BF4E-4280-B7B5-F038D6F4D1E5}"/>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21</a:t>
            </a:r>
          </a:p>
        </p:txBody>
      </p:sp>
      <p:sp>
        <p:nvSpPr>
          <p:cNvPr id="4" name="text-3">
            <a:extLst xmlns:a="http://schemas.openxmlformats.org/drawingml/2006/main">
              <a:ext uri="{FF2B5EF4-FFF2-40B4-BE49-F238E27FC236}">
                <a16:creationId xmlns:a16="http://schemas.microsoft.com/office/drawing/2014/main" id="{BC83F345-1275-4683-8351-46D4EA9DDAF1}"/>
              </a:ext>
            </a:extLst>
          </p:cNvPr>
          <p:cNvSpPr>
            <a:spLocks xmlns:a="http://schemas.openxmlformats.org/drawingml/2006/main" noGrp="1"/>
          </p:cNvSpPr>
          <p:nvPr/>
        </p:nvSpPr>
        <p:spPr>
          <a:xfrm xmlns:a="http://schemas.openxmlformats.org/drawingml/2006/main">
            <a:off x="609600" y="6210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573"/>
                </a:solidFill>
                <a:latin typeface="Arial"/>
                <a:ea typeface="Arial"/>
                <a:cs typeface="Arial"/>
              </a:defRPr>
            </a:defPPr>
            <a:lvl1pPr algn="l">
              <a:defRPr sz="1200" b="0">
                <a:solidFill>
                  <a:srgbClr val="586573"/>
                </a:solidFill>
                <a:latin typeface="Arial"/>
                <a:ea typeface="Arial"/>
                <a:cs typeface="Arial"/>
              </a:defRPr>
            </a:lvl1pPr>
            <a:lvl2pPr algn="l">
              <a:defRPr sz="1200" b="0">
                <a:solidFill>
                  <a:srgbClr val="586573"/>
                </a:solidFill>
                <a:latin typeface="Arial"/>
                <a:ea typeface="Arial"/>
                <a:cs typeface="Arial"/>
              </a:defRPr>
            </a:lvl2pPr>
            <a:lvl3pPr algn="l">
              <a:defRPr sz="1200" b="0">
                <a:solidFill>
                  <a:srgbClr val="586573"/>
                </a:solidFill>
                <a:latin typeface="Arial"/>
                <a:ea typeface="Arial"/>
                <a:cs typeface="Arial"/>
              </a:defRPr>
            </a:lvl3pPr>
            <a:lvl4pPr algn="l">
              <a:defRPr sz="1200" b="0">
                <a:solidFill>
                  <a:srgbClr val="586573"/>
                </a:solidFill>
                <a:latin typeface="Arial"/>
                <a:ea typeface="Arial"/>
                <a:cs typeface="Arial"/>
              </a:defRPr>
            </a:lvl4pPr>
            <a:lvl5pPr algn="l">
              <a:defRPr sz="1200" b="0">
                <a:solidFill>
                  <a:srgbClr val="586573"/>
                </a:solidFill>
                <a:latin typeface="Arial"/>
                <a:ea typeface="Arial"/>
                <a:cs typeface="Arial"/>
              </a:defRPr>
            </a:lvl5pPr>
            <a:lvl6pPr algn="l">
              <a:defRPr sz="1200" b="0">
                <a:solidFill>
                  <a:srgbClr val="586573"/>
                </a:solidFill>
                <a:latin typeface="Arial"/>
                <a:ea typeface="Arial"/>
                <a:cs typeface="Arial"/>
              </a:defRPr>
            </a:lvl6pPr>
            <a:lvl7pPr algn="l">
              <a:defRPr sz="1200" b="0">
                <a:solidFill>
                  <a:srgbClr val="586573"/>
                </a:solidFill>
                <a:latin typeface="Arial"/>
                <a:ea typeface="Arial"/>
                <a:cs typeface="Arial"/>
              </a:defRPr>
            </a:lvl7pPr>
            <a:lvl8pPr algn="l">
              <a:defRPr sz="1200" b="0">
                <a:solidFill>
                  <a:srgbClr val="586573"/>
                </a:solidFill>
                <a:latin typeface="Arial"/>
                <a:ea typeface="Arial"/>
                <a:cs typeface="Arial"/>
              </a:defRPr>
            </a:lvl8pPr>
            <a:lvl9pPr algn="l">
              <a:defRPr sz="1200" b="0">
                <a:solidFill>
                  <a:srgbClr val="586573"/>
                </a:solidFill>
                <a:latin typeface="Arial"/>
                <a:ea typeface="Arial"/>
                <a:cs typeface="Arial"/>
              </a:defRPr>
            </a:lvl9pPr>
          </a:lstStyle>
          <a:p xmlns:a="http://schemas.openxmlformats.org/drawingml/2006/main">
            <a:pPr algn="l">
              <a:defRPr sz="1200" b="0">
                <a:solidFill>
                  <a:srgbClr val="586573"/>
                </a:solidFill>
                <a:latin typeface="Arial"/>
                <a:ea typeface="Arial"/>
                <a:cs typeface="Arial"/>
              </a:defRPr>
            </a:pPr>
            <a:r>
              <a:rPr sz="1200" b="0">
                <a:solidFill>
                  <a:srgbClr val="586573"/>
                </a:solidFill>
                <a:latin typeface="Arial"/>
                <a:ea typeface="Arial"/>
                <a:cs typeface="Arial"/>
              </a:rPr>
              <a:t>30 bản đồ tự sinh, ba lượt mỗi bản đồ. Các lượt lặp không phải bản đồ độc lập.</a:t>
            </a:r>
          </a:p>
        </p:txBody>
      </p:sp>
      <p:graphicFrame>
        <p:nvGraphicFramePr>
          <p:cNvPr id="5" name="">
            <a:extLst xmlns:a="http://schemas.openxmlformats.org/drawingml/2006/main">
              <a:ext uri="{FF2B5EF4-FFF2-40B4-BE49-F238E27FC236}">
                <a16:creationId xmlns:a16="http://schemas.microsoft.com/office/drawing/2014/main" id="{31C867EC-9123-42AB-8E6F-C4C795435ACF}"/>
              </a:ext>
            </a:extLst>
          </p:cNvPr>
          <p:cNvGraphicFramePr/>
          <p:nvPr/>
        </p:nvGraphicFramePr>
        <p:xfrm>
          <a:off xmlns:a="http://schemas.openxmlformats.org/drawingml/2006/main" x="609600" y="1714500"/>
          <a:ext xmlns:a="http://schemas.openxmlformats.org/drawingml/2006/main" cx="10972800" cy="2857500"/>
        </p:xfrm>
        <a:graphic xmlns:a="http://schemas.openxmlformats.org/drawingml/2006/main">
          <a:graphicData uri="http://schemas.openxmlformats.org/drawingml/2006/table">
            <a:tbl>
              <a:tblPr/>
              <a:tblGrid>
                <a:gridCol w="2857500"/>
                <a:gridCol w="2705100"/>
                <a:gridCol w="2705100"/>
                <a:gridCol w="2705100"/>
              </a:tblGrid>
              <a:tr h="571500">
                <a:tc>
                  <a:txBody>
                    <a:bodyPr wrap="square" lIns="104775" tIns="66675" rIns="104775" bIns="66675">
                      <a:noAutofit/>
                    </a:bodyPr>
                    <a:lstStyle/>
                    <a:p>
                      <a:pPr algn="l"/>
                      <a:r>
                        <a:rPr sz="2100" b="1">
                          <a:solidFill>
                            <a:srgbClr val="17212B"/>
                          </a:solidFill>
                          <a:latin typeface="Arial"/>
                          <a:ea typeface="Arial"/>
                          <a:cs typeface="Arial"/>
                        </a:rPr>
                        <a:t>Cỡ bản đồ</a:t>
                      </a:r>
                    </a:p>
                  </a:txBody>
                  <a:tcPr marL="91440" marR="91440" marT="45720" marB="45720" anchor="ctr">
                    <a:lnL w="9525">
                      <a:solidFill>
                        <a:srgbClr val="D5DCE3"/>
                      </a:solidFill>
                      <a:prstDash val="solid"/>
                    </a:lnL>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100" b="1">
                          <a:solidFill>
                            <a:srgbClr val="17212B"/>
                          </a:solidFill>
                          <a:latin typeface="Arial"/>
                          <a:ea typeface="Arial"/>
                          <a:cs typeface="Arial"/>
                        </a:rPr>
                        <a:t>Tour thắng Greedy</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100" b="1">
                          <a:solidFill>
                            <a:srgbClr val="17212B"/>
                          </a:solidFill>
                          <a:latin typeface="Arial"/>
                          <a:ea typeface="Arial"/>
                          <a:cs typeface="Arial"/>
                        </a:rPr>
                        <a:t>Bằng điểm</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c>
                  <a:txBody>
                    <a:bodyPr wrap="square" lIns="104775" tIns="66675" rIns="104775" bIns="66675">
                      <a:noAutofit/>
                    </a:bodyPr>
                    <a:lstStyle/>
                    <a:p>
                      <a:pPr algn="ctr"/>
                      <a:r>
                        <a:rPr sz="2100" b="1">
                          <a:solidFill>
                            <a:srgbClr val="17212B"/>
                          </a:solidFill>
                          <a:latin typeface="Arial"/>
                          <a:ea typeface="Arial"/>
                          <a:cs typeface="Arial"/>
                        </a:rPr>
                        <a:t>Tour thua Greedy</a:t>
                      </a:r>
                    </a:p>
                  </a:txBody>
                  <a:tcPr marL="91440" marR="91440" marT="45720" marB="45720" anchor="ctr">
                    <a:lnR w="9525">
                      <a:solidFill>
                        <a:srgbClr val="D5DCE3"/>
                      </a:solidFill>
                      <a:prstDash val="solid"/>
                    </a:lnR>
                    <a:lnT w="9525">
                      <a:solidFill>
                        <a:srgbClr val="D5DCE3"/>
                      </a:solidFill>
                      <a:prstDash val="solid"/>
                    </a:lnT>
                    <a:lnB w="9525">
                      <a:solidFill>
                        <a:srgbClr val="D5DCE3"/>
                      </a:solidFill>
                      <a:prstDash val="solid"/>
                    </a:lnB>
                    <a:solidFill>
                      <a:srgbClr val="EEF2F6"/>
                    </a:solidFill>
                  </a:tcPr>
                </a:tc>
              </a:tr>
              <a:tr h="571500">
                <a:tc>
                  <a:txBody>
                    <a:bodyPr wrap="square" lIns="104775" tIns="66675" rIns="104775" bIns="66675">
                      <a:noAutofit/>
                    </a:bodyPr>
                    <a:lstStyle/>
                    <a:p>
                      <a:pPr algn="l"/>
                      <a:r>
                        <a:rPr sz="2175" b="0">
                          <a:solidFill>
                            <a:srgbClr val="17212B"/>
                          </a:solidFill>
                          <a:latin typeface="Arial"/>
                          <a:ea typeface="Arial"/>
                          <a:cs typeface="Arial"/>
                        </a:rPr>
                        <a:t>8×8</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30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75" b="0">
                          <a:solidFill>
                            <a:srgbClr val="17212B"/>
                          </a:solidFill>
                          <a:latin typeface="Arial"/>
                          <a:ea typeface="Arial"/>
                          <a:cs typeface="Arial"/>
                        </a:rPr>
                        <a:t>16×16</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28</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2</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75" b="0">
                          <a:solidFill>
                            <a:srgbClr val="17212B"/>
                          </a:solidFill>
                          <a:latin typeface="Arial"/>
                          <a:ea typeface="Arial"/>
                          <a:cs typeface="Arial"/>
                        </a:rPr>
                        <a:t>32×32</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30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r h="571500">
                <a:tc>
                  <a:txBody>
                    <a:bodyPr wrap="square" lIns="104775" tIns="66675" rIns="104775" bIns="66675">
                      <a:noAutofit/>
                    </a:bodyPr>
                    <a:lstStyle/>
                    <a:p>
                      <a:pPr algn="l"/>
                      <a:r>
                        <a:rPr sz="2175" b="0">
                          <a:solidFill>
                            <a:srgbClr val="17212B"/>
                          </a:solidFill>
                          <a:latin typeface="Arial"/>
                          <a:ea typeface="Arial"/>
                          <a:cs typeface="Arial"/>
                        </a:rPr>
                        <a:t>Tổng số cặp</a:t>
                      </a:r>
                    </a:p>
                  </a:txBody>
                  <a:tcPr marL="91440" marR="91440" marT="45720" marB="45720" anchor="ctr">
                    <a:lnL w="9525">
                      <a:solidFill>
                        <a:srgbClr val="D5DCE3"/>
                      </a:solidFill>
                      <a:prstDash val="solid"/>
                    </a:lnL>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88</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0</a:t>
                      </a:r>
                    </a:p>
                  </a:txBody>
                  <a:tcPr marL="91440" marR="91440" marT="45720" marB="45720" anchor="ctr">
                    <a:lnR w="9525">
                      <a:solidFill>
                        <a:srgbClr val="D5DCE3"/>
                      </a:solidFill>
                      <a:prstDash val="solid"/>
                    </a:lnR>
                    <a:lnB w="9525">
                      <a:solidFill>
                        <a:srgbClr val="D5DCE3"/>
                      </a:solidFill>
                      <a:prstDash val="solid"/>
                    </a:lnB>
                    <a:solidFill>
                      <a:srgbClr val="FFFFFF"/>
                    </a:solidFill>
                  </a:tcPr>
                </a:tc>
                <a:tc>
                  <a:txBody>
                    <a:bodyPr wrap="square" lIns="104775" tIns="66675" rIns="104775" bIns="66675">
                      <a:noAutofit/>
                    </a:bodyPr>
                    <a:lstStyle/>
                    <a:p>
                      <a:pPr algn="ctr"/>
                      <a:r>
                        <a:rPr sz="2175" b="0">
                          <a:solidFill>
                            <a:srgbClr val="17212B"/>
                          </a:solidFill>
                          <a:latin typeface="Arial"/>
                          <a:ea typeface="Arial"/>
                          <a:cs typeface="Arial"/>
                        </a:rPr>
                        <a:t>2</a:t>
                      </a:r>
                    </a:p>
                  </a:txBody>
                  <a:tcPr marL="91440" marR="91440" marT="45720" marB="45720" anchor="ctr">
                    <a:lnR w="9525">
                      <a:solidFill>
                        <a:srgbClr val="D5DCE3"/>
                      </a:solidFill>
                      <a:prstDash val="solid"/>
                    </a:lnR>
                    <a:lnB w="9525">
                      <a:solidFill>
                        <a:srgbClr val="D5DCE3"/>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E5C64D13-307F-46A3-8533-B2555BD76783}"/>
              </a:ext>
            </a:extLst>
          </p:cNvPr>
          <p:cNvSpPr>
            <a:spLocks xmlns:a="http://schemas.openxmlformats.org/drawingml/2006/main" noGrp="1"/>
          </p:cNvSpPr>
          <p:nvPr/>
        </p:nvSpPr>
        <p:spPr>
          <a:xfrm xmlns:a="http://schemas.openxmlformats.org/drawingml/2006/main">
            <a:off x="609600" y="49530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Hai phương án dùng cùng đội hình, cùng input và cùng ngân sách yêu cầu 1 giây/ngày.</a:t>
            </a:r>
          </a:p>
        </p:txBody>
      </p:sp>
      <p:sp>
        <p:nvSpPr>
          <p:cNvPr id="7" name="text-5">
            <a:extLst xmlns:a="http://schemas.openxmlformats.org/drawingml/2006/main">
              <a:ext uri="{FF2B5EF4-FFF2-40B4-BE49-F238E27FC236}">
                <a16:creationId xmlns:a16="http://schemas.microsoft.com/office/drawing/2014/main" id="{68AD8BB6-F3D8-48E7-9AC0-40514EEF5AC7}"/>
              </a:ext>
            </a:extLst>
          </p:cNvPr>
          <p:cNvSpPr>
            <a:spLocks xmlns:a="http://schemas.openxmlformats.org/drawingml/2006/main" noGrp="1"/>
          </p:cNvSpPr>
          <p:nvPr/>
        </p:nvSpPr>
        <p:spPr>
          <a:xfrm xmlns:a="http://schemas.openxmlformats.org/drawingml/2006/main">
            <a:off x="609600" y="56959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12B"/>
                </a:solidFill>
                <a:latin typeface="Arial"/>
                <a:ea typeface="Arial"/>
                <a:cs typeface="Arial"/>
              </a:defRPr>
            </a:defPPr>
            <a:lvl1pPr algn="l">
              <a:defRPr sz="1875" b="0">
                <a:solidFill>
                  <a:srgbClr val="17212B"/>
                </a:solidFill>
                <a:latin typeface="Arial"/>
                <a:ea typeface="Arial"/>
                <a:cs typeface="Arial"/>
              </a:defRPr>
            </a:lvl1pPr>
            <a:lvl2pPr algn="l">
              <a:defRPr sz="1875" b="0">
                <a:solidFill>
                  <a:srgbClr val="17212B"/>
                </a:solidFill>
                <a:latin typeface="Arial"/>
                <a:ea typeface="Arial"/>
                <a:cs typeface="Arial"/>
              </a:defRPr>
            </a:lvl2pPr>
            <a:lvl3pPr algn="l">
              <a:defRPr sz="1875" b="0">
                <a:solidFill>
                  <a:srgbClr val="17212B"/>
                </a:solidFill>
                <a:latin typeface="Arial"/>
                <a:ea typeface="Arial"/>
                <a:cs typeface="Arial"/>
              </a:defRPr>
            </a:lvl3pPr>
            <a:lvl4pPr algn="l">
              <a:defRPr sz="1875" b="0">
                <a:solidFill>
                  <a:srgbClr val="17212B"/>
                </a:solidFill>
                <a:latin typeface="Arial"/>
                <a:ea typeface="Arial"/>
                <a:cs typeface="Arial"/>
              </a:defRPr>
            </a:lvl4pPr>
            <a:lvl5pPr algn="l">
              <a:defRPr sz="1875" b="0">
                <a:solidFill>
                  <a:srgbClr val="17212B"/>
                </a:solidFill>
                <a:latin typeface="Arial"/>
                <a:ea typeface="Arial"/>
                <a:cs typeface="Arial"/>
              </a:defRPr>
            </a:lvl5pPr>
            <a:lvl6pPr algn="l">
              <a:defRPr sz="1875" b="0">
                <a:solidFill>
                  <a:srgbClr val="17212B"/>
                </a:solidFill>
                <a:latin typeface="Arial"/>
                <a:ea typeface="Arial"/>
                <a:cs typeface="Arial"/>
              </a:defRPr>
            </a:lvl6pPr>
            <a:lvl7pPr algn="l">
              <a:defRPr sz="1875" b="0">
                <a:solidFill>
                  <a:srgbClr val="17212B"/>
                </a:solidFill>
                <a:latin typeface="Arial"/>
                <a:ea typeface="Arial"/>
                <a:cs typeface="Arial"/>
              </a:defRPr>
            </a:lvl7pPr>
            <a:lvl8pPr algn="l">
              <a:defRPr sz="1875" b="0">
                <a:solidFill>
                  <a:srgbClr val="17212B"/>
                </a:solidFill>
                <a:latin typeface="Arial"/>
                <a:ea typeface="Arial"/>
                <a:cs typeface="Arial"/>
              </a:defRPr>
            </a:lvl8pPr>
            <a:lvl9pPr algn="l">
              <a:defRPr sz="1875" b="0">
                <a:solidFill>
                  <a:srgbClr val="17212B"/>
                </a:solidFill>
                <a:latin typeface="Arial"/>
                <a:ea typeface="Arial"/>
                <a:cs typeface="Arial"/>
              </a:defRPr>
            </a:lvl9pPr>
          </a:lstStyle>
          <a:p xmlns:a="http://schemas.openxmlformats.org/drawingml/2006/main">
            <a:pPr algn="l">
              <a:defRPr sz="1875" b="0">
                <a:solidFill>
                  <a:srgbClr val="17212B"/>
                </a:solidFill>
                <a:latin typeface="Arial"/>
                <a:ea typeface="Arial"/>
                <a:cs typeface="Arial"/>
              </a:defRPr>
            </a:pPr>
            <a:r>
              <a:rPr sz="1875" b="0">
                <a:solidFill>
                  <a:srgbClr val="17212B"/>
                </a:solidFill>
                <a:latin typeface="Arial"/>
                <a:ea typeface="Arial"/>
                <a:cs typeface="Arial"/>
              </a:rPr>
              <a:t>Phép thử này đánh giá tác động của planner rõ hơn so với chênh lệch điểm giữa các đội trên website.</a:t>
            </a:r>
          </a:p>
        </p:txBody>
      </p:sp>
    </p:spTree>
    <p:extLst>
      <p:ext uri="{BB962C8B-B14F-4D97-AF65-F5344CB8AC3E}">
        <p14:creationId xmlns:p14="http://schemas.microsoft.com/office/powerpoint/2010/main" val="16751531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5D0D0FAD-AC26-47FA-8B49-B70D772E22E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Kết luận và phần còn cần cải thiện</a:t>
            </a:r>
          </a:p>
        </p:txBody>
      </p:sp>
      <p:sp>
        <p:nvSpPr>
          <p:cNvPr id="3" name="text-2">
            <a:extLst xmlns:a="http://schemas.openxmlformats.org/drawingml/2006/main">
              <a:ext uri="{FF2B5EF4-FFF2-40B4-BE49-F238E27FC236}">
                <a16:creationId xmlns:a16="http://schemas.microsoft.com/office/drawing/2014/main" id="{2453604B-BB77-4590-9A12-9FA54D6672E1}"/>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22</a:t>
            </a:r>
          </a:p>
        </p:txBody>
      </p:sp>
      <p:sp>
        <p:nvSpPr>
          <p:cNvPr id="4" name="text-3">
            <a:extLst xmlns:a="http://schemas.openxmlformats.org/drawingml/2006/main">
              <a:ext uri="{FF2B5EF4-FFF2-40B4-BE49-F238E27FC236}">
                <a16:creationId xmlns:a16="http://schemas.microsoft.com/office/drawing/2014/main" id="{6F721C17-E8DF-413C-8A76-64AC8CE2FD88}"/>
              </a:ext>
            </a:extLst>
          </p:cNvPr>
          <p:cNvSpPr>
            <a:spLocks xmlns:a="http://schemas.openxmlformats.org/drawingml/2006/main" noGrp="1"/>
          </p:cNvSpPr>
          <p:nvPr/>
        </p:nvSpPr>
        <p:spPr>
          <a:xfrm xmlns:a="http://schemas.openxmlformats.org/drawingml/2006/main">
            <a:off x="609600" y="1619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Phối hợp cả đội tạo nên chất lượng kế hoạch</a:t>
            </a:r>
          </a:p>
        </p:txBody>
      </p:sp>
      <p:sp>
        <p:nvSpPr>
          <p:cNvPr id="5" name="text-4">
            <a:extLst xmlns:a="http://schemas.openxmlformats.org/drawingml/2006/main">
              <a:ext uri="{FF2B5EF4-FFF2-40B4-BE49-F238E27FC236}">
                <a16:creationId xmlns:a16="http://schemas.microsoft.com/office/drawing/2014/main" id="{7DCC3474-791C-4C4F-A0C7-785D8FE6C693}"/>
              </a:ext>
            </a:extLst>
          </p:cNvPr>
          <p:cNvSpPr>
            <a:spLocks xmlns:a="http://schemas.openxmlformats.org/drawingml/2006/main" noGrp="1"/>
          </p:cNvSpPr>
          <p:nvPr/>
        </p:nvSpPr>
        <p:spPr>
          <a:xfrm xmlns:a="http://schemas.openxmlformats.org/drawingml/2006/main">
            <a:off x="609600" y="2028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Dijkstra cung cấp chặng. Chèn tham lam và tìm kiếm cục bộ quyết định điểm ghé, phân công xe và thứ tự đi.</a:t>
            </a:r>
          </a:p>
        </p:txBody>
      </p:sp>
      <p:sp>
        <p:nvSpPr>
          <p:cNvPr id="6" name="text-5">
            <a:extLst xmlns:a="http://schemas.openxmlformats.org/drawingml/2006/main">
              <a:ext uri="{FF2B5EF4-FFF2-40B4-BE49-F238E27FC236}">
                <a16:creationId xmlns:a16="http://schemas.microsoft.com/office/drawing/2014/main" id="{D77F8C29-068D-4DE2-BFC0-28F8F40179CE}"/>
              </a:ext>
            </a:extLst>
          </p:cNvPr>
          <p:cNvSpPr>
            <a:spLocks xmlns:a="http://schemas.openxmlformats.org/drawingml/2006/main" noGrp="1"/>
          </p:cNvSpPr>
          <p:nvPr/>
        </p:nvSpPr>
        <p:spPr>
          <a:xfrm xmlns:a="http://schemas.openxmlformats.org/drawingml/2006/main">
            <a:off x="609600" y="3143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4EA6"/>
                </a:solidFill>
                <a:latin typeface="Arial"/>
                <a:ea typeface="Arial"/>
                <a:cs typeface="Arial"/>
              </a:defRPr>
            </a:defPPr>
            <a:lvl1pPr algn="l">
              <a:defRPr sz="2175" b="1">
                <a:solidFill>
                  <a:srgbClr val="174EA6"/>
                </a:solidFill>
                <a:latin typeface="Arial"/>
                <a:ea typeface="Arial"/>
                <a:cs typeface="Arial"/>
              </a:defRPr>
            </a:lvl1pPr>
            <a:lvl2pPr algn="l">
              <a:defRPr sz="2175" b="1">
                <a:solidFill>
                  <a:srgbClr val="174EA6"/>
                </a:solidFill>
                <a:latin typeface="Arial"/>
                <a:ea typeface="Arial"/>
                <a:cs typeface="Arial"/>
              </a:defRPr>
            </a:lvl2pPr>
            <a:lvl3pPr algn="l">
              <a:defRPr sz="2175" b="1">
                <a:solidFill>
                  <a:srgbClr val="174EA6"/>
                </a:solidFill>
                <a:latin typeface="Arial"/>
                <a:ea typeface="Arial"/>
                <a:cs typeface="Arial"/>
              </a:defRPr>
            </a:lvl3pPr>
            <a:lvl4pPr algn="l">
              <a:defRPr sz="2175" b="1">
                <a:solidFill>
                  <a:srgbClr val="174EA6"/>
                </a:solidFill>
                <a:latin typeface="Arial"/>
                <a:ea typeface="Arial"/>
                <a:cs typeface="Arial"/>
              </a:defRPr>
            </a:lvl4pPr>
            <a:lvl5pPr algn="l">
              <a:defRPr sz="2175" b="1">
                <a:solidFill>
                  <a:srgbClr val="174EA6"/>
                </a:solidFill>
                <a:latin typeface="Arial"/>
                <a:ea typeface="Arial"/>
                <a:cs typeface="Arial"/>
              </a:defRPr>
            </a:lvl5pPr>
            <a:lvl6pPr algn="l">
              <a:defRPr sz="2175" b="1">
                <a:solidFill>
                  <a:srgbClr val="174EA6"/>
                </a:solidFill>
                <a:latin typeface="Arial"/>
                <a:ea typeface="Arial"/>
                <a:cs typeface="Arial"/>
              </a:defRPr>
            </a:lvl6pPr>
            <a:lvl7pPr algn="l">
              <a:defRPr sz="2175" b="1">
                <a:solidFill>
                  <a:srgbClr val="174EA6"/>
                </a:solidFill>
                <a:latin typeface="Arial"/>
                <a:ea typeface="Arial"/>
                <a:cs typeface="Arial"/>
              </a:defRPr>
            </a:lvl7pPr>
            <a:lvl8pPr algn="l">
              <a:defRPr sz="2175" b="1">
                <a:solidFill>
                  <a:srgbClr val="174EA6"/>
                </a:solidFill>
                <a:latin typeface="Arial"/>
                <a:ea typeface="Arial"/>
                <a:cs typeface="Arial"/>
              </a:defRPr>
            </a:lvl8pPr>
            <a:lvl9pPr algn="l">
              <a:defRPr sz="2175" b="1">
                <a:solidFill>
                  <a:srgbClr val="174EA6"/>
                </a:solidFill>
                <a:latin typeface="Arial"/>
                <a:ea typeface="Arial"/>
                <a:cs typeface="Arial"/>
              </a:defRPr>
            </a:lvl9pPr>
          </a:lstStyle>
          <a:p xmlns:a="http://schemas.openxmlformats.org/drawingml/2006/main">
            <a:pPr algn="l">
              <a:defRPr sz="2175" b="1">
                <a:solidFill>
                  <a:srgbClr val="174EA6"/>
                </a:solidFill>
                <a:latin typeface="Arial"/>
                <a:ea typeface="Arial"/>
                <a:cs typeface="Arial"/>
              </a:defRPr>
            </a:pPr>
            <a:r>
              <a:rPr sz="2175" b="1">
                <a:solidFill>
                  <a:srgbClr val="174EA6"/>
                </a:solidFill>
                <a:latin typeface="Arial"/>
                <a:ea typeface="Arial"/>
                <a:cs typeface="Arial"/>
              </a:rPr>
              <a:t>Kết quả hiện tại bảo vệ tốt U và D</a:t>
            </a:r>
          </a:p>
        </p:txBody>
      </p:sp>
      <p:sp>
        <p:nvSpPr>
          <p:cNvPr id="7" name="text-6">
            <a:extLst xmlns:a="http://schemas.openxmlformats.org/drawingml/2006/main">
              <a:ext uri="{FF2B5EF4-FFF2-40B4-BE49-F238E27FC236}">
                <a16:creationId xmlns:a16="http://schemas.microsoft.com/office/drawing/2014/main" id="{DDFB45BD-A9D6-4A0E-9AA8-20CB6A8B0B1E}"/>
              </a:ext>
            </a:extLst>
          </p:cNvPr>
          <p:cNvSpPr>
            <a:spLocks xmlns:a="http://schemas.openxmlformats.org/drawingml/2006/main" noGrp="1"/>
          </p:cNvSpPr>
          <p:nvPr/>
        </p:nvSpPr>
        <p:spPr>
          <a:xfrm xmlns:a="http://schemas.openxmlformats.org/drawingml/2006/main">
            <a:off x="609600" y="3552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12B"/>
                </a:solidFill>
                <a:latin typeface="Arial"/>
                <a:ea typeface="Arial"/>
                <a:cs typeface="Arial"/>
              </a:defRPr>
            </a:defPPr>
            <a:lvl1pPr algn="l">
              <a:defRPr sz="2175" b="0">
                <a:solidFill>
                  <a:srgbClr val="17212B"/>
                </a:solidFill>
                <a:latin typeface="Arial"/>
                <a:ea typeface="Arial"/>
                <a:cs typeface="Arial"/>
              </a:defRPr>
            </a:lvl1pPr>
            <a:lvl2pPr algn="l">
              <a:defRPr sz="2175" b="0">
                <a:solidFill>
                  <a:srgbClr val="17212B"/>
                </a:solidFill>
                <a:latin typeface="Arial"/>
                <a:ea typeface="Arial"/>
                <a:cs typeface="Arial"/>
              </a:defRPr>
            </a:lvl2pPr>
            <a:lvl3pPr algn="l">
              <a:defRPr sz="2175" b="0">
                <a:solidFill>
                  <a:srgbClr val="17212B"/>
                </a:solidFill>
                <a:latin typeface="Arial"/>
                <a:ea typeface="Arial"/>
                <a:cs typeface="Arial"/>
              </a:defRPr>
            </a:lvl3pPr>
            <a:lvl4pPr algn="l">
              <a:defRPr sz="2175" b="0">
                <a:solidFill>
                  <a:srgbClr val="17212B"/>
                </a:solidFill>
                <a:latin typeface="Arial"/>
                <a:ea typeface="Arial"/>
                <a:cs typeface="Arial"/>
              </a:defRPr>
            </a:lvl4pPr>
            <a:lvl5pPr algn="l">
              <a:defRPr sz="2175" b="0">
                <a:solidFill>
                  <a:srgbClr val="17212B"/>
                </a:solidFill>
                <a:latin typeface="Arial"/>
                <a:ea typeface="Arial"/>
                <a:cs typeface="Arial"/>
              </a:defRPr>
            </a:lvl5pPr>
            <a:lvl6pPr algn="l">
              <a:defRPr sz="2175" b="0">
                <a:solidFill>
                  <a:srgbClr val="17212B"/>
                </a:solidFill>
                <a:latin typeface="Arial"/>
                <a:ea typeface="Arial"/>
                <a:cs typeface="Arial"/>
              </a:defRPr>
            </a:lvl6pPr>
            <a:lvl7pPr algn="l">
              <a:defRPr sz="2175" b="0">
                <a:solidFill>
                  <a:srgbClr val="17212B"/>
                </a:solidFill>
                <a:latin typeface="Arial"/>
                <a:ea typeface="Arial"/>
                <a:cs typeface="Arial"/>
              </a:defRPr>
            </a:lvl7pPr>
            <a:lvl8pPr algn="l">
              <a:defRPr sz="2175" b="0">
                <a:solidFill>
                  <a:srgbClr val="17212B"/>
                </a:solidFill>
                <a:latin typeface="Arial"/>
                <a:ea typeface="Arial"/>
                <a:cs typeface="Arial"/>
              </a:defRPr>
            </a:lvl8pPr>
            <a:lvl9pPr algn="l">
              <a:defRPr sz="2175" b="0">
                <a:solidFill>
                  <a:srgbClr val="17212B"/>
                </a:solidFill>
                <a:latin typeface="Arial"/>
                <a:ea typeface="Arial"/>
                <a:cs typeface="Arial"/>
              </a:defRPr>
            </a:lvl9pPr>
          </a:lstStyle>
          <a:p xmlns:a="http://schemas.openxmlformats.org/drawingml/2006/main">
            <a:pPr algn="l">
              <a:defRPr sz="2175" b="0">
                <a:solidFill>
                  <a:srgbClr val="17212B"/>
                </a:solidFill>
                <a:latin typeface="Arial"/>
                <a:ea typeface="Arial"/>
                <a:cs typeface="Arial"/>
              </a:defRPr>
            </a:pPr>
            <a:r>
              <a:rPr sz="2175" b="0">
                <a:solidFill>
                  <a:srgbClr val="17212B"/>
                </a:solidFill>
                <a:latin typeface="Arial"/>
                <a:ea typeface="Arial"/>
                <a:cs typeface="Arial"/>
              </a:rPr>
              <a:t>Chín lượt Practice đều đạt cận của hai tiêu chí này. Q vẫn có thể cải thiện và chưa có chứng nhận tối ưu.</a:t>
            </a:r>
          </a:p>
        </p:txBody>
      </p:sp>
      <p:sp>
        <p:nvSpPr>
          <p:cNvPr id="8" name="text-7">
            <a:extLst xmlns:a="http://schemas.openxmlformats.org/drawingml/2006/main">
              <a:ext uri="{FF2B5EF4-FFF2-40B4-BE49-F238E27FC236}">
                <a16:creationId xmlns:a16="http://schemas.microsoft.com/office/drawing/2014/main" id="{1A1EEAF7-5EFD-4C6F-89B8-7322678CCFE7}"/>
              </a:ext>
            </a:extLst>
          </p:cNvPr>
          <p:cNvSpPr>
            <a:spLocks xmlns:a="http://schemas.openxmlformats.org/drawingml/2006/main" noGrp="1"/>
          </p:cNvSpPr>
          <p:nvPr/>
        </p:nvSpPr>
        <p:spPr>
          <a:xfrm xmlns:a="http://schemas.openxmlformats.org/drawingml/2006/main">
            <a:off x="609600" y="4762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4EA6"/>
                </a:solidFill>
                <a:latin typeface="Arial"/>
                <a:ea typeface="Arial"/>
                <a:cs typeface="Arial"/>
              </a:defRPr>
            </a:defPPr>
            <a:lvl1pPr algn="l">
              <a:defRPr sz="2100" b="1">
                <a:solidFill>
                  <a:srgbClr val="174EA6"/>
                </a:solidFill>
                <a:latin typeface="Arial"/>
                <a:ea typeface="Arial"/>
                <a:cs typeface="Arial"/>
              </a:defRPr>
            </a:lvl1pPr>
            <a:lvl2pPr algn="l">
              <a:defRPr sz="2100" b="1">
                <a:solidFill>
                  <a:srgbClr val="174EA6"/>
                </a:solidFill>
                <a:latin typeface="Arial"/>
                <a:ea typeface="Arial"/>
                <a:cs typeface="Arial"/>
              </a:defRPr>
            </a:lvl2pPr>
            <a:lvl3pPr algn="l">
              <a:defRPr sz="2100" b="1">
                <a:solidFill>
                  <a:srgbClr val="174EA6"/>
                </a:solidFill>
                <a:latin typeface="Arial"/>
                <a:ea typeface="Arial"/>
                <a:cs typeface="Arial"/>
              </a:defRPr>
            </a:lvl3pPr>
            <a:lvl4pPr algn="l">
              <a:defRPr sz="2100" b="1">
                <a:solidFill>
                  <a:srgbClr val="174EA6"/>
                </a:solidFill>
                <a:latin typeface="Arial"/>
                <a:ea typeface="Arial"/>
                <a:cs typeface="Arial"/>
              </a:defRPr>
            </a:lvl4pPr>
            <a:lvl5pPr algn="l">
              <a:defRPr sz="2100" b="1">
                <a:solidFill>
                  <a:srgbClr val="174EA6"/>
                </a:solidFill>
                <a:latin typeface="Arial"/>
                <a:ea typeface="Arial"/>
                <a:cs typeface="Arial"/>
              </a:defRPr>
            </a:lvl5pPr>
            <a:lvl6pPr algn="l">
              <a:defRPr sz="2100" b="1">
                <a:solidFill>
                  <a:srgbClr val="174EA6"/>
                </a:solidFill>
                <a:latin typeface="Arial"/>
                <a:ea typeface="Arial"/>
                <a:cs typeface="Arial"/>
              </a:defRPr>
            </a:lvl6pPr>
            <a:lvl7pPr algn="l">
              <a:defRPr sz="2100" b="1">
                <a:solidFill>
                  <a:srgbClr val="174EA6"/>
                </a:solidFill>
                <a:latin typeface="Arial"/>
                <a:ea typeface="Arial"/>
                <a:cs typeface="Arial"/>
              </a:defRPr>
            </a:lvl7pPr>
            <a:lvl8pPr algn="l">
              <a:defRPr sz="2100" b="1">
                <a:solidFill>
                  <a:srgbClr val="174EA6"/>
                </a:solidFill>
                <a:latin typeface="Arial"/>
                <a:ea typeface="Arial"/>
                <a:cs typeface="Arial"/>
              </a:defRPr>
            </a:lvl8pPr>
            <a:lvl9pPr algn="l">
              <a:defRPr sz="2100" b="1">
                <a:solidFill>
                  <a:srgbClr val="174EA6"/>
                </a:solidFill>
                <a:latin typeface="Arial"/>
                <a:ea typeface="Arial"/>
                <a:cs typeface="Arial"/>
              </a:defRPr>
            </a:lvl9pPr>
          </a:lstStyle>
          <a:p xmlns:a="http://schemas.openxmlformats.org/drawingml/2006/main">
            <a:pPr algn="l">
              <a:defRPr sz="2100" b="1">
                <a:solidFill>
                  <a:srgbClr val="174EA6"/>
                </a:solidFill>
                <a:latin typeface="Arial"/>
                <a:ea typeface="Arial"/>
                <a:cs typeface="Arial"/>
              </a:defRPr>
            </a:pPr>
            <a:r>
              <a:rPr sz="2100" b="1">
                <a:solidFill>
                  <a:srgbClr val="174EA6"/>
                </a:solidFill>
                <a:latin typeface="Arial"/>
                <a:ea typeface="Arial"/>
                <a:cs typeface="Arial"/>
              </a:rPr>
              <a:t>Phạm vi thực nghiệm còn giới hạn</a:t>
            </a:r>
          </a:p>
        </p:txBody>
      </p:sp>
      <p:sp>
        <p:nvSpPr>
          <p:cNvPr id="9" name="text-8">
            <a:extLst xmlns:a="http://schemas.openxmlformats.org/drawingml/2006/main">
              <a:ext uri="{FF2B5EF4-FFF2-40B4-BE49-F238E27FC236}">
                <a16:creationId xmlns:a16="http://schemas.microsoft.com/office/drawing/2014/main" id="{C7455F12-7374-4CFC-AC2F-727E01B781C0}"/>
              </a:ext>
            </a:extLst>
          </p:cNvPr>
          <p:cNvSpPr>
            <a:spLocks xmlns:a="http://schemas.openxmlformats.org/drawingml/2006/main" noGrp="1"/>
          </p:cNvSpPr>
          <p:nvPr/>
        </p:nvSpPr>
        <p:spPr>
          <a:xfrm xmlns:a="http://schemas.openxmlformats.org/drawingml/2006/main">
            <a:off x="609600" y="51720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Ô neo chưa luôn có lợi. Mô phỏng đã kiểm chứng chủ yếu là một đội xe, chưa bao quát đầy đủ giao thông nhiều đội.</a:t>
            </a:r>
          </a:p>
        </p:txBody>
      </p:sp>
    </p:spTree>
    <p:extLst>
      <p:ext uri="{BB962C8B-B14F-4D97-AF65-F5344CB8AC3E}">
        <p14:creationId xmlns:p14="http://schemas.microsoft.com/office/powerpoint/2010/main" val="146328129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1">
            <a:extLst xmlns:a="http://schemas.openxmlformats.org/drawingml/2006/main">
              <a:ext uri="{FF2B5EF4-FFF2-40B4-BE49-F238E27FC236}">
                <a16:creationId xmlns:a16="http://schemas.microsoft.com/office/drawing/2014/main" id="{02BCE218-2485-4680-B31A-83299FF6FAC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212B"/>
                </a:solidFill>
                <a:latin typeface="Arial"/>
                <a:ea typeface="Arial"/>
                <a:cs typeface="Arial"/>
              </a:defRPr>
            </a:defPPr>
            <a:lvl1pPr algn="l">
              <a:defRPr sz="3225" b="1">
                <a:solidFill>
                  <a:srgbClr val="17212B"/>
                </a:solidFill>
                <a:latin typeface="Arial"/>
                <a:ea typeface="Arial"/>
                <a:cs typeface="Arial"/>
              </a:defRPr>
            </a:lvl1pPr>
            <a:lvl2pPr algn="l">
              <a:defRPr sz="3225" b="1">
                <a:solidFill>
                  <a:srgbClr val="17212B"/>
                </a:solidFill>
                <a:latin typeface="Arial"/>
                <a:ea typeface="Arial"/>
                <a:cs typeface="Arial"/>
              </a:defRPr>
            </a:lvl2pPr>
            <a:lvl3pPr algn="l">
              <a:defRPr sz="3225" b="1">
                <a:solidFill>
                  <a:srgbClr val="17212B"/>
                </a:solidFill>
                <a:latin typeface="Arial"/>
                <a:ea typeface="Arial"/>
                <a:cs typeface="Arial"/>
              </a:defRPr>
            </a:lvl3pPr>
            <a:lvl4pPr algn="l">
              <a:defRPr sz="3225" b="1">
                <a:solidFill>
                  <a:srgbClr val="17212B"/>
                </a:solidFill>
                <a:latin typeface="Arial"/>
                <a:ea typeface="Arial"/>
                <a:cs typeface="Arial"/>
              </a:defRPr>
            </a:lvl4pPr>
            <a:lvl5pPr algn="l">
              <a:defRPr sz="3225" b="1">
                <a:solidFill>
                  <a:srgbClr val="17212B"/>
                </a:solidFill>
                <a:latin typeface="Arial"/>
                <a:ea typeface="Arial"/>
                <a:cs typeface="Arial"/>
              </a:defRPr>
            </a:lvl5pPr>
            <a:lvl6pPr algn="l">
              <a:defRPr sz="3225" b="1">
                <a:solidFill>
                  <a:srgbClr val="17212B"/>
                </a:solidFill>
                <a:latin typeface="Arial"/>
                <a:ea typeface="Arial"/>
                <a:cs typeface="Arial"/>
              </a:defRPr>
            </a:lvl6pPr>
            <a:lvl7pPr algn="l">
              <a:defRPr sz="3225" b="1">
                <a:solidFill>
                  <a:srgbClr val="17212B"/>
                </a:solidFill>
                <a:latin typeface="Arial"/>
                <a:ea typeface="Arial"/>
                <a:cs typeface="Arial"/>
              </a:defRPr>
            </a:lvl7pPr>
            <a:lvl8pPr algn="l">
              <a:defRPr sz="3225" b="1">
                <a:solidFill>
                  <a:srgbClr val="17212B"/>
                </a:solidFill>
                <a:latin typeface="Arial"/>
                <a:ea typeface="Arial"/>
                <a:cs typeface="Arial"/>
              </a:defRPr>
            </a:lvl8pPr>
            <a:lvl9pPr algn="l">
              <a:defRPr sz="3225" b="1">
                <a:solidFill>
                  <a:srgbClr val="17212B"/>
                </a:solidFill>
                <a:latin typeface="Arial"/>
                <a:ea typeface="Arial"/>
                <a:cs typeface="Arial"/>
              </a:defRPr>
            </a:lvl9pPr>
          </a:lstStyle>
          <a:p xmlns:a="http://schemas.openxmlformats.org/drawingml/2006/main">
            <a:pPr algn="l">
              <a:defRPr sz="3225" b="1">
                <a:solidFill>
                  <a:srgbClr val="17212B"/>
                </a:solidFill>
                <a:latin typeface="Arial"/>
                <a:ea typeface="Arial"/>
                <a:cs typeface="Arial"/>
              </a:defRPr>
            </a:pPr>
            <a:r>
              <a:rPr sz="3225" b="1">
                <a:solidFill>
                  <a:srgbClr val="17212B"/>
                </a:solidFill>
                <a:latin typeface="Arial"/>
                <a:ea typeface="Arial"/>
                <a:cs typeface="Arial"/>
              </a:rPr>
              <a:t>Nguồn dữ liệu và cách tái hiện</a:t>
            </a:r>
          </a:p>
        </p:txBody>
      </p:sp>
      <p:sp>
        <p:nvSpPr>
          <p:cNvPr id="3" name="text-2">
            <a:extLst xmlns:a="http://schemas.openxmlformats.org/drawingml/2006/main">
              <a:ext uri="{FF2B5EF4-FFF2-40B4-BE49-F238E27FC236}">
                <a16:creationId xmlns:a16="http://schemas.microsoft.com/office/drawing/2014/main" id="{B7A6200B-668C-4EDD-AD31-87A43F6A85FF}"/>
              </a:ext>
            </a:extLst>
          </p:cNvPr>
          <p:cNvSpPr>
            <a:spLocks xmlns:a="http://schemas.openxmlformats.org/drawingml/2006/main" noGrp="1"/>
          </p:cNvSpPr>
          <p:nvPr/>
        </p:nvSpPr>
        <p:spPr>
          <a:xfrm xmlns:a="http://schemas.openxmlformats.org/drawingml/2006/main">
            <a:off x="11096625" y="643890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86573"/>
                </a:solidFill>
                <a:latin typeface="Arial"/>
                <a:ea typeface="Arial"/>
                <a:cs typeface="Arial"/>
              </a:defRPr>
            </a:defPPr>
            <a:lvl1pPr algn="r">
              <a:defRPr sz="1200" b="0">
                <a:solidFill>
                  <a:srgbClr val="586573"/>
                </a:solidFill>
                <a:latin typeface="Arial"/>
                <a:ea typeface="Arial"/>
                <a:cs typeface="Arial"/>
              </a:defRPr>
            </a:lvl1pPr>
            <a:lvl2pPr algn="r">
              <a:defRPr sz="1200" b="0">
                <a:solidFill>
                  <a:srgbClr val="586573"/>
                </a:solidFill>
                <a:latin typeface="Arial"/>
                <a:ea typeface="Arial"/>
                <a:cs typeface="Arial"/>
              </a:defRPr>
            </a:lvl2pPr>
            <a:lvl3pPr algn="r">
              <a:defRPr sz="1200" b="0">
                <a:solidFill>
                  <a:srgbClr val="586573"/>
                </a:solidFill>
                <a:latin typeface="Arial"/>
                <a:ea typeface="Arial"/>
                <a:cs typeface="Arial"/>
              </a:defRPr>
            </a:lvl3pPr>
            <a:lvl4pPr algn="r">
              <a:defRPr sz="1200" b="0">
                <a:solidFill>
                  <a:srgbClr val="586573"/>
                </a:solidFill>
                <a:latin typeface="Arial"/>
                <a:ea typeface="Arial"/>
                <a:cs typeface="Arial"/>
              </a:defRPr>
            </a:lvl4pPr>
            <a:lvl5pPr algn="r">
              <a:defRPr sz="1200" b="0">
                <a:solidFill>
                  <a:srgbClr val="586573"/>
                </a:solidFill>
                <a:latin typeface="Arial"/>
                <a:ea typeface="Arial"/>
                <a:cs typeface="Arial"/>
              </a:defRPr>
            </a:lvl5pPr>
            <a:lvl6pPr algn="r">
              <a:defRPr sz="1200" b="0">
                <a:solidFill>
                  <a:srgbClr val="586573"/>
                </a:solidFill>
                <a:latin typeface="Arial"/>
                <a:ea typeface="Arial"/>
                <a:cs typeface="Arial"/>
              </a:defRPr>
            </a:lvl6pPr>
            <a:lvl7pPr algn="r">
              <a:defRPr sz="1200" b="0">
                <a:solidFill>
                  <a:srgbClr val="586573"/>
                </a:solidFill>
                <a:latin typeface="Arial"/>
                <a:ea typeface="Arial"/>
                <a:cs typeface="Arial"/>
              </a:defRPr>
            </a:lvl7pPr>
            <a:lvl8pPr algn="r">
              <a:defRPr sz="1200" b="0">
                <a:solidFill>
                  <a:srgbClr val="586573"/>
                </a:solidFill>
                <a:latin typeface="Arial"/>
                <a:ea typeface="Arial"/>
                <a:cs typeface="Arial"/>
              </a:defRPr>
            </a:lvl8pPr>
            <a:lvl9pPr algn="r">
              <a:defRPr sz="1200" b="0">
                <a:solidFill>
                  <a:srgbClr val="586573"/>
                </a:solidFill>
                <a:latin typeface="Arial"/>
                <a:ea typeface="Arial"/>
                <a:cs typeface="Arial"/>
              </a:defRPr>
            </a:lvl9pPr>
          </a:lstStyle>
          <a:p xmlns:a="http://schemas.openxmlformats.org/drawingml/2006/main">
            <a:pPr algn="r">
              <a:defRPr sz="1200" b="0">
                <a:solidFill>
                  <a:srgbClr val="586573"/>
                </a:solidFill>
                <a:latin typeface="Arial"/>
                <a:ea typeface="Arial"/>
                <a:cs typeface="Arial"/>
              </a:defRPr>
            </a:pPr>
            <a:r>
              <a:rPr sz="1200" b="0">
                <a:solidFill>
                  <a:srgbClr val="586573"/>
                </a:solidFill>
                <a:latin typeface="Arial"/>
                <a:ea typeface="Arial"/>
                <a:cs typeface="Arial"/>
              </a:rPr>
              <a:t>23</a:t>
            </a:r>
          </a:p>
        </p:txBody>
      </p:sp>
      <p:sp>
        <p:nvSpPr>
          <p:cNvPr id="4" name="text-3">
            <a:extLst xmlns:a="http://schemas.openxmlformats.org/drawingml/2006/main">
              <a:ext uri="{FF2B5EF4-FFF2-40B4-BE49-F238E27FC236}">
                <a16:creationId xmlns:a16="http://schemas.microsoft.com/office/drawing/2014/main" id="{E6EE4B9C-FCA3-4566-94A9-CB0DA4236AE5}"/>
              </a:ext>
            </a:extLst>
          </p:cNvPr>
          <p:cNvSpPr>
            <a:spLocks xmlns:a="http://schemas.openxmlformats.org/drawingml/2006/main" noGrp="1"/>
          </p:cNvSpPr>
          <p:nvPr/>
        </p:nvSpPr>
        <p:spPr>
          <a:xfrm xmlns:a="http://schemas.openxmlformats.org/drawingml/2006/main">
            <a:off x="609600" y="1619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4EA6"/>
                </a:solidFill>
                <a:latin typeface="Arial"/>
                <a:ea typeface="Arial"/>
                <a:cs typeface="Arial"/>
              </a:defRPr>
            </a:defPPr>
            <a:lvl1pPr algn="l">
              <a:defRPr sz="2100" b="1">
                <a:solidFill>
                  <a:srgbClr val="174EA6"/>
                </a:solidFill>
                <a:latin typeface="Arial"/>
                <a:ea typeface="Arial"/>
                <a:cs typeface="Arial"/>
              </a:defRPr>
            </a:lvl1pPr>
            <a:lvl2pPr algn="l">
              <a:defRPr sz="2100" b="1">
                <a:solidFill>
                  <a:srgbClr val="174EA6"/>
                </a:solidFill>
                <a:latin typeface="Arial"/>
                <a:ea typeface="Arial"/>
                <a:cs typeface="Arial"/>
              </a:defRPr>
            </a:lvl2pPr>
            <a:lvl3pPr algn="l">
              <a:defRPr sz="2100" b="1">
                <a:solidFill>
                  <a:srgbClr val="174EA6"/>
                </a:solidFill>
                <a:latin typeface="Arial"/>
                <a:ea typeface="Arial"/>
                <a:cs typeface="Arial"/>
              </a:defRPr>
            </a:lvl3pPr>
            <a:lvl4pPr algn="l">
              <a:defRPr sz="2100" b="1">
                <a:solidFill>
                  <a:srgbClr val="174EA6"/>
                </a:solidFill>
                <a:latin typeface="Arial"/>
                <a:ea typeface="Arial"/>
                <a:cs typeface="Arial"/>
              </a:defRPr>
            </a:lvl4pPr>
            <a:lvl5pPr algn="l">
              <a:defRPr sz="2100" b="1">
                <a:solidFill>
                  <a:srgbClr val="174EA6"/>
                </a:solidFill>
                <a:latin typeface="Arial"/>
                <a:ea typeface="Arial"/>
                <a:cs typeface="Arial"/>
              </a:defRPr>
            </a:lvl5pPr>
            <a:lvl6pPr algn="l">
              <a:defRPr sz="2100" b="1">
                <a:solidFill>
                  <a:srgbClr val="174EA6"/>
                </a:solidFill>
                <a:latin typeface="Arial"/>
                <a:ea typeface="Arial"/>
                <a:cs typeface="Arial"/>
              </a:defRPr>
            </a:lvl6pPr>
            <a:lvl7pPr algn="l">
              <a:defRPr sz="2100" b="1">
                <a:solidFill>
                  <a:srgbClr val="174EA6"/>
                </a:solidFill>
                <a:latin typeface="Arial"/>
                <a:ea typeface="Arial"/>
                <a:cs typeface="Arial"/>
              </a:defRPr>
            </a:lvl7pPr>
            <a:lvl8pPr algn="l">
              <a:defRPr sz="2100" b="1">
                <a:solidFill>
                  <a:srgbClr val="174EA6"/>
                </a:solidFill>
                <a:latin typeface="Arial"/>
                <a:ea typeface="Arial"/>
                <a:cs typeface="Arial"/>
              </a:defRPr>
            </a:lvl8pPr>
            <a:lvl9pPr algn="l">
              <a:defRPr sz="2100" b="1">
                <a:solidFill>
                  <a:srgbClr val="174EA6"/>
                </a:solidFill>
                <a:latin typeface="Arial"/>
                <a:ea typeface="Arial"/>
                <a:cs typeface="Arial"/>
              </a:defRPr>
            </a:lvl9pPr>
          </a:lstStyle>
          <a:p xmlns:a="http://schemas.openxmlformats.org/drawingml/2006/main">
            <a:pPr algn="l">
              <a:defRPr sz="2100" b="1">
                <a:solidFill>
                  <a:srgbClr val="174EA6"/>
                </a:solidFill>
                <a:latin typeface="Arial"/>
                <a:ea typeface="Arial"/>
                <a:cs typeface="Arial"/>
              </a:defRPr>
            </a:pPr>
            <a:r>
              <a:rPr sz="2100" b="1">
                <a:solidFill>
                  <a:srgbClr val="174EA6"/>
                </a:solidFill>
                <a:latin typeface="Arial"/>
                <a:ea typeface="Arial"/>
                <a:cs typeface="Arial"/>
              </a:rPr>
              <a:t>Đề bài và luật thực thi</a:t>
            </a:r>
          </a:p>
        </p:txBody>
      </p:sp>
      <p:sp>
        <p:nvSpPr>
          <p:cNvPr id="5" name="text-4">
            <a:extLst xmlns:a="http://schemas.openxmlformats.org/drawingml/2006/main">
              <a:ext uri="{FF2B5EF4-FFF2-40B4-BE49-F238E27FC236}">
                <a16:creationId xmlns:a16="http://schemas.microsoft.com/office/drawing/2014/main" id="{D2B738EF-B346-4057-B18A-A883EFBBC2DB}"/>
              </a:ext>
            </a:extLst>
          </p:cNvPr>
          <p:cNvSpPr>
            <a:spLocks xmlns:a="http://schemas.openxmlformats.org/drawingml/2006/main" noGrp="1"/>
          </p:cNvSpPr>
          <p:nvPr/>
        </p:nvSpPr>
        <p:spPr>
          <a:xfrm xmlns:a="http://schemas.openxmlformats.org/drawingml/2006/main">
            <a:off x="609600" y="2028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Đề chính thức HEXUDON của Procon Việt Nam 2026. Website: https://hexudon.hairbui76.id.vn</a:t>
            </a:r>
          </a:p>
        </p:txBody>
      </p:sp>
      <p:sp>
        <p:nvSpPr>
          <p:cNvPr id="6" name="text-5">
            <a:extLst xmlns:a="http://schemas.openxmlformats.org/drawingml/2006/main">
              <a:ext uri="{FF2B5EF4-FFF2-40B4-BE49-F238E27FC236}">
                <a16:creationId xmlns:a16="http://schemas.microsoft.com/office/drawing/2014/main" id="{216C5365-4B9B-4471-AC24-1F4E52B1D968}"/>
              </a:ext>
            </a:extLst>
          </p:cNvPr>
          <p:cNvSpPr>
            <a:spLocks xmlns:a="http://schemas.openxmlformats.org/drawingml/2006/main" noGrp="1"/>
          </p:cNvSpPr>
          <p:nvPr/>
        </p:nvSpPr>
        <p:spPr>
          <a:xfrm xmlns:a="http://schemas.openxmlformats.org/drawingml/2006/main">
            <a:off x="609600" y="3143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4EA6"/>
                </a:solidFill>
                <a:latin typeface="Arial"/>
                <a:ea typeface="Arial"/>
                <a:cs typeface="Arial"/>
              </a:defRPr>
            </a:defPPr>
            <a:lvl1pPr algn="l">
              <a:defRPr sz="2100" b="1">
                <a:solidFill>
                  <a:srgbClr val="174EA6"/>
                </a:solidFill>
                <a:latin typeface="Arial"/>
                <a:ea typeface="Arial"/>
                <a:cs typeface="Arial"/>
              </a:defRPr>
            </a:lvl1pPr>
            <a:lvl2pPr algn="l">
              <a:defRPr sz="2100" b="1">
                <a:solidFill>
                  <a:srgbClr val="174EA6"/>
                </a:solidFill>
                <a:latin typeface="Arial"/>
                <a:ea typeface="Arial"/>
                <a:cs typeface="Arial"/>
              </a:defRPr>
            </a:lvl2pPr>
            <a:lvl3pPr algn="l">
              <a:defRPr sz="2100" b="1">
                <a:solidFill>
                  <a:srgbClr val="174EA6"/>
                </a:solidFill>
                <a:latin typeface="Arial"/>
                <a:ea typeface="Arial"/>
                <a:cs typeface="Arial"/>
              </a:defRPr>
            </a:lvl3pPr>
            <a:lvl4pPr algn="l">
              <a:defRPr sz="2100" b="1">
                <a:solidFill>
                  <a:srgbClr val="174EA6"/>
                </a:solidFill>
                <a:latin typeface="Arial"/>
                <a:ea typeface="Arial"/>
                <a:cs typeface="Arial"/>
              </a:defRPr>
            </a:lvl4pPr>
            <a:lvl5pPr algn="l">
              <a:defRPr sz="2100" b="1">
                <a:solidFill>
                  <a:srgbClr val="174EA6"/>
                </a:solidFill>
                <a:latin typeface="Arial"/>
                <a:ea typeface="Arial"/>
                <a:cs typeface="Arial"/>
              </a:defRPr>
            </a:lvl5pPr>
            <a:lvl6pPr algn="l">
              <a:defRPr sz="2100" b="1">
                <a:solidFill>
                  <a:srgbClr val="174EA6"/>
                </a:solidFill>
                <a:latin typeface="Arial"/>
                <a:ea typeface="Arial"/>
                <a:cs typeface="Arial"/>
              </a:defRPr>
            </a:lvl6pPr>
            <a:lvl7pPr algn="l">
              <a:defRPr sz="2100" b="1">
                <a:solidFill>
                  <a:srgbClr val="174EA6"/>
                </a:solidFill>
                <a:latin typeface="Arial"/>
                <a:ea typeface="Arial"/>
                <a:cs typeface="Arial"/>
              </a:defRPr>
            </a:lvl7pPr>
            <a:lvl8pPr algn="l">
              <a:defRPr sz="2100" b="1">
                <a:solidFill>
                  <a:srgbClr val="174EA6"/>
                </a:solidFill>
                <a:latin typeface="Arial"/>
                <a:ea typeface="Arial"/>
                <a:cs typeface="Arial"/>
              </a:defRPr>
            </a:lvl8pPr>
            <a:lvl9pPr algn="l">
              <a:defRPr sz="2100" b="1">
                <a:solidFill>
                  <a:srgbClr val="174EA6"/>
                </a:solidFill>
                <a:latin typeface="Arial"/>
                <a:ea typeface="Arial"/>
                <a:cs typeface="Arial"/>
              </a:defRPr>
            </a:lvl9pPr>
          </a:lstStyle>
          <a:p xmlns:a="http://schemas.openxmlformats.org/drawingml/2006/main">
            <a:pPr algn="l">
              <a:defRPr sz="2100" b="1">
                <a:solidFill>
                  <a:srgbClr val="174EA6"/>
                </a:solidFill>
                <a:latin typeface="Arial"/>
                <a:ea typeface="Arial"/>
                <a:cs typeface="Arial"/>
              </a:defRPr>
            </a:pPr>
            <a:r>
              <a:rPr sz="2100" b="1">
                <a:solidFill>
                  <a:srgbClr val="174EA6"/>
                </a:solidFill>
                <a:latin typeface="Arial"/>
                <a:ea typeface="Arial"/>
                <a:cs typeface="Arial"/>
              </a:rPr>
              <a:t>Điểm và replay của Practice</a:t>
            </a:r>
          </a:p>
        </p:txBody>
      </p:sp>
      <p:sp>
        <p:nvSpPr>
          <p:cNvPr id="7" name="text-6">
            <a:extLst xmlns:a="http://schemas.openxmlformats.org/drawingml/2006/main">
              <a:ext uri="{FF2B5EF4-FFF2-40B4-BE49-F238E27FC236}">
                <a16:creationId xmlns:a16="http://schemas.microsoft.com/office/drawing/2014/main" id="{32B581FB-5060-4E48-B081-AD4C895DA2BF}"/>
              </a:ext>
            </a:extLst>
          </p:cNvPr>
          <p:cNvSpPr>
            <a:spLocks xmlns:a="http://schemas.openxmlformats.org/drawingml/2006/main" noGrp="1"/>
          </p:cNvSpPr>
          <p:nvPr/>
        </p:nvSpPr>
        <p:spPr>
          <a:xfrm xmlns:a="http://schemas.openxmlformats.org/drawingml/2006/main">
            <a:off x="609600" y="3552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Ảnh chụp API ngày 23/10/2026. Tệp bang_diem.md lưu cả điểm toàn trận và số liệu từng ngày.</a:t>
            </a:r>
          </a:p>
        </p:txBody>
      </p:sp>
      <p:sp>
        <p:nvSpPr>
          <p:cNvPr id="8" name="text-7">
            <a:extLst xmlns:a="http://schemas.openxmlformats.org/drawingml/2006/main">
              <a:ext uri="{FF2B5EF4-FFF2-40B4-BE49-F238E27FC236}">
                <a16:creationId xmlns:a16="http://schemas.microsoft.com/office/drawing/2014/main" id="{FC5F4375-D3EC-4BE2-8295-592B97C001E7}"/>
              </a:ext>
            </a:extLst>
          </p:cNvPr>
          <p:cNvSpPr>
            <a:spLocks xmlns:a="http://schemas.openxmlformats.org/drawingml/2006/main" noGrp="1"/>
          </p:cNvSpPr>
          <p:nvPr/>
        </p:nvSpPr>
        <p:spPr>
          <a:xfrm xmlns:a="http://schemas.openxmlformats.org/drawingml/2006/main">
            <a:off x="609600" y="4667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4EA6"/>
                </a:solidFill>
                <a:latin typeface="Arial"/>
                <a:ea typeface="Arial"/>
                <a:cs typeface="Arial"/>
              </a:defRPr>
            </a:defPPr>
            <a:lvl1pPr algn="l">
              <a:defRPr sz="2100" b="1">
                <a:solidFill>
                  <a:srgbClr val="174EA6"/>
                </a:solidFill>
                <a:latin typeface="Arial"/>
                <a:ea typeface="Arial"/>
                <a:cs typeface="Arial"/>
              </a:defRPr>
            </a:lvl1pPr>
            <a:lvl2pPr algn="l">
              <a:defRPr sz="2100" b="1">
                <a:solidFill>
                  <a:srgbClr val="174EA6"/>
                </a:solidFill>
                <a:latin typeface="Arial"/>
                <a:ea typeface="Arial"/>
                <a:cs typeface="Arial"/>
              </a:defRPr>
            </a:lvl2pPr>
            <a:lvl3pPr algn="l">
              <a:defRPr sz="2100" b="1">
                <a:solidFill>
                  <a:srgbClr val="174EA6"/>
                </a:solidFill>
                <a:latin typeface="Arial"/>
                <a:ea typeface="Arial"/>
                <a:cs typeface="Arial"/>
              </a:defRPr>
            </a:lvl3pPr>
            <a:lvl4pPr algn="l">
              <a:defRPr sz="2100" b="1">
                <a:solidFill>
                  <a:srgbClr val="174EA6"/>
                </a:solidFill>
                <a:latin typeface="Arial"/>
                <a:ea typeface="Arial"/>
                <a:cs typeface="Arial"/>
              </a:defRPr>
            </a:lvl4pPr>
            <a:lvl5pPr algn="l">
              <a:defRPr sz="2100" b="1">
                <a:solidFill>
                  <a:srgbClr val="174EA6"/>
                </a:solidFill>
                <a:latin typeface="Arial"/>
                <a:ea typeface="Arial"/>
                <a:cs typeface="Arial"/>
              </a:defRPr>
            </a:lvl5pPr>
            <a:lvl6pPr algn="l">
              <a:defRPr sz="2100" b="1">
                <a:solidFill>
                  <a:srgbClr val="174EA6"/>
                </a:solidFill>
                <a:latin typeface="Arial"/>
                <a:ea typeface="Arial"/>
                <a:cs typeface="Arial"/>
              </a:defRPr>
            </a:lvl6pPr>
            <a:lvl7pPr algn="l">
              <a:defRPr sz="2100" b="1">
                <a:solidFill>
                  <a:srgbClr val="174EA6"/>
                </a:solidFill>
                <a:latin typeface="Arial"/>
                <a:ea typeface="Arial"/>
                <a:cs typeface="Arial"/>
              </a:defRPr>
            </a:lvl7pPr>
            <a:lvl8pPr algn="l">
              <a:defRPr sz="2100" b="1">
                <a:solidFill>
                  <a:srgbClr val="174EA6"/>
                </a:solidFill>
                <a:latin typeface="Arial"/>
                <a:ea typeface="Arial"/>
                <a:cs typeface="Arial"/>
              </a:defRPr>
            </a:lvl8pPr>
            <a:lvl9pPr algn="l">
              <a:defRPr sz="2100" b="1">
                <a:solidFill>
                  <a:srgbClr val="174EA6"/>
                </a:solidFill>
                <a:latin typeface="Arial"/>
                <a:ea typeface="Arial"/>
                <a:cs typeface="Arial"/>
              </a:defRPr>
            </a:lvl9pPr>
          </a:lstStyle>
          <a:p xmlns:a="http://schemas.openxmlformats.org/drawingml/2006/main">
            <a:pPr algn="l">
              <a:defRPr sz="2100" b="1">
                <a:solidFill>
                  <a:srgbClr val="174EA6"/>
                </a:solidFill>
                <a:latin typeface="Arial"/>
                <a:ea typeface="Arial"/>
                <a:cs typeface="Arial"/>
              </a:defRPr>
            </a:pPr>
            <a:r>
              <a:rPr sz="2100" b="1">
                <a:solidFill>
                  <a:srgbClr val="174EA6"/>
                </a:solidFill>
                <a:latin typeface="Arial"/>
                <a:ea typeface="Arial"/>
                <a:cs typeface="Arial"/>
              </a:rPr>
              <a:t>Mã nguồn và thí nghiệm</a:t>
            </a:r>
          </a:p>
        </p:txBody>
      </p:sp>
      <p:sp>
        <p:nvSpPr>
          <p:cNvPr id="9" name="text-8">
            <a:extLst xmlns:a="http://schemas.openxmlformats.org/drawingml/2006/main">
              <a:ext uri="{FF2B5EF4-FFF2-40B4-BE49-F238E27FC236}">
                <a16:creationId xmlns:a16="http://schemas.microsoft.com/office/drawing/2014/main" id="{13D5B05D-A9E6-4E0A-9C99-59DF3A133711}"/>
              </a:ext>
            </a:extLst>
          </p:cNvPr>
          <p:cNvSpPr>
            <a:spLocks xmlns:a="http://schemas.openxmlformats.org/drawingml/2006/main" noGrp="1"/>
          </p:cNvSpPr>
          <p:nvPr/>
        </p:nvSpPr>
        <p:spPr>
          <a:xfrm xmlns:a="http://schemas.openxmlformats.org/drawingml/2006/main">
            <a:off x="609600" y="5076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Arial"/>
                <a:ea typeface="Arial"/>
                <a:cs typeface="Arial"/>
              </a:defRPr>
            </a:defPPr>
            <a:lvl1pPr algn="l">
              <a:defRPr sz="2100" b="0">
                <a:solidFill>
                  <a:srgbClr val="17212B"/>
                </a:solidFill>
                <a:latin typeface="Arial"/>
                <a:ea typeface="Arial"/>
                <a:cs typeface="Arial"/>
              </a:defRPr>
            </a:lvl1pPr>
            <a:lvl2pPr algn="l">
              <a:defRPr sz="2100" b="0">
                <a:solidFill>
                  <a:srgbClr val="17212B"/>
                </a:solidFill>
                <a:latin typeface="Arial"/>
                <a:ea typeface="Arial"/>
                <a:cs typeface="Arial"/>
              </a:defRPr>
            </a:lvl2pPr>
            <a:lvl3pPr algn="l">
              <a:defRPr sz="2100" b="0">
                <a:solidFill>
                  <a:srgbClr val="17212B"/>
                </a:solidFill>
                <a:latin typeface="Arial"/>
                <a:ea typeface="Arial"/>
                <a:cs typeface="Arial"/>
              </a:defRPr>
            </a:lvl3pPr>
            <a:lvl4pPr algn="l">
              <a:defRPr sz="2100" b="0">
                <a:solidFill>
                  <a:srgbClr val="17212B"/>
                </a:solidFill>
                <a:latin typeface="Arial"/>
                <a:ea typeface="Arial"/>
                <a:cs typeface="Arial"/>
              </a:defRPr>
            </a:lvl4pPr>
            <a:lvl5pPr algn="l">
              <a:defRPr sz="2100" b="0">
                <a:solidFill>
                  <a:srgbClr val="17212B"/>
                </a:solidFill>
                <a:latin typeface="Arial"/>
                <a:ea typeface="Arial"/>
                <a:cs typeface="Arial"/>
              </a:defRPr>
            </a:lvl5pPr>
            <a:lvl6pPr algn="l">
              <a:defRPr sz="2100" b="0">
                <a:solidFill>
                  <a:srgbClr val="17212B"/>
                </a:solidFill>
                <a:latin typeface="Arial"/>
                <a:ea typeface="Arial"/>
                <a:cs typeface="Arial"/>
              </a:defRPr>
            </a:lvl6pPr>
            <a:lvl7pPr algn="l">
              <a:defRPr sz="2100" b="0">
                <a:solidFill>
                  <a:srgbClr val="17212B"/>
                </a:solidFill>
                <a:latin typeface="Arial"/>
                <a:ea typeface="Arial"/>
                <a:cs typeface="Arial"/>
              </a:defRPr>
            </a:lvl7pPr>
            <a:lvl8pPr algn="l">
              <a:defRPr sz="2100" b="0">
                <a:solidFill>
                  <a:srgbClr val="17212B"/>
                </a:solidFill>
                <a:latin typeface="Arial"/>
                <a:ea typeface="Arial"/>
                <a:cs typeface="Arial"/>
              </a:defRPr>
            </a:lvl8pPr>
            <a:lvl9pPr algn="l">
              <a:defRPr sz="2100" b="0">
                <a:solidFill>
                  <a:srgbClr val="17212B"/>
                </a:solidFill>
                <a:latin typeface="Arial"/>
                <a:ea typeface="Arial"/>
                <a:cs typeface="Arial"/>
              </a:defRPr>
            </a:lvl9pPr>
          </a:lstStyle>
          <a:p xmlns:a="http://schemas.openxmlformats.org/drawingml/2006/main">
            <a:pPr algn="l">
              <a:defRPr sz="2100" b="0">
                <a:solidFill>
                  <a:srgbClr val="17212B"/>
                </a:solidFill>
                <a:latin typeface="Arial"/>
                <a:ea typeface="Arial"/>
                <a:cs typeface="Arial"/>
              </a:defRPr>
            </a:pPr>
            <a:r>
              <a:rPr sz="2100" b="0">
                <a:solidFill>
                  <a:srgbClr val="17212B"/>
                </a:solidFill>
                <a:latin typeface="Arial"/>
                <a:ea typeface="Arial"/>
                <a:cs typeface="Arial"/>
              </a:rPr>
              <a:t>tour.py, simulator.py và các công cụ trong experiments. Báo cáo có hướng dẫn chạy lại phép đo.</a:t>
            </a:r>
          </a:p>
        </p:txBody>
      </p:sp>
    </p:spTree>
    <p:extLst>
      <p:ext uri="{BB962C8B-B14F-4D97-AF65-F5344CB8AC3E}">
        <p14:creationId xmlns:p14="http://schemas.microsoft.com/office/powerpoint/2010/main" val="741289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2026-10-23T16:54:10.9330000Z</dcterms:created>
  <dcterms:modified xsi:type="dcterms:W3CDTF">2026-10-23T16:54:10.9330000Z</dcterms:modified>
</coreProperties>
</file>